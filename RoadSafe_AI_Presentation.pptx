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8" d="100"/>
          <a:sy n="78" d="100"/>
        </p:scale>
        <p:origin x="850" y="43"/>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ksa achankunju" userId="58d30cd5c4cd4749" providerId="LiveId" clId="{B3EC043E-52BC-4BD9-93E7-DD504F126345}"/>
    <pc:docChg chg="custSel modSld">
      <pc:chgData name="aksa achankunju" userId="58d30cd5c4cd4749" providerId="LiveId" clId="{B3EC043E-52BC-4BD9-93E7-DD504F126345}" dt="2026-10-10T09:17:48.707" v="306"/>
      <pc:docMkLst>
        <pc:docMk/>
      </pc:docMkLst>
      <pc:sldChg chg="modSp mod">
        <pc:chgData name="aksa achankunju" userId="58d30cd5c4cd4749" providerId="LiveId" clId="{B3EC043E-52BC-4BD9-93E7-DD504F126345}" dt="2026-10-10T09:14:24.538" v="15" actId="14100"/>
        <pc:sldMkLst>
          <pc:docMk/>
          <pc:sldMk cId="0" sldId="257"/>
        </pc:sldMkLst>
        <pc:spChg chg="mod">
          <ac:chgData name="aksa achankunju" userId="58d30cd5c4cd4749" providerId="LiveId" clId="{B3EC043E-52BC-4BD9-93E7-DD504F126345}" dt="2026-10-10T09:13:12.007" v="0" actId="1076"/>
          <ac:spMkLst>
            <pc:docMk/>
            <pc:sldMk cId="0" sldId="257"/>
            <ac:spMk id="24" creationId="{00000000-0000-0000-0000-000000000000}"/>
          </ac:spMkLst>
        </pc:spChg>
        <pc:spChg chg="mod">
          <ac:chgData name="aksa achankunju" userId="58d30cd5c4cd4749" providerId="LiveId" clId="{B3EC043E-52BC-4BD9-93E7-DD504F126345}" dt="2026-10-10T09:14:24.538" v="15" actId="14100"/>
          <ac:spMkLst>
            <pc:docMk/>
            <pc:sldMk cId="0" sldId="257"/>
            <ac:spMk id="25" creationId="{00000000-0000-0000-0000-000000000000}"/>
          </ac:spMkLst>
        </pc:spChg>
        <pc:spChg chg="mod">
          <ac:chgData name="aksa achankunju" userId="58d30cd5c4cd4749" providerId="LiveId" clId="{B3EC043E-52BC-4BD9-93E7-DD504F126345}" dt="2026-10-10T09:13:59.298" v="9" actId="1076"/>
          <ac:spMkLst>
            <pc:docMk/>
            <pc:sldMk cId="0" sldId="257"/>
            <ac:spMk id="26" creationId="{00000000-0000-0000-0000-000000000000}"/>
          </ac:spMkLst>
        </pc:spChg>
        <pc:spChg chg="mod">
          <ac:chgData name="aksa achankunju" userId="58d30cd5c4cd4749" providerId="LiveId" clId="{B3EC043E-52BC-4BD9-93E7-DD504F126345}" dt="2026-10-10T09:14:06.704" v="11" actId="1076"/>
          <ac:spMkLst>
            <pc:docMk/>
            <pc:sldMk cId="0" sldId="257"/>
            <ac:spMk id="27" creationId="{00000000-0000-0000-0000-000000000000}"/>
          </ac:spMkLst>
        </pc:spChg>
        <pc:spChg chg="mod">
          <ac:chgData name="aksa achankunju" userId="58d30cd5c4cd4749" providerId="LiveId" clId="{B3EC043E-52BC-4BD9-93E7-DD504F126345}" dt="2026-10-10T09:13:55.197" v="7" actId="1076"/>
          <ac:spMkLst>
            <pc:docMk/>
            <pc:sldMk cId="0" sldId="257"/>
            <ac:spMk id="28" creationId="{00000000-0000-0000-0000-000000000000}"/>
          </ac:spMkLst>
        </pc:spChg>
        <pc:spChg chg="mod">
          <ac:chgData name="aksa achankunju" userId="58d30cd5c4cd4749" providerId="LiveId" clId="{B3EC043E-52BC-4BD9-93E7-DD504F126345}" dt="2026-10-10T09:13:50.953" v="6" actId="1076"/>
          <ac:spMkLst>
            <pc:docMk/>
            <pc:sldMk cId="0" sldId="257"/>
            <ac:spMk id="29" creationId="{00000000-0000-0000-0000-000000000000}"/>
          </ac:spMkLst>
        </pc:spChg>
        <pc:spChg chg="mod">
          <ac:chgData name="aksa achankunju" userId="58d30cd5c4cd4749" providerId="LiveId" clId="{B3EC043E-52BC-4BD9-93E7-DD504F126345}" dt="2026-10-10T09:13:46.125" v="5" actId="1076"/>
          <ac:spMkLst>
            <pc:docMk/>
            <pc:sldMk cId="0" sldId="257"/>
            <ac:spMk id="30" creationId="{00000000-0000-0000-0000-000000000000}"/>
          </ac:spMkLst>
        </pc:spChg>
        <pc:spChg chg="mod">
          <ac:chgData name="aksa achankunju" userId="58d30cd5c4cd4749" providerId="LiveId" clId="{B3EC043E-52BC-4BD9-93E7-DD504F126345}" dt="2026-10-10T09:13:38.782" v="4" actId="1076"/>
          <ac:spMkLst>
            <pc:docMk/>
            <pc:sldMk cId="0" sldId="257"/>
            <ac:spMk id="31" creationId="{00000000-0000-0000-0000-000000000000}"/>
          </ac:spMkLst>
        </pc:spChg>
        <pc:spChg chg="mod">
          <ac:chgData name="aksa achankunju" userId="58d30cd5c4cd4749" providerId="LiveId" clId="{B3EC043E-52BC-4BD9-93E7-DD504F126345}" dt="2026-10-10T09:13:31.105" v="3" actId="1076"/>
          <ac:spMkLst>
            <pc:docMk/>
            <pc:sldMk cId="0" sldId="257"/>
            <ac:spMk id="32" creationId="{00000000-0000-0000-0000-000000000000}"/>
          </ac:spMkLst>
        </pc:spChg>
      </pc:sldChg>
      <pc:sldChg chg="modSp mod">
        <pc:chgData name="aksa achankunju" userId="58d30cd5c4cd4749" providerId="LiveId" clId="{B3EC043E-52BC-4BD9-93E7-DD504F126345}" dt="2026-10-10T09:15:52.300" v="37" actId="1076"/>
        <pc:sldMkLst>
          <pc:docMk/>
          <pc:sldMk cId="0" sldId="259"/>
        </pc:sldMkLst>
        <pc:spChg chg="mod">
          <ac:chgData name="aksa achankunju" userId="58d30cd5c4cd4749" providerId="LiveId" clId="{B3EC043E-52BC-4BD9-93E7-DD504F126345}" dt="2026-10-10T09:15:44.009" v="34" actId="1076"/>
          <ac:spMkLst>
            <pc:docMk/>
            <pc:sldMk cId="0" sldId="259"/>
            <ac:spMk id="28" creationId="{00000000-0000-0000-0000-000000000000}"/>
          </ac:spMkLst>
        </pc:spChg>
        <pc:spChg chg="mod">
          <ac:chgData name="aksa achankunju" userId="58d30cd5c4cd4749" providerId="LiveId" clId="{B3EC043E-52BC-4BD9-93E7-DD504F126345}" dt="2026-10-10T09:15:02.317" v="22" actId="1076"/>
          <ac:spMkLst>
            <pc:docMk/>
            <pc:sldMk cId="0" sldId="259"/>
            <ac:spMk id="34" creationId="{00000000-0000-0000-0000-000000000000}"/>
          </ac:spMkLst>
        </pc:spChg>
        <pc:spChg chg="mod">
          <ac:chgData name="aksa achankunju" userId="58d30cd5c4cd4749" providerId="LiveId" clId="{B3EC043E-52BC-4BD9-93E7-DD504F126345}" dt="2026-10-10T09:14:54.698" v="20" actId="1076"/>
          <ac:spMkLst>
            <pc:docMk/>
            <pc:sldMk cId="0" sldId="259"/>
            <ac:spMk id="35" creationId="{00000000-0000-0000-0000-000000000000}"/>
          </ac:spMkLst>
        </pc:spChg>
        <pc:spChg chg="mod">
          <ac:chgData name="aksa achankunju" userId="58d30cd5c4cd4749" providerId="LiveId" clId="{B3EC043E-52BC-4BD9-93E7-DD504F126345}" dt="2026-10-10T09:14:59.866" v="21" actId="1076"/>
          <ac:spMkLst>
            <pc:docMk/>
            <pc:sldMk cId="0" sldId="259"/>
            <ac:spMk id="36" creationId="{00000000-0000-0000-0000-000000000000}"/>
          </ac:spMkLst>
        </pc:spChg>
        <pc:spChg chg="mod">
          <ac:chgData name="aksa achankunju" userId="58d30cd5c4cd4749" providerId="LiveId" clId="{B3EC043E-52BC-4BD9-93E7-DD504F126345}" dt="2026-10-10T09:15:08.464" v="24" actId="1076"/>
          <ac:spMkLst>
            <pc:docMk/>
            <pc:sldMk cId="0" sldId="259"/>
            <ac:spMk id="37" creationId="{00000000-0000-0000-0000-000000000000}"/>
          </ac:spMkLst>
        </pc:spChg>
        <pc:spChg chg="mod">
          <ac:chgData name="aksa achankunju" userId="58d30cd5c4cd4749" providerId="LiveId" clId="{B3EC043E-52BC-4BD9-93E7-DD504F126345}" dt="2026-10-10T09:15:12.404" v="25" actId="1076"/>
          <ac:spMkLst>
            <pc:docMk/>
            <pc:sldMk cId="0" sldId="259"/>
            <ac:spMk id="38" creationId="{00000000-0000-0000-0000-000000000000}"/>
          </ac:spMkLst>
        </pc:spChg>
        <pc:spChg chg="mod">
          <ac:chgData name="aksa achankunju" userId="58d30cd5c4cd4749" providerId="LiveId" clId="{B3EC043E-52BC-4BD9-93E7-DD504F126345}" dt="2026-10-10T09:15:17.560" v="26" actId="1076"/>
          <ac:spMkLst>
            <pc:docMk/>
            <pc:sldMk cId="0" sldId="259"/>
            <ac:spMk id="39" creationId="{00000000-0000-0000-0000-000000000000}"/>
          </ac:spMkLst>
        </pc:spChg>
        <pc:spChg chg="mod">
          <ac:chgData name="aksa achankunju" userId="58d30cd5c4cd4749" providerId="LiveId" clId="{B3EC043E-52BC-4BD9-93E7-DD504F126345}" dt="2026-10-10T09:15:20.449" v="27" actId="1076"/>
          <ac:spMkLst>
            <pc:docMk/>
            <pc:sldMk cId="0" sldId="259"/>
            <ac:spMk id="40" creationId="{00000000-0000-0000-0000-000000000000}"/>
          </ac:spMkLst>
        </pc:spChg>
        <pc:spChg chg="mod">
          <ac:chgData name="aksa achankunju" userId="58d30cd5c4cd4749" providerId="LiveId" clId="{B3EC043E-52BC-4BD9-93E7-DD504F126345}" dt="2026-10-10T09:15:24.534" v="28" actId="1076"/>
          <ac:spMkLst>
            <pc:docMk/>
            <pc:sldMk cId="0" sldId="259"/>
            <ac:spMk id="41" creationId="{00000000-0000-0000-0000-000000000000}"/>
          </ac:spMkLst>
        </pc:spChg>
        <pc:spChg chg="mod">
          <ac:chgData name="aksa achankunju" userId="58d30cd5c4cd4749" providerId="LiveId" clId="{B3EC043E-52BC-4BD9-93E7-DD504F126345}" dt="2026-10-10T09:15:29.448" v="29" actId="1076"/>
          <ac:spMkLst>
            <pc:docMk/>
            <pc:sldMk cId="0" sldId="259"/>
            <ac:spMk id="42" creationId="{00000000-0000-0000-0000-000000000000}"/>
          </ac:spMkLst>
        </pc:spChg>
        <pc:spChg chg="mod">
          <ac:chgData name="aksa achankunju" userId="58d30cd5c4cd4749" providerId="LiveId" clId="{B3EC043E-52BC-4BD9-93E7-DD504F126345}" dt="2026-10-10T09:15:31.773" v="30" actId="1076"/>
          <ac:spMkLst>
            <pc:docMk/>
            <pc:sldMk cId="0" sldId="259"/>
            <ac:spMk id="43" creationId="{00000000-0000-0000-0000-000000000000}"/>
          </ac:spMkLst>
        </pc:spChg>
        <pc:spChg chg="mod">
          <ac:chgData name="aksa achankunju" userId="58d30cd5c4cd4749" providerId="LiveId" clId="{B3EC043E-52BC-4BD9-93E7-DD504F126345}" dt="2026-10-10T09:15:34.351" v="31" actId="1076"/>
          <ac:spMkLst>
            <pc:docMk/>
            <pc:sldMk cId="0" sldId="259"/>
            <ac:spMk id="44" creationId="{00000000-0000-0000-0000-000000000000}"/>
          </ac:spMkLst>
        </pc:spChg>
        <pc:spChg chg="mod">
          <ac:chgData name="aksa achankunju" userId="58d30cd5c4cd4749" providerId="LiveId" clId="{B3EC043E-52BC-4BD9-93E7-DD504F126345}" dt="2026-10-10T09:15:36.588" v="32" actId="1076"/>
          <ac:spMkLst>
            <pc:docMk/>
            <pc:sldMk cId="0" sldId="259"/>
            <ac:spMk id="45" creationId="{00000000-0000-0000-0000-000000000000}"/>
          </ac:spMkLst>
        </pc:spChg>
        <pc:spChg chg="mod">
          <ac:chgData name="aksa achankunju" userId="58d30cd5c4cd4749" providerId="LiveId" clId="{B3EC043E-52BC-4BD9-93E7-DD504F126345}" dt="2026-10-10T09:15:46.423" v="35" actId="1076"/>
          <ac:spMkLst>
            <pc:docMk/>
            <pc:sldMk cId="0" sldId="259"/>
            <ac:spMk id="46" creationId="{00000000-0000-0000-0000-000000000000}"/>
          </ac:spMkLst>
        </pc:spChg>
        <pc:spChg chg="mod">
          <ac:chgData name="aksa achankunju" userId="58d30cd5c4cd4749" providerId="LiveId" clId="{B3EC043E-52BC-4BD9-93E7-DD504F126345}" dt="2026-10-10T09:15:49.137" v="36" actId="1076"/>
          <ac:spMkLst>
            <pc:docMk/>
            <pc:sldMk cId="0" sldId="259"/>
            <ac:spMk id="47" creationId="{00000000-0000-0000-0000-000000000000}"/>
          </ac:spMkLst>
        </pc:spChg>
        <pc:spChg chg="mod">
          <ac:chgData name="aksa achankunju" userId="58d30cd5c4cd4749" providerId="LiveId" clId="{B3EC043E-52BC-4BD9-93E7-DD504F126345}" dt="2026-10-10T09:15:52.300" v="37" actId="1076"/>
          <ac:spMkLst>
            <pc:docMk/>
            <pc:sldMk cId="0" sldId="259"/>
            <ac:spMk id="48" creationId="{00000000-0000-0000-0000-000000000000}"/>
          </ac:spMkLst>
        </pc:spChg>
      </pc:sldChg>
      <pc:sldChg chg="delSp modSp mod">
        <pc:chgData name="aksa achankunju" userId="58d30cd5c4cd4749" providerId="LiveId" clId="{B3EC043E-52BC-4BD9-93E7-DD504F126345}" dt="2026-10-10T09:17:48.707" v="306"/>
        <pc:sldMkLst>
          <pc:docMk/>
          <pc:sldMk cId="0" sldId="262"/>
        </pc:sldMkLst>
        <pc:spChg chg="del mod">
          <ac:chgData name="aksa achankunju" userId="58d30cd5c4cd4749" providerId="LiveId" clId="{B3EC043E-52BC-4BD9-93E7-DD504F126345}" dt="2026-10-10T09:17:02.013" v="192"/>
          <ac:spMkLst>
            <pc:docMk/>
            <pc:sldMk cId="0" sldId="262"/>
            <ac:spMk id="31" creationId="{00000000-0000-0000-0000-000000000000}"/>
          </ac:spMkLst>
        </pc:spChg>
        <pc:spChg chg="del mod">
          <ac:chgData name="aksa achankunju" userId="58d30cd5c4cd4749" providerId="LiveId" clId="{B3EC043E-52BC-4BD9-93E7-DD504F126345}" dt="2026-10-10T09:17:48.707" v="306"/>
          <ac:spMkLst>
            <pc:docMk/>
            <pc:sldMk cId="0" sldId="262"/>
            <ac:spMk id="32" creationId="{00000000-0000-0000-0000-000000000000}"/>
          </ac:spMkLst>
        </pc:spChg>
        <pc:spChg chg="del mod">
          <ac:chgData name="aksa achankunju" userId="58d30cd5c4cd4749" providerId="LiveId" clId="{B3EC043E-52BC-4BD9-93E7-DD504F126345}" dt="2026-10-10T09:17:39.510" v="277" actId="478"/>
          <ac:spMkLst>
            <pc:docMk/>
            <pc:sldMk cId="0" sldId="262"/>
            <ac:spMk id="33" creationId="{00000000-0000-0000-0000-000000000000}"/>
          </ac:spMkLst>
        </pc:spChg>
        <pc:spChg chg="del mod">
          <ac:chgData name="aksa achankunju" userId="58d30cd5c4cd4749" providerId="LiveId" clId="{B3EC043E-52BC-4BD9-93E7-DD504F126345}" dt="2026-10-10T09:17:34.167" v="267" actId="478"/>
          <ac:spMkLst>
            <pc:docMk/>
            <pc:sldMk cId="0" sldId="262"/>
            <ac:spMk id="34" creationId="{00000000-0000-0000-0000-000000000000}"/>
          </ac:spMkLst>
        </pc:spChg>
        <pc:spChg chg="del mod">
          <ac:chgData name="aksa achankunju" userId="58d30cd5c4cd4749" providerId="LiveId" clId="{B3EC043E-52BC-4BD9-93E7-DD504F126345}" dt="2026-10-10T09:17:02.011" v="190" actId="478"/>
          <ac:spMkLst>
            <pc:docMk/>
            <pc:sldMk cId="0" sldId="262"/>
            <ac:spMk id="35" creationId="{00000000-0000-0000-0000-000000000000}"/>
          </ac:spMkLst>
        </pc:spChg>
        <pc:spChg chg="del mod">
          <ac:chgData name="aksa achankunju" userId="58d30cd5c4cd4749" providerId="LiveId" clId="{B3EC043E-52BC-4BD9-93E7-DD504F126345}" dt="2026-10-10T09:17:02.014" v="194"/>
          <ac:spMkLst>
            <pc:docMk/>
            <pc:sldMk cId="0" sldId="262"/>
            <ac:spMk id="36" creationId="{00000000-0000-0000-0000-000000000000}"/>
          </ac:spMkLst>
        </pc:spChg>
        <pc:spChg chg="del mod">
          <ac:chgData name="aksa achankunju" userId="58d30cd5c4cd4749" providerId="LiveId" clId="{B3EC043E-52BC-4BD9-93E7-DD504F126345}" dt="2026-10-10T09:16:28.484" v="117" actId="478"/>
          <ac:spMkLst>
            <pc:docMk/>
            <pc:sldMk cId="0" sldId="262"/>
            <ac:spMk id="37"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5303520" cy="685800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5303520" y="0"/>
            <a:ext cx="64008" cy="6858000"/>
          </a:xfrm>
          <a:prstGeom prst="rect">
            <a:avLst/>
          </a:prstGeom>
          <a:solidFill>
            <a:srgbClr val="E0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47472" y="1188720"/>
            <a:ext cx="4572000" cy="1143000"/>
          </a:xfrm>
          <a:prstGeom prst="rect">
            <a:avLst/>
          </a:prstGeom>
          <a:noFill/>
        </p:spPr>
        <p:txBody>
          <a:bodyPr wrap="square">
            <a:spAutoFit/>
          </a:bodyPr>
          <a:lstStyle/>
          <a:p>
            <a:pPr algn="l"/>
            <a:r>
              <a:rPr sz="5000" b="1" i="0">
                <a:solidFill>
                  <a:srgbClr val="FFFFFF"/>
                </a:solidFill>
                <a:latin typeface="Calibri"/>
              </a:rPr>
              <a:t>RoadSafe AI</a:t>
            </a:r>
          </a:p>
        </p:txBody>
      </p:sp>
      <p:sp>
        <p:nvSpPr>
          <p:cNvPr id="6" name="Rectangle 5"/>
          <p:cNvSpPr/>
          <p:nvPr/>
        </p:nvSpPr>
        <p:spPr>
          <a:xfrm>
            <a:off x="347472" y="2304288"/>
            <a:ext cx="2560320" cy="64008"/>
          </a:xfrm>
          <a:prstGeom prst="rect">
            <a:avLst/>
          </a:prstGeom>
          <a:solidFill>
            <a:srgbClr val="E0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47472" y="2450592"/>
            <a:ext cx="4663440" cy="1005840"/>
          </a:xfrm>
          <a:prstGeom prst="rect">
            <a:avLst/>
          </a:prstGeom>
          <a:noFill/>
        </p:spPr>
        <p:txBody>
          <a:bodyPr wrap="square">
            <a:spAutoFit/>
          </a:bodyPr>
          <a:lstStyle/>
          <a:p>
            <a:pPr algn="l"/>
            <a:r>
              <a:rPr sz="1600" b="0" i="0">
                <a:solidFill>
                  <a:srgbClr val="D0D8E8"/>
                </a:solidFill>
                <a:latin typeface="Calibri"/>
              </a:rPr>
              <a:t>AI-Based Road Accident Severity Prediction
&amp; Traffic Risk Analysis System</a:t>
            </a:r>
          </a:p>
        </p:txBody>
      </p:sp>
      <p:sp>
        <p:nvSpPr>
          <p:cNvPr id="8" name="TextBox 7"/>
          <p:cNvSpPr txBox="1"/>
          <p:nvPr/>
        </p:nvSpPr>
        <p:spPr>
          <a:xfrm>
            <a:off x="347472" y="3547872"/>
            <a:ext cx="4663440" cy="411480"/>
          </a:xfrm>
          <a:prstGeom prst="rect">
            <a:avLst/>
          </a:prstGeom>
          <a:noFill/>
        </p:spPr>
        <p:txBody>
          <a:bodyPr wrap="square">
            <a:spAutoFit/>
          </a:bodyPr>
          <a:lstStyle/>
          <a:p>
            <a:pPr algn="l"/>
            <a:r>
              <a:rPr sz="1150" b="0" i="1">
                <a:solidFill>
                  <a:srgbClr val="F5A623"/>
                </a:solidFill>
                <a:latin typeface="Calibri"/>
              </a:rPr>
              <a:t>Machine Learning Project  |  Course Outcomes CO1 - CO6</a:t>
            </a:r>
          </a:p>
        </p:txBody>
      </p:sp>
      <p:sp>
        <p:nvSpPr>
          <p:cNvPr id="9" name="Rectangle 8"/>
          <p:cNvSpPr/>
          <p:nvPr/>
        </p:nvSpPr>
        <p:spPr>
          <a:xfrm>
            <a:off x="347472" y="4087368"/>
            <a:ext cx="4663440" cy="1783080"/>
          </a:xfrm>
          <a:prstGeom prst="rect">
            <a:avLst/>
          </a:prstGeom>
          <a:solidFill>
            <a:srgbClr val="12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347472" y="4087368"/>
            <a:ext cx="45720" cy="178308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75488" y="4160520"/>
            <a:ext cx="4572000" cy="384048"/>
          </a:xfrm>
          <a:prstGeom prst="rect">
            <a:avLst/>
          </a:prstGeom>
          <a:noFill/>
        </p:spPr>
        <p:txBody>
          <a:bodyPr wrap="square">
            <a:spAutoFit/>
          </a:bodyPr>
          <a:lstStyle/>
          <a:p>
            <a:pPr algn="l"/>
            <a:r>
              <a:rPr sz="1200" b="0" i="0">
                <a:solidFill>
                  <a:srgbClr val="F0F4FF"/>
                </a:solidFill>
                <a:latin typeface="Calibri"/>
              </a:rPr>
              <a:t>2500030515 - P . Prashasth Azariah Paul</a:t>
            </a:r>
          </a:p>
        </p:txBody>
      </p:sp>
      <p:sp>
        <p:nvSpPr>
          <p:cNvPr id="12" name="TextBox 11"/>
          <p:cNvSpPr txBox="1"/>
          <p:nvPr/>
        </p:nvSpPr>
        <p:spPr>
          <a:xfrm>
            <a:off x="475488" y="4617720"/>
            <a:ext cx="4572000" cy="384048"/>
          </a:xfrm>
          <a:prstGeom prst="rect">
            <a:avLst/>
          </a:prstGeom>
          <a:noFill/>
        </p:spPr>
        <p:txBody>
          <a:bodyPr wrap="square">
            <a:spAutoFit/>
          </a:bodyPr>
          <a:lstStyle/>
          <a:p>
            <a:pPr algn="l"/>
            <a:r>
              <a:rPr sz="1200" b="0" i="0">
                <a:solidFill>
                  <a:srgbClr val="F0F4FF"/>
                </a:solidFill>
                <a:latin typeface="Calibri"/>
              </a:rPr>
              <a:t>2500080042 - Aksa Achankunju</a:t>
            </a:r>
          </a:p>
        </p:txBody>
      </p:sp>
      <p:sp>
        <p:nvSpPr>
          <p:cNvPr id="13" name="TextBox 12"/>
          <p:cNvSpPr txBox="1"/>
          <p:nvPr/>
        </p:nvSpPr>
        <p:spPr>
          <a:xfrm>
            <a:off x="475488" y="5074920"/>
            <a:ext cx="4572000" cy="384048"/>
          </a:xfrm>
          <a:prstGeom prst="rect">
            <a:avLst/>
          </a:prstGeom>
          <a:noFill/>
        </p:spPr>
        <p:txBody>
          <a:bodyPr wrap="square">
            <a:spAutoFit/>
          </a:bodyPr>
          <a:lstStyle/>
          <a:p>
            <a:pPr algn="l"/>
            <a:r>
              <a:rPr sz="1200" b="0" i="0">
                <a:solidFill>
                  <a:srgbClr val="F0F4FF"/>
                </a:solidFill>
                <a:latin typeface="Calibri"/>
              </a:rPr>
              <a:t>2500032145 - G Praneetha</a:t>
            </a:r>
          </a:p>
        </p:txBody>
      </p:sp>
      <p:sp>
        <p:nvSpPr>
          <p:cNvPr id="14" name="Rectangle 13"/>
          <p:cNvSpPr/>
          <p:nvPr/>
        </p:nvSpPr>
        <p:spPr>
          <a:xfrm>
            <a:off x="5669280" y="1097280"/>
            <a:ext cx="6172200" cy="4572000"/>
          </a:xfrm>
          <a:prstGeom prst="rect">
            <a:avLst/>
          </a:prstGeom>
          <a:solidFill>
            <a:srgbClr val="12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955279" y="1828800"/>
            <a:ext cx="1828800" cy="1828800"/>
          </a:xfrm>
          <a:prstGeom prst="rect">
            <a:avLst/>
          </a:prstGeom>
          <a:noFill/>
        </p:spPr>
        <p:txBody>
          <a:bodyPr wrap="square">
            <a:spAutoFit/>
          </a:bodyPr>
          <a:lstStyle/>
          <a:p>
            <a:pPr algn="ctr"/>
            <a:r>
              <a:rPr sz="9000" b="0" i="0">
                <a:solidFill>
                  <a:srgbClr val="FFFFFF"/>
                </a:solidFill>
                <a:latin typeface="Calibri"/>
              </a:rPr>
              <a:t>🚦</a:t>
            </a:r>
          </a:p>
        </p:txBody>
      </p:sp>
      <p:sp>
        <p:nvSpPr>
          <p:cNvPr id="16" name="TextBox 15"/>
          <p:cNvSpPr txBox="1"/>
          <p:nvPr/>
        </p:nvSpPr>
        <p:spPr>
          <a:xfrm>
            <a:off x="5852160" y="5029200"/>
            <a:ext cx="5943600" cy="457200"/>
          </a:xfrm>
          <a:prstGeom prst="rect">
            <a:avLst/>
          </a:prstGeom>
          <a:noFill/>
        </p:spPr>
        <p:txBody>
          <a:bodyPr wrap="square">
            <a:spAutoFit/>
          </a:bodyPr>
          <a:lstStyle/>
          <a:p>
            <a:pPr algn="ctr"/>
            <a:r>
              <a:rPr sz="1400" b="0" i="1">
                <a:solidFill>
                  <a:srgbClr val="00B4D8"/>
                </a:solidFill>
                <a:latin typeface="Calibri"/>
              </a:rPr>
              <a:t>Predict   Cluster   Monitor</a:t>
            </a:r>
          </a:p>
        </p:txBody>
      </p:sp>
      <p:sp>
        <p:nvSpPr>
          <p:cNvPr id="17" name="Oval 16"/>
          <p:cNvSpPr/>
          <p:nvPr/>
        </p:nvSpPr>
        <p:spPr>
          <a:xfrm>
            <a:off x="11686032" y="6473952"/>
            <a:ext cx="256032" cy="256032"/>
          </a:xfrm>
          <a:prstGeom prst="ellipse">
            <a:avLst/>
          </a:prstGeom>
          <a:solidFill>
            <a:srgbClr val="E0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1676888" y="6446520"/>
            <a:ext cx="274320" cy="274320"/>
          </a:xfrm>
          <a:prstGeom prst="rect">
            <a:avLst/>
          </a:prstGeom>
          <a:noFill/>
        </p:spPr>
        <p:txBody>
          <a:bodyPr wrap="square">
            <a:spAutoFit/>
          </a:bodyPr>
          <a:lstStyle/>
          <a:p>
            <a:pPr algn="ctr"/>
            <a:r>
              <a:rPr sz="900" b="1" i="0">
                <a:solidFill>
                  <a:srgbClr val="FFFFFF"/>
                </a:solidFill>
                <a:latin typeface="Calibri"/>
              </a:rPr>
              <a:t>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41732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417320"/>
            <a:ext cx="12188952" cy="50292"/>
          </a:xfrm>
          <a:prstGeom prst="rect">
            <a:avLst/>
          </a:prstGeom>
          <a:solidFill>
            <a:srgbClr val="E0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164592"/>
            <a:ext cx="11457432" cy="804672"/>
          </a:xfrm>
          <a:prstGeom prst="rect">
            <a:avLst/>
          </a:prstGeom>
          <a:noFill/>
        </p:spPr>
        <p:txBody>
          <a:bodyPr wrap="square">
            <a:spAutoFit/>
          </a:bodyPr>
          <a:lstStyle/>
          <a:p>
            <a:pPr algn="l"/>
            <a:r>
              <a:rPr sz="3000" b="1" i="0">
                <a:solidFill>
                  <a:srgbClr val="FFFFFF"/>
                </a:solidFill>
                <a:latin typeface="Calibri"/>
              </a:rPr>
              <a:t>Problem Statement</a:t>
            </a:r>
          </a:p>
        </p:txBody>
      </p:sp>
      <p:sp>
        <p:nvSpPr>
          <p:cNvPr id="6" name="TextBox 5"/>
          <p:cNvSpPr txBox="1"/>
          <p:nvPr/>
        </p:nvSpPr>
        <p:spPr>
          <a:xfrm>
            <a:off x="365760" y="914400"/>
            <a:ext cx="11457432" cy="457200"/>
          </a:xfrm>
          <a:prstGeom prst="rect">
            <a:avLst/>
          </a:prstGeom>
          <a:noFill/>
        </p:spPr>
        <p:txBody>
          <a:bodyPr wrap="square">
            <a:spAutoFit/>
          </a:bodyPr>
          <a:lstStyle/>
          <a:p>
            <a:pPr algn="l"/>
            <a:r>
              <a:rPr sz="1300" b="0" i="1">
                <a:solidFill>
                  <a:srgbClr val="F5A623"/>
                </a:solidFill>
                <a:latin typeface="Calibri"/>
              </a:rPr>
              <a:t>Why do we need an AI-based road accident system?</a:t>
            </a:r>
          </a:p>
        </p:txBody>
      </p:sp>
      <p:sp>
        <p:nvSpPr>
          <p:cNvPr id="7" name="Rectangle 6"/>
          <p:cNvSpPr/>
          <p:nvPr/>
        </p:nvSpPr>
        <p:spPr>
          <a:xfrm>
            <a:off x="320040" y="1627632"/>
            <a:ext cx="2697480" cy="1417320"/>
          </a:xfrm>
          <a:prstGeom prst="rect">
            <a:avLst/>
          </a:prstGeom>
          <a:solidFill>
            <a:srgbClr val="1E3A5F"/>
          </a:solidFill>
          <a:ln w="15240">
            <a:solidFill>
              <a:srgbClr val="E02B2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11480" y="1719072"/>
            <a:ext cx="2514600" cy="594360"/>
          </a:xfrm>
          <a:prstGeom prst="rect">
            <a:avLst/>
          </a:prstGeom>
          <a:noFill/>
        </p:spPr>
        <p:txBody>
          <a:bodyPr wrap="square">
            <a:spAutoFit/>
          </a:bodyPr>
          <a:lstStyle/>
          <a:p>
            <a:pPr algn="ctr"/>
            <a:r>
              <a:rPr sz="2600" b="1" i="0">
                <a:solidFill>
                  <a:srgbClr val="F5A623"/>
                </a:solidFill>
                <a:latin typeface="Calibri"/>
              </a:rPr>
              <a:t>38,000+</a:t>
            </a:r>
          </a:p>
        </p:txBody>
      </p:sp>
      <p:sp>
        <p:nvSpPr>
          <p:cNvPr id="9" name="TextBox 8"/>
          <p:cNvSpPr txBox="1"/>
          <p:nvPr/>
        </p:nvSpPr>
        <p:spPr>
          <a:xfrm>
            <a:off x="411480" y="2304288"/>
            <a:ext cx="2514600" cy="640080"/>
          </a:xfrm>
          <a:prstGeom prst="rect">
            <a:avLst/>
          </a:prstGeom>
          <a:noFill/>
        </p:spPr>
        <p:txBody>
          <a:bodyPr wrap="square">
            <a:spAutoFit/>
          </a:bodyPr>
          <a:lstStyle/>
          <a:p>
            <a:pPr algn="ctr"/>
            <a:r>
              <a:rPr sz="1050" b="0" i="0">
                <a:solidFill>
                  <a:srgbClr val="D0D8E8"/>
                </a:solidFill>
                <a:latin typeface="Calibri"/>
              </a:rPr>
              <a:t>People die every year
from road accidents in the US</a:t>
            </a:r>
          </a:p>
        </p:txBody>
      </p:sp>
      <p:sp>
        <p:nvSpPr>
          <p:cNvPr id="10" name="Rectangle 9"/>
          <p:cNvSpPr/>
          <p:nvPr/>
        </p:nvSpPr>
        <p:spPr>
          <a:xfrm>
            <a:off x="3172968" y="1627632"/>
            <a:ext cx="2697480" cy="1417320"/>
          </a:xfrm>
          <a:prstGeom prst="rect">
            <a:avLst/>
          </a:prstGeom>
          <a:solidFill>
            <a:srgbClr val="1E3A5F"/>
          </a:solidFill>
          <a:ln w="15240">
            <a:solidFill>
              <a:srgbClr val="E02B2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264408" y="1719072"/>
            <a:ext cx="2514600" cy="594360"/>
          </a:xfrm>
          <a:prstGeom prst="rect">
            <a:avLst/>
          </a:prstGeom>
          <a:noFill/>
        </p:spPr>
        <p:txBody>
          <a:bodyPr wrap="square">
            <a:spAutoFit/>
          </a:bodyPr>
          <a:lstStyle/>
          <a:p>
            <a:pPr algn="ctr"/>
            <a:r>
              <a:rPr sz="2600" b="1" i="0">
                <a:solidFill>
                  <a:srgbClr val="F5A623"/>
                </a:solidFill>
                <a:latin typeface="Calibri"/>
              </a:rPr>
              <a:t>$242 Bn</a:t>
            </a:r>
          </a:p>
        </p:txBody>
      </p:sp>
      <p:sp>
        <p:nvSpPr>
          <p:cNvPr id="12" name="TextBox 11"/>
          <p:cNvSpPr txBox="1"/>
          <p:nvPr/>
        </p:nvSpPr>
        <p:spPr>
          <a:xfrm>
            <a:off x="3264408" y="2304288"/>
            <a:ext cx="2514600" cy="640080"/>
          </a:xfrm>
          <a:prstGeom prst="rect">
            <a:avLst/>
          </a:prstGeom>
          <a:noFill/>
        </p:spPr>
        <p:txBody>
          <a:bodyPr wrap="square">
            <a:spAutoFit/>
          </a:bodyPr>
          <a:lstStyle/>
          <a:p>
            <a:pPr algn="ctr"/>
            <a:r>
              <a:rPr sz="1050" b="0" i="0">
                <a:solidFill>
                  <a:srgbClr val="D0D8E8"/>
                </a:solidFill>
                <a:latin typeface="Calibri"/>
              </a:rPr>
              <a:t>Estimated annual cost
of US traffic crashes</a:t>
            </a:r>
          </a:p>
        </p:txBody>
      </p:sp>
      <p:sp>
        <p:nvSpPr>
          <p:cNvPr id="13" name="Rectangle 12"/>
          <p:cNvSpPr/>
          <p:nvPr/>
        </p:nvSpPr>
        <p:spPr>
          <a:xfrm>
            <a:off x="6025896" y="1627632"/>
            <a:ext cx="2697480" cy="1417320"/>
          </a:xfrm>
          <a:prstGeom prst="rect">
            <a:avLst/>
          </a:prstGeom>
          <a:solidFill>
            <a:srgbClr val="1E3A5F"/>
          </a:solidFill>
          <a:ln w="15240">
            <a:solidFill>
              <a:srgbClr val="E02B2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117336" y="1719072"/>
            <a:ext cx="2514600" cy="594360"/>
          </a:xfrm>
          <a:prstGeom prst="rect">
            <a:avLst/>
          </a:prstGeom>
          <a:noFill/>
        </p:spPr>
        <p:txBody>
          <a:bodyPr wrap="square">
            <a:spAutoFit/>
          </a:bodyPr>
          <a:lstStyle/>
          <a:p>
            <a:pPr algn="ctr"/>
            <a:r>
              <a:rPr sz="2600" b="1" i="0">
                <a:solidFill>
                  <a:srgbClr val="F5A623"/>
                </a:solidFill>
                <a:latin typeface="Calibri"/>
              </a:rPr>
              <a:t>Minutes</a:t>
            </a:r>
          </a:p>
        </p:txBody>
      </p:sp>
      <p:sp>
        <p:nvSpPr>
          <p:cNvPr id="15" name="TextBox 14"/>
          <p:cNvSpPr txBox="1"/>
          <p:nvPr/>
        </p:nvSpPr>
        <p:spPr>
          <a:xfrm>
            <a:off x="6117336" y="2304288"/>
            <a:ext cx="2514600" cy="640080"/>
          </a:xfrm>
          <a:prstGeom prst="rect">
            <a:avLst/>
          </a:prstGeom>
          <a:noFill/>
        </p:spPr>
        <p:txBody>
          <a:bodyPr wrap="square">
            <a:spAutoFit/>
          </a:bodyPr>
          <a:lstStyle/>
          <a:p>
            <a:pPr algn="ctr"/>
            <a:r>
              <a:rPr sz="1050" b="0" i="0">
                <a:solidFill>
                  <a:srgbClr val="D0D8E8"/>
                </a:solidFill>
                <a:latin typeface="Calibri"/>
              </a:rPr>
              <a:t>Lost every time emergency
dispatch lacks severity info</a:t>
            </a:r>
          </a:p>
        </p:txBody>
      </p:sp>
      <p:sp>
        <p:nvSpPr>
          <p:cNvPr id="16" name="Rectangle 15"/>
          <p:cNvSpPr/>
          <p:nvPr/>
        </p:nvSpPr>
        <p:spPr>
          <a:xfrm>
            <a:off x="8878824" y="1627632"/>
            <a:ext cx="2697480" cy="1417320"/>
          </a:xfrm>
          <a:prstGeom prst="rect">
            <a:avLst/>
          </a:prstGeom>
          <a:solidFill>
            <a:srgbClr val="1E3A5F"/>
          </a:solidFill>
          <a:ln w="15240">
            <a:solidFill>
              <a:srgbClr val="E02B2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970264" y="1719072"/>
            <a:ext cx="2514600" cy="594360"/>
          </a:xfrm>
          <a:prstGeom prst="rect">
            <a:avLst/>
          </a:prstGeom>
          <a:noFill/>
        </p:spPr>
        <p:txBody>
          <a:bodyPr wrap="square">
            <a:spAutoFit/>
          </a:bodyPr>
          <a:lstStyle/>
          <a:p>
            <a:pPr algn="ctr"/>
            <a:r>
              <a:rPr sz="2600" b="1" i="0">
                <a:solidFill>
                  <a:srgbClr val="F5A623"/>
                </a:solidFill>
                <a:latin typeface="Calibri"/>
              </a:rPr>
              <a:t>Reactive</a:t>
            </a:r>
          </a:p>
        </p:txBody>
      </p:sp>
      <p:sp>
        <p:nvSpPr>
          <p:cNvPr id="18" name="TextBox 17"/>
          <p:cNvSpPr txBox="1"/>
          <p:nvPr/>
        </p:nvSpPr>
        <p:spPr>
          <a:xfrm>
            <a:off x="8970264" y="2304288"/>
            <a:ext cx="2514600" cy="640080"/>
          </a:xfrm>
          <a:prstGeom prst="rect">
            <a:avLst/>
          </a:prstGeom>
          <a:noFill/>
        </p:spPr>
        <p:txBody>
          <a:bodyPr wrap="square">
            <a:spAutoFit/>
          </a:bodyPr>
          <a:lstStyle/>
          <a:p>
            <a:pPr algn="ctr"/>
            <a:r>
              <a:rPr sz="1050" b="0" i="0">
                <a:solidFill>
                  <a:srgbClr val="D0D8E8"/>
                </a:solidFill>
                <a:latin typeface="Calibri"/>
              </a:rPr>
              <a:t>Most accident systems only
respond AFTER incidents happen</a:t>
            </a:r>
          </a:p>
        </p:txBody>
      </p:sp>
      <p:sp>
        <p:nvSpPr>
          <p:cNvPr id="19" name="TextBox 18"/>
          <p:cNvSpPr txBox="1"/>
          <p:nvPr/>
        </p:nvSpPr>
        <p:spPr>
          <a:xfrm>
            <a:off x="320040" y="3246120"/>
            <a:ext cx="6858000" cy="365760"/>
          </a:xfrm>
          <a:prstGeom prst="rect">
            <a:avLst/>
          </a:prstGeom>
          <a:noFill/>
        </p:spPr>
        <p:txBody>
          <a:bodyPr wrap="square">
            <a:spAutoFit/>
          </a:bodyPr>
          <a:lstStyle/>
          <a:p>
            <a:pPr algn="l"/>
            <a:r>
              <a:rPr sz="1500" b="1" i="0">
                <a:solidFill>
                  <a:srgbClr val="00B4D8"/>
                </a:solidFill>
                <a:latin typeface="Calibri"/>
              </a:rPr>
              <a:t>What is the Core Problem?</a:t>
            </a:r>
          </a:p>
        </p:txBody>
      </p:sp>
      <p:sp>
        <p:nvSpPr>
          <p:cNvPr id="20" name="Rectangle 19"/>
          <p:cNvSpPr/>
          <p:nvPr/>
        </p:nvSpPr>
        <p:spPr>
          <a:xfrm>
            <a:off x="320040" y="3630168"/>
            <a:ext cx="6858000" cy="36576"/>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365760" y="3721608"/>
            <a:ext cx="6675120" cy="347472"/>
          </a:xfrm>
          <a:prstGeom prst="rect">
            <a:avLst/>
          </a:prstGeom>
          <a:noFill/>
        </p:spPr>
        <p:txBody>
          <a:bodyPr wrap="square">
            <a:spAutoFit/>
          </a:bodyPr>
          <a:lstStyle/>
          <a:p>
            <a:pPr algn="l"/>
            <a:r>
              <a:rPr sz="1200" b="0" i="0">
                <a:solidFill>
                  <a:srgbClr val="F0F4FF"/>
                </a:solidFill>
                <a:latin typeface="Calibri"/>
              </a:rPr>
              <a:t>  Emergency teams depend on eyewitness reports to judge severity — unreliable and slow.</a:t>
            </a:r>
          </a:p>
        </p:txBody>
      </p:sp>
      <p:sp>
        <p:nvSpPr>
          <p:cNvPr id="22" name="TextBox 21"/>
          <p:cNvSpPr txBox="1"/>
          <p:nvPr/>
        </p:nvSpPr>
        <p:spPr>
          <a:xfrm>
            <a:off x="365760" y="4123944"/>
            <a:ext cx="6675120" cy="347472"/>
          </a:xfrm>
          <a:prstGeom prst="rect">
            <a:avLst/>
          </a:prstGeom>
          <a:noFill/>
        </p:spPr>
        <p:txBody>
          <a:bodyPr wrap="square">
            <a:spAutoFit/>
          </a:bodyPr>
          <a:lstStyle/>
          <a:p>
            <a:pPr algn="l"/>
            <a:r>
              <a:rPr sz="1200" b="0" i="0">
                <a:solidFill>
                  <a:srgbClr val="F0F4FF"/>
                </a:solidFill>
                <a:latin typeface="Calibri"/>
              </a:rPr>
              <a:t>  Traffic managers have no way to estimate how long a road will be blocked.</a:t>
            </a:r>
          </a:p>
        </p:txBody>
      </p:sp>
      <p:sp>
        <p:nvSpPr>
          <p:cNvPr id="23" name="TextBox 22"/>
          <p:cNvSpPr txBox="1"/>
          <p:nvPr/>
        </p:nvSpPr>
        <p:spPr>
          <a:xfrm>
            <a:off x="365760" y="4526280"/>
            <a:ext cx="6675120" cy="347472"/>
          </a:xfrm>
          <a:prstGeom prst="rect">
            <a:avLst/>
          </a:prstGeom>
          <a:noFill/>
        </p:spPr>
        <p:txBody>
          <a:bodyPr wrap="square">
            <a:spAutoFit/>
          </a:bodyPr>
          <a:lstStyle/>
          <a:p>
            <a:pPr algn="l"/>
            <a:r>
              <a:rPr sz="1200" b="0" i="0">
                <a:solidFill>
                  <a:srgbClr val="F0F4FF"/>
                </a:solidFill>
                <a:latin typeface="Calibri"/>
              </a:rPr>
              <a:t>  Accident hotspots are discovered only after repeated incidents, not in advance.</a:t>
            </a:r>
          </a:p>
        </p:txBody>
      </p:sp>
      <p:sp>
        <p:nvSpPr>
          <p:cNvPr id="24" name="TextBox 23"/>
          <p:cNvSpPr txBox="1"/>
          <p:nvPr/>
        </p:nvSpPr>
        <p:spPr>
          <a:xfrm>
            <a:off x="365760" y="4974336"/>
            <a:ext cx="6675120" cy="347472"/>
          </a:xfrm>
          <a:prstGeom prst="rect">
            <a:avLst/>
          </a:prstGeom>
          <a:noFill/>
        </p:spPr>
        <p:txBody>
          <a:bodyPr wrap="square">
            <a:spAutoFit/>
          </a:bodyPr>
          <a:lstStyle/>
          <a:p>
            <a:pPr algn="l"/>
            <a:r>
              <a:rPr sz="1200" b="0" i="0">
                <a:solidFill>
                  <a:srgbClr val="F0F4FF"/>
                </a:solidFill>
                <a:latin typeface="Calibri"/>
              </a:rPr>
              <a:t>  There is no single system that predicts, clusters, and monitors accidents together.</a:t>
            </a:r>
          </a:p>
        </p:txBody>
      </p:sp>
      <p:sp>
        <p:nvSpPr>
          <p:cNvPr id="25" name="Rectangle 24"/>
          <p:cNvSpPr/>
          <p:nvPr/>
        </p:nvSpPr>
        <p:spPr>
          <a:xfrm>
            <a:off x="7374979" y="3271266"/>
            <a:ext cx="4813845" cy="3330702"/>
          </a:xfrm>
          <a:prstGeom prst="rect">
            <a:avLst/>
          </a:prstGeom>
          <a:solidFill>
            <a:srgbClr val="14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26" name="TextBox 25"/>
          <p:cNvSpPr txBox="1"/>
          <p:nvPr/>
        </p:nvSpPr>
        <p:spPr>
          <a:xfrm>
            <a:off x="7543800" y="3505962"/>
            <a:ext cx="4160520" cy="411480"/>
          </a:xfrm>
          <a:prstGeom prst="rect">
            <a:avLst/>
          </a:prstGeom>
          <a:noFill/>
        </p:spPr>
        <p:txBody>
          <a:bodyPr wrap="square">
            <a:spAutoFit/>
          </a:bodyPr>
          <a:lstStyle/>
          <a:p>
            <a:pPr algn="l"/>
            <a:r>
              <a:rPr sz="1300" b="1" i="0">
                <a:solidFill>
                  <a:srgbClr val="E02B2B"/>
                </a:solidFill>
                <a:latin typeface="Calibri"/>
              </a:rPr>
              <a:t>RoadSafe AI Solves This</a:t>
            </a:r>
          </a:p>
        </p:txBody>
      </p:sp>
      <p:sp>
        <p:nvSpPr>
          <p:cNvPr id="27" name="Rectangle 26"/>
          <p:cNvSpPr/>
          <p:nvPr/>
        </p:nvSpPr>
        <p:spPr>
          <a:xfrm>
            <a:off x="7469468" y="3917442"/>
            <a:ext cx="4434840" cy="36576"/>
          </a:xfrm>
          <a:prstGeom prst="rect">
            <a:avLst/>
          </a:prstGeom>
          <a:solidFill>
            <a:srgbClr val="E0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512140" y="4297680"/>
            <a:ext cx="4114800" cy="658368"/>
          </a:xfrm>
          <a:prstGeom prst="rect">
            <a:avLst/>
          </a:prstGeom>
          <a:noFill/>
        </p:spPr>
        <p:txBody>
          <a:bodyPr wrap="square">
            <a:spAutoFit/>
          </a:bodyPr>
          <a:lstStyle/>
          <a:p>
            <a:pPr algn="l"/>
            <a:r>
              <a:rPr sz="1100" b="0" i="0">
                <a:solidFill>
                  <a:srgbClr val="F0F4FF"/>
                </a:solidFill>
                <a:latin typeface="Calibri"/>
              </a:rPr>
              <a:t>  Predicts accident severity in real time using machine learning</a:t>
            </a:r>
          </a:p>
        </p:txBody>
      </p:sp>
      <p:sp>
        <p:nvSpPr>
          <p:cNvPr id="29" name="TextBox 28"/>
          <p:cNvSpPr txBox="1"/>
          <p:nvPr/>
        </p:nvSpPr>
        <p:spPr>
          <a:xfrm>
            <a:off x="7589520" y="4716018"/>
            <a:ext cx="4114800" cy="658368"/>
          </a:xfrm>
          <a:prstGeom prst="rect">
            <a:avLst/>
          </a:prstGeom>
          <a:noFill/>
        </p:spPr>
        <p:txBody>
          <a:bodyPr wrap="square">
            <a:spAutoFit/>
          </a:bodyPr>
          <a:lstStyle/>
          <a:p>
            <a:pPr algn="l"/>
            <a:r>
              <a:rPr sz="1100" b="0" i="0" dirty="0">
                <a:solidFill>
                  <a:srgbClr val="F0F4FF"/>
                </a:solidFill>
                <a:latin typeface="Calibri"/>
              </a:rPr>
              <a:t>  Estimates how long a road will take to clear</a:t>
            </a:r>
          </a:p>
        </p:txBody>
      </p:sp>
      <p:sp>
        <p:nvSpPr>
          <p:cNvPr id="30" name="TextBox 29"/>
          <p:cNvSpPr txBox="1"/>
          <p:nvPr/>
        </p:nvSpPr>
        <p:spPr>
          <a:xfrm>
            <a:off x="7589520" y="5111496"/>
            <a:ext cx="4114800" cy="658368"/>
          </a:xfrm>
          <a:prstGeom prst="rect">
            <a:avLst/>
          </a:prstGeom>
          <a:noFill/>
        </p:spPr>
        <p:txBody>
          <a:bodyPr wrap="square">
            <a:spAutoFit/>
          </a:bodyPr>
          <a:lstStyle/>
          <a:p>
            <a:pPr algn="l"/>
            <a:r>
              <a:rPr sz="1100" b="0" i="0" dirty="0">
                <a:solidFill>
                  <a:srgbClr val="F0F4FF"/>
                </a:solidFill>
                <a:latin typeface="Calibri"/>
              </a:rPr>
              <a:t>  Maps dangerous zones using spatial clustering</a:t>
            </a:r>
          </a:p>
        </p:txBody>
      </p:sp>
      <p:sp>
        <p:nvSpPr>
          <p:cNvPr id="31" name="TextBox 30"/>
          <p:cNvSpPr txBox="1"/>
          <p:nvPr/>
        </p:nvSpPr>
        <p:spPr>
          <a:xfrm>
            <a:off x="7589520" y="5545799"/>
            <a:ext cx="4114800" cy="658368"/>
          </a:xfrm>
          <a:prstGeom prst="rect">
            <a:avLst/>
          </a:prstGeom>
          <a:noFill/>
        </p:spPr>
        <p:txBody>
          <a:bodyPr wrap="square">
            <a:spAutoFit/>
          </a:bodyPr>
          <a:lstStyle/>
          <a:p>
            <a:pPr algn="l"/>
            <a:r>
              <a:rPr sz="1100" b="0" i="0" dirty="0">
                <a:solidFill>
                  <a:srgbClr val="F0F4FF"/>
                </a:solidFill>
                <a:latin typeface="Calibri"/>
              </a:rPr>
              <a:t>  Alerts when new data starts drifting from training patterns</a:t>
            </a:r>
          </a:p>
        </p:txBody>
      </p:sp>
      <p:sp>
        <p:nvSpPr>
          <p:cNvPr id="32" name="TextBox 31"/>
          <p:cNvSpPr txBox="1"/>
          <p:nvPr/>
        </p:nvSpPr>
        <p:spPr>
          <a:xfrm>
            <a:off x="7589520" y="5996178"/>
            <a:ext cx="4114800" cy="658368"/>
          </a:xfrm>
          <a:prstGeom prst="rect">
            <a:avLst/>
          </a:prstGeom>
          <a:noFill/>
        </p:spPr>
        <p:txBody>
          <a:bodyPr wrap="square">
            <a:spAutoFit/>
          </a:bodyPr>
          <a:lstStyle/>
          <a:p>
            <a:pPr algn="l"/>
            <a:r>
              <a:rPr sz="1100" b="0" i="0" dirty="0">
                <a:solidFill>
                  <a:srgbClr val="F0F4FF"/>
                </a:solidFill>
                <a:latin typeface="Calibri"/>
              </a:rPr>
              <a:t>  Covers the full ML pipeline from data to deployment</a:t>
            </a:r>
          </a:p>
        </p:txBody>
      </p:sp>
      <p:sp>
        <p:nvSpPr>
          <p:cNvPr id="33" name="Oval 32"/>
          <p:cNvSpPr/>
          <p:nvPr/>
        </p:nvSpPr>
        <p:spPr>
          <a:xfrm>
            <a:off x="11686032" y="6473952"/>
            <a:ext cx="256032" cy="256032"/>
          </a:xfrm>
          <a:prstGeom prst="ellipse">
            <a:avLst/>
          </a:prstGeom>
          <a:solidFill>
            <a:srgbClr val="E0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11676888" y="6446520"/>
            <a:ext cx="274320" cy="274320"/>
          </a:xfrm>
          <a:prstGeom prst="rect">
            <a:avLst/>
          </a:prstGeom>
          <a:noFill/>
        </p:spPr>
        <p:txBody>
          <a:bodyPr wrap="square">
            <a:spAutoFit/>
          </a:bodyPr>
          <a:lstStyle/>
          <a:p>
            <a:pPr algn="ctr"/>
            <a:r>
              <a:rPr sz="900" b="1" i="0">
                <a:solidFill>
                  <a:srgbClr val="FFFFFF"/>
                </a:solidFill>
                <a:latin typeface="Calibri"/>
              </a:rP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41732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417320"/>
            <a:ext cx="12188952" cy="50292"/>
          </a:xfrm>
          <a:prstGeom prst="rect">
            <a:avLst/>
          </a:prstGeom>
          <a:solidFill>
            <a:srgbClr val="E0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164592"/>
            <a:ext cx="11457432" cy="804672"/>
          </a:xfrm>
          <a:prstGeom prst="rect">
            <a:avLst/>
          </a:prstGeom>
          <a:noFill/>
        </p:spPr>
        <p:txBody>
          <a:bodyPr wrap="square">
            <a:spAutoFit/>
          </a:bodyPr>
          <a:lstStyle/>
          <a:p>
            <a:pPr algn="l"/>
            <a:r>
              <a:rPr sz="3000" b="1" i="0">
                <a:solidFill>
                  <a:srgbClr val="FFFFFF"/>
                </a:solidFill>
                <a:latin typeface="Calibri"/>
              </a:rPr>
              <a:t>Project Description &amp; Objectives</a:t>
            </a:r>
          </a:p>
        </p:txBody>
      </p:sp>
      <p:sp>
        <p:nvSpPr>
          <p:cNvPr id="6" name="TextBox 5"/>
          <p:cNvSpPr txBox="1"/>
          <p:nvPr/>
        </p:nvSpPr>
        <p:spPr>
          <a:xfrm>
            <a:off x="365760" y="914400"/>
            <a:ext cx="11457432" cy="457200"/>
          </a:xfrm>
          <a:prstGeom prst="rect">
            <a:avLst/>
          </a:prstGeom>
          <a:noFill/>
        </p:spPr>
        <p:txBody>
          <a:bodyPr wrap="square">
            <a:spAutoFit/>
          </a:bodyPr>
          <a:lstStyle/>
          <a:p>
            <a:pPr algn="l"/>
            <a:r>
              <a:rPr sz="1300" b="0" i="1">
                <a:solidFill>
                  <a:srgbClr val="F5A623"/>
                </a:solidFill>
                <a:latin typeface="Calibri"/>
              </a:rPr>
              <a:t>What we built and what it does</a:t>
            </a:r>
          </a:p>
        </p:txBody>
      </p:sp>
      <p:sp>
        <p:nvSpPr>
          <p:cNvPr id="7" name="TextBox 6"/>
          <p:cNvSpPr txBox="1"/>
          <p:nvPr/>
        </p:nvSpPr>
        <p:spPr>
          <a:xfrm>
            <a:off x="320040" y="1536192"/>
            <a:ext cx="11567160" cy="868680"/>
          </a:xfrm>
          <a:prstGeom prst="rect">
            <a:avLst/>
          </a:prstGeom>
          <a:noFill/>
        </p:spPr>
        <p:txBody>
          <a:bodyPr wrap="square">
            <a:spAutoFit/>
          </a:bodyPr>
          <a:lstStyle/>
          <a:p>
            <a:pPr algn="l"/>
            <a:r>
              <a:rPr sz="1250" b="0" i="0">
                <a:solidFill>
                  <a:srgbClr val="D0D8E8"/>
                </a:solidFill>
                <a:latin typeface="Calibri"/>
              </a:rPr>
              <a:t>RoadSafe AI is a complete Machine Learning system that takes road and weather conditions as input and instantly predicts how severe an accident is, how long the road will be blocked, and whether the location is a known danger zone. It is trained on 80,000 real US accident records and runs through a web dashboard and an API — covering all six course outcomes end to end.</a:t>
            </a:r>
          </a:p>
        </p:txBody>
      </p:sp>
      <p:sp>
        <p:nvSpPr>
          <p:cNvPr id="8" name="Rectangle 7"/>
          <p:cNvSpPr/>
          <p:nvPr/>
        </p:nvSpPr>
        <p:spPr>
          <a:xfrm>
            <a:off x="320040" y="2514600"/>
            <a:ext cx="3749039" cy="1371600"/>
          </a:xfrm>
          <a:prstGeom prst="rect">
            <a:avLst/>
          </a:prstGeom>
          <a:solidFill>
            <a:srgbClr val="1E3A5F"/>
          </a:solidFill>
          <a:ln w="889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411480" y="2624328"/>
            <a:ext cx="329184" cy="329184"/>
          </a:xfrm>
          <a:prstGeom prst="ellipse">
            <a:avLst/>
          </a:prstGeom>
          <a:solidFill>
            <a:srgbClr val="E0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11480" y="2606040"/>
            <a:ext cx="329184" cy="329184"/>
          </a:xfrm>
          <a:prstGeom prst="rect">
            <a:avLst/>
          </a:prstGeom>
          <a:noFill/>
        </p:spPr>
        <p:txBody>
          <a:bodyPr wrap="square">
            <a:spAutoFit/>
          </a:bodyPr>
          <a:lstStyle/>
          <a:p>
            <a:pPr algn="ctr"/>
            <a:r>
              <a:rPr sz="1200" b="1" i="0">
                <a:solidFill>
                  <a:srgbClr val="FFFFFF"/>
                </a:solidFill>
                <a:latin typeface="Calibri"/>
              </a:rPr>
              <a:t>1</a:t>
            </a:r>
          </a:p>
        </p:txBody>
      </p:sp>
      <p:sp>
        <p:nvSpPr>
          <p:cNvPr id="11" name="TextBox 10"/>
          <p:cNvSpPr txBox="1"/>
          <p:nvPr/>
        </p:nvSpPr>
        <p:spPr>
          <a:xfrm>
            <a:off x="832104" y="2624328"/>
            <a:ext cx="3127247" cy="384048"/>
          </a:xfrm>
          <a:prstGeom prst="rect">
            <a:avLst/>
          </a:prstGeom>
          <a:noFill/>
        </p:spPr>
        <p:txBody>
          <a:bodyPr wrap="square">
            <a:spAutoFit/>
          </a:bodyPr>
          <a:lstStyle/>
          <a:p>
            <a:pPr algn="l"/>
            <a:r>
              <a:rPr sz="1200" b="1" i="0">
                <a:solidFill>
                  <a:srgbClr val="00B4D8"/>
                </a:solidFill>
                <a:latin typeface="Calibri"/>
              </a:rPr>
              <a:t>Accident Severity Prediction</a:t>
            </a:r>
          </a:p>
        </p:txBody>
      </p:sp>
      <p:sp>
        <p:nvSpPr>
          <p:cNvPr id="12" name="Rectangle 11"/>
          <p:cNvSpPr/>
          <p:nvPr/>
        </p:nvSpPr>
        <p:spPr>
          <a:xfrm>
            <a:off x="411480" y="3044952"/>
            <a:ext cx="3566159" cy="2286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29768" y="3108960"/>
            <a:ext cx="3520439" cy="731520"/>
          </a:xfrm>
          <a:prstGeom prst="rect">
            <a:avLst/>
          </a:prstGeom>
          <a:noFill/>
        </p:spPr>
        <p:txBody>
          <a:bodyPr wrap="square">
            <a:spAutoFit/>
          </a:bodyPr>
          <a:lstStyle/>
          <a:p>
            <a:pPr algn="l"/>
            <a:r>
              <a:rPr sz="1050" b="0" i="0">
                <a:solidFill>
                  <a:srgbClr val="F0F4FF"/>
                </a:solidFill>
                <a:latin typeface="Calibri"/>
              </a:rPr>
              <a:t>Classifies every incident into one of four severity levels (mild to critical) using a powerful gradient boosting model.</a:t>
            </a:r>
          </a:p>
        </p:txBody>
      </p:sp>
      <p:sp>
        <p:nvSpPr>
          <p:cNvPr id="14" name="Rectangle 13"/>
          <p:cNvSpPr/>
          <p:nvPr/>
        </p:nvSpPr>
        <p:spPr>
          <a:xfrm>
            <a:off x="4206240" y="2514600"/>
            <a:ext cx="3749039" cy="1371600"/>
          </a:xfrm>
          <a:prstGeom prst="rect">
            <a:avLst/>
          </a:prstGeom>
          <a:solidFill>
            <a:srgbClr val="1E3A5F"/>
          </a:solidFill>
          <a:ln w="889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4297680" y="2624328"/>
            <a:ext cx="329184" cy="329184"/>
          </a:xfrm>
          <a:prstGeom prst="ellipse">
            <a:avLst/>
          </a:prstGeom>
          <a:solidFill>
            <a:srgbClr val="E0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297680" y="2606040"/>
            <a:ext cx="329184" cy="329184"/>
          </a:xfrm>
          <a:prstGeom prst="rect">
            <a:avLst/>
          </a:prstGeom>
          <a:noFill/>
        </p:spPr>
        <p:txBody>
          <a:bodyPr wrap="square">
            <a:spAutoFit/>
          </a:bodyPr>
          <a:lstStyle/>
          <a:p>
            <a:pPr algn="ctr"/>
            <a:r>
              <a:rPr sz="1200" b="1" i="0">
                <a:solidFill>
                  <a:srgbClr val="FFFFFF"/>
                </a:solidFill>
                <a:latin typeface="Calibri"/>
              </a:rPr>
              <a:t>2</a:t>
            </a:r>
          </a:p>
        </p:txBody>
      </p:sp>
      <p:sp>
        <p:nvSpPr>
          <p:cNvPr id="17" name="TextBox 16"/>
          <p:cNvSpPr txBox="1"/>
          <p:nvPr/>
        </p:nvSpPr>
        <p:spPr>
          <a:xfrm>
            <a:off x="4718304" y="2624328"/>
            <a:ext cx="3127247" cy="384048"/>
          </a:xfrm>
          <a:prstGeom prst="rect">
            <a:avLst/>
          </a:prstGeom>
          <a:noFill/>
        </p:spPr>
        <p:txBody>
          <a:bodyPr wrap="square">
            <a:spAutoFit/>
          </a:bodyPr>
          <a:lstStyle/>
          <a:p>
            <a:pPr algn="l"/>
            <a:r>
              <a:rPr sz="1200" b="1" i="0">
                <a:solidFill>
                  <a:srgbClr val="00B4D8"/>
                </a:solidFill>
                <a:latin typeface="Calibri"/>
              </a:rPr>
              <a:t>Road Clearance Estimation</a:t>
            </a:r>
          </a:p>
        </p:txBody>
      </p:sp>
      <p:sp>
        <p:nvSpPr>
          <p:cNvPr id="18" name="Rectangle 17"/>
          <p:cNvSpPr/>
          <p:nvPr/>
        </p:nvSpPr>
        <p:spPr>
          <a:xfrm>
            <a:off x="4297680" y="3044952"/>
            <a:ext cx="3566159" cy="2286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315968" y="3108960"/>
            <a:ext cx="3520439" cy="731520"/>
          </a:xfrm>
          <a:prstGeom prst="rect">
            <a:avLst/>
          </a:prstGeom>
          <a:noFill/>
        </p:spPr>
        <p:txBody>
          <a:bodyPr wrap="square">
            <a:spAutoFit/>
          </a:bodyPr>
          <a:lstStyle/>
          <a:p>
            <a:pPr algn="l"/>
            <a:r>
              <a:rPr sz="1050" b="0" i="0">
                <a:solidFill>
                  <a:srgbClr val="F0F4FF"/>
                </a:solidFill>
                <a:latin typeface="Calibri"/>
              </a:rPr>
              <a:t>Predicts how many minutes a road will remain blocked so traffic teams can plan diversions in advance.</a:t>
            </a:r>
          </a:p>
        </p:txBody>
      </p:sp>
      <p:sp>
        <p:nvSpPr>
          <p:cNvPr id="20" name="Rectangle 19"/>
          <p:cNvSpPr/>
          <p:nvPr/>
        </p:nvSpPr>
        <p:spPr>
          <a:xfrm>
            <a:off x="8092440" y="2514600"/>
            <a:ext cx="3749039" cy="1371600"/>
          </a:xfrm>
          <a:prstGeom prst="rect">
            <a:avLst/>
          </a:prstGeom>
          <a:solidFill>
            <a:srgbClr val="1E3A5F"/>
          </a:solidFill>
          <a:ln w="889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8183880" y="2624328"/>
            <a:ext cx="329184" cy="329184"/>
          </a:xfrm>
          <a:prstGeom prst="ellipse">
            <a:avLst/>
          </a:prstGeom>
          <a:solidFill>
            <a:srgbClr val="E0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183880" y="2606040"/>
            <a:ext cx="329184" cy="329184"/>
          </a:xfrm>
          <a:prstGeom prst="rect">
            <a:avLst/>
          </a:prstGeom>
          <a:noFill/>
        </p:spPr>
        <p:txBody>
          <a:bodyPr wrap="square">
            <a:spAutoFit/>
          </a:bodyPr>
          <a:lstStyle/>
          <a:p>
            <a:pPr algn="ctr"/>
            <a:r>
              <a:rPr sz="1200" b="1" i="0">
                <a:solidFill>
                  <a:srgbClr val="FFFFFF"/>
                </a:solidFill>
                <a:latin typeface="Calibri"/>
              </a:rPr>
              <a:t>3</a:t>
            </a:r>
          </a:p>
        </p:txBody>
      </p:sp>
      <p:sp>
        <p:nvSpPr>
          <p:cNvPr id="23" name="TextBox 22"/>
          <p:cNvSpPr txBox="1"/>
          <p:nvPr/>
        </p:nvSpPr>
        <p:spPr>
          <a:xfrm>
            <a:off x="8604504" y="2624328"/>
            <a:ext cx="3127247" cy="384048"/>
          </a:xfrm>
          <a:prstGeom prst="rect">
            <a:avLst/>
          </a:prstGeom>
          <a:noFill/>
        </p:spPr>
        <p:txBody>
          <a:bodyPr wrap="square">
            <a:spAutoFit/>
          </a:bodyPr>
          <a:lstStyle/>
          <a:p>
            <a:pPr algn="l"/>
            <a:r>
              <a:rPr sz="1200" b="1" i="0">
                <a:solidFill>
                  <a:srgbClr val="00B4D8"/>
                </a:solidFill>
                <a:latin typeface="Calibri"/>
              </a:rPr>
              <a:t>Hotspot &amp; Risk Zone Discovery</a:t>
            </a:r>
          </a:p>
        </p:txBody>
      </p:sp>
      <p:sp>
        <p:nvSpPr>
          <p:cNvPr id="24" name="Rectangle 23"/>
          <p:cNvSpPr/>
          <p:nvPr/>
        </p:nvSpPr>
        <p:spPr>
          <a:xfrm>
            <a:off x="8183880" y="3044952"/>
            <a:ext cx="3566159" cy="2286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202168" y="3108960"/>
            <a:ext cx="3520439" cy="731520"/>
          </a:xfrm>
          <a:prstGeom prst="rect">
            <a:avLst/>
          </a:prstGeom>
          <a:noFill/>
        </p:spPr>
        <p:txBody>
          <a:bodyPr wrap="square">
            <a:spAutoFit/>
          </a:bodyPr>
          <a:lstStyle/>
          <a:p>
            <a:pPr algn="l"/>
            <a:r>
              <a:rPr sz="1050" b="0" i="0">
                <a:solidFill>
                  <a:srgbClr val="F0F4FF"/>
                </a:solidFill>
                <a:latin typeface="Calibri"/>
              </a:rPr>
              <a:t>Groups accident locations into geographic clusters to reveal where and why accidents keep happening.</a:t>
            </a:r>
          </a:p>
        </p:txBody>
      </p:sp>
      <p:sp>
        <p:nvSpPr>
          <p:cNvPr id="26" name="Rectangle 25"/>
          <p:cNvSpPr/>
          <p:nvPr/>
        </p:nvSpPr>
        <p:spPr>
          <a:xfrm>
            <a:off x="320040" y="3977639"/>
            <a:ext cx="3749039" cy="1371600"/>
          </a:xfrm>
          <a:prstGeom prst="rect">
            <a:avLst/>
          </a:prstGeom>
          <a:solidFill>
            <a:srgbClr val="1E3A5F"/>
          </a:solidFill>
          <a:ln w="889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411480" y="4087367"/>
            <a:ext cx="329184" cy="329184"/>
          </a:xfrm>
          <a:prstGeom prst="ellipse">
            <a:avLst/>
          </a:prstGeom>
          <a:solidFill>
            <a:srgbClr val="E0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411480" y="4069079"/>
            <a:ext cx="329184" cy="329184"/>
          </a:xfrm>
          <a:prstGeom prst="rect">
            <a:avLst/>
          </a:prstGeom>
          <a:noFill/>
        </p:spPr>
        <p:txBody>
          <a:bodyPr wrap="square">
            <a:spAutoFit/>
          </a:bodyPr>
          <a:lstStyle/>
          <a:p>
            <a:pPr algn="ctr"/>
            <a:r>
              <a:rPr sz="1200" b="1" i="0">
                <a:solidFill>
                  <a:srgbClr val="FFFFFF"/>
                </a:solidFill>
                <a:latin typeface="Calibri"/>
              </a:rPr>
              <a:t>4</a:t>
            </a:r>
          </a:p>
        </p:txBody>
      </p:sp>
      <p:sp>
        <p:nvSpPr>
          <p:cNvPr id="29" name="TextBox 28"/>
          <p:cNvSpPr txBox="1"/>
          <p:nvPr/>
        </p:nvSpPr>
        <p:spPr>
          <a:xfrm>
            <a:off x="832104" y="4087367"/>
            <a:ext cx="3127247" cy="384048"/>
          </a:xfrm>
          <a:prstGeom prst="rect">
            <a:avLst/>
          </a:prstGeom>
          <a:noFill/>
        </p:spPr>
        <p:txBody>
          <a:bodyPr wrap="square">
            <a:spAutoFit/>
          </a:bodyPr>
          <a:lstStyle/>
          <a:p>
            <a:pPr algn="l"/>
            <a:r>
              <a:rPr sz="1200" b="1" i="0">
                <a:solidFill>
                  <a:srgbClr val="00B4D8"/>
                </a:solidFill>
                <a:latin typeface="Calibri"/>
              </a:rPr>
              <a:t>ML Lifecycle Traceability</a:t>
            </a:r>
          </a:p>
        </p:txBody>
      </p:sp>
      <p:sp>
        <p:nvSpPr>
          <p:cNvPr id="30" name="Rectangle 29"/>
          <p:cNvSpPr/>
          <p:nvPr/>
        </p:nvSpPr>
        <p:spPr>
          <a:xfrm>
            <a:off x="411480" y="4507991"/>
            <a:ext cx="3566159" cy="2286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29768" y="4571999"/>
            <a:ext cx="3520439" cy="731520"/>
          </a:xfrm>
          <a:prstGeom prst="rect">
            <a:avLst/>
          </a:prstGeom>
          <a:noFill/>
        </p:spPr>
        <p:txBody>
          <a:bodyPr wrap="square">
            <a:spAutoFit/>
          </a:bodyPr>
          <a:lstStyle/>
          <a:p>
            <a:pPr algn="l"/>
            <a:r>
              <a:rPr sz="1050" b="0" i="0">
                <a:solidFill>
                  <a:srgbClr val="F0F4FF"/>
                </a:solidFill>
                <a:latin typeface="Calibri"/>
              </a:rPr>
              <a:t>Every prediction is audited end to end — from raw data ingestion all the way to the live API response.</a:t>
            </a:r>
          </a:p>
        </p:txBody>
      </p:sp>
      <p:sp>
        <p:nvSpPr>
          <p:cNvPr id="32" name="Rectangle 31"/>
          <p:cNvSpPr/>
          <p:nvPr/>
        </p:nvSpPr>
        <p:spPr>
          <a:xfrm>
            <a:off x="4206240" y="3977639"/>
            <a:ext cx="3749039" cy="1371600"/>
          </a:xfrm>
          <a:prstGeom prst="rect">
            <a:avLst/>
          </a:prstGeom>
          <a:solidFill>
            <a:srgbClr val="1E3A5F"/>
          </a:solidFill>
          <a:ln w="889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val 32"/>
          <p:cNvSpPr/>
          <p:nvPr/>
        </p:nvSpPr>
        <p:spPr>
          <a:xfrm>
            <a:off x="4297680" y="4087367"/>
            <a:ext cx="329184" cy="329184"/>
          </a:xfrm>
          <a:prstGeom prst="ellipse">
            <a:avLst/>
          </a:prstGeom>
          <a:solidFill>
            <a:srgbClr val="E0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4297680" y="4069079"/>
            <a:ext cx="329184" cy="329184"/>
          </a:xfrm>
          <a:prstGeom prst="rect">
            <a:avLst/>
          </a:prstGeom>
          <a:noFill/>
        </p:spPr>
        <p:txBody>
          <a:bodyPr wrap="square">
            <a:spAutoFit/>
          </a:bodyPr>
          <a:lstStyle/>
          <a:p>
            <a:pPr algn="ctr"/>
            <a:r>
              <a:rPr sz="1200" b="1" i="0">
                <a:solidFill>
                  <a:srgbClr val="FFFFFF"/>
                </a:solidFill>
                <a:latin typeface="Calibri"/>
              </a:rPr>
              <a:t>5</a:t>
            </a:r>
          </a:p>
        </p:txBody>
      </p:sp>
      <p:sp>
        <p:nvSpPr>
          <p:cNvPr id="35" name="TextBox 34"/>
          <p:cNvSpPr txBox="1"/>
          <p:nvPr/>
        </p:nvSpPr>
        <p:spPr>
          <a:xfrm>
            <a:off x="4718304" y="4087367"/>
            <a:ext cx="3127247" cy="384048"/>
          </a:xfrm>
          <a:prstGeom prst="rect">
            <a:avLst/>
          </a:prstGeom>
          <a:noFill/>
        </p:spPr>
        <p:txBody>
          <a:bodyPr wrap="square">
            <a:spAutoFit/>
          </a:bodyPr>
          <a:lstStyle/>
          <a:p>
            <a:pPr algn="l"/>
            <a:r>
              <a:rPr sz="1200" b="1" i="0">
                <a:solidFill>
                  <a:srgbClr val="00B4D8"/>
                </a:solidFill>
                <a:latin typeface="Calibri"/>
              </a:rPr>
              <a:t>Real-Time Drift Monitoring</a:t>
            </a:r>
          </a:p>
        </p:txBody>
      </p:sp>
      <p:sp>
        <p:nvSpPr>
          <p:cNvPr id="36" name="Rectangle 35"/>
          <p:cNvSpPr/>
          <p:nvPr/>
        </p:nvSpPr>
        <p:spPr>
          <a:xfrm>
            <a:off x="4297680" y="4507991"/>
            <a:ext cx="3566159" cy="2286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4315968" y="4571999"/>
            <a:ext cx="3520439" cy="731520"/>
          </a:xfrm>
          <a:prstGeom prst="rect">
            <a:avLst/>
          </a:prstGeom>
          <a:noFill/>
        </p:spPr>
        <p:txBody>
          <a:bodyPr wrap="square">
            <a:spAutoFit/>
          </a:bodyPr>
          <a:lstStyle/>
          <a:p>
            <a:pPr algn="l"/>
            <a:r>
              <a:rPr sz="1050" b="0" i="0">
                <a:solidFill>
                  <a:srgbClr val="F0F4FF"/>
                </a:solidFill>
                <a:latin typeface="Calibri"/>
              </a:rPr>
              <a:t>Detects when incoming data starts to look different from training data and raises an automatic alert.</a:t>
            </a:r>
          </a:p>
        </p:txBody>
      </p:sp>
      <p:sp>
        <p:nvSpPr>
          <p:cNvPr id="38" name="Rectangle 37"/>
          <p:cNvSpPr/>
          <p:nvPr/>
        </p:nvSpPr>
        <p:spPr>
          <a:xfrm>
            <a:off x="8092440" y="3977639"/>
            <a:ext cx="3749039" cy="1371600"/>
          </a:xfrm>
          <a:prstGeom prst="rect">
            <a:avLst/>
          </a:prstGeom>
          <a:solidFill>
            <a:srgbClr val="1E3A5F"/>
          </a:solidFill>
          <a:ln w="889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val 38"/>
          <p:cNvSpPr/>
          <p:nvPr/>
        </p:nvSpPr>
        <p:spPr>
          <a:xfrm>
            <a:off x="8183880" y="4087367"/>
            <a:ext cx="329184" cy="329184"/>
          </a:xfrm>
          <a:prstGeom prst="ellipse">
            <a:avLst/>
          </a:prstGeom>
          <a:solidFill>
            <a:srgbClr val="E0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8183880" y="4069079"/>
            <a:ext cx="329184" cy="329184"/>
          </a:xfrm>
          <a:prstGeom prst="rect">
            <a:avLst/>
          </a:prstGeom>
          <a:noFill/>
        </p:spPr>
        <p:txBody>
          <a:bodyPr wrap="square">
            <a:spAutoFit/>
          </a:bodyPr>
          <a:lstStyle/>
          <a:p>
            <a:pPr algn="ctr"/>
            <a:r>
              <a:rPr sz="1200" b="1" i="0">
                <a:solidFill>
                  <a:srgbClr val="FFFFFF"/>
                </a:solidFill>
                <a:latin typeface="Calibri"/>
              </a:rPr>
              <a:t>6</a:t>
            </a:r>
          </a:p>
        </p:txBody>
      </p:sp>
      <p:sp>
        <p:nvSpPr>
          <p:cNvPr id="41" name="TextBox 40"/>
          <p:cNvSpPr txBox="1"/>
          <p:nvPr/>
        </p:nvSpPr>
        <p:spPr>
          <a:xfrm>
            <a:off x="8604504" y="4087367"/>
            <a:ext cx="3127247" cy="384048"/>
          </a:xfrm>
          <a:prstGeom prst="rect">
            <a:avLst/>
          </a:prstGeom>
          <a:noFill/>
        </p:spPr>
        <p:txBody>
          <a:bodyPr wrap="square">
            <a:spAutoFit/>
          </a:bodyPr>
          <a:lstStyle/>
          <a:p>
            <a:pPr algn="l"/>
            <a:r>
              <a:rPr sz="1200" b="1" i="0">
                <a:solidFill>
                  <a:srgbClr val="00B4D8"/>
                </a:solidFill>
                <a:latin typeface="Calibri"/>
              </a:rPr>
              <a:t>Full-Stack Web Deployment</a:t>
            </a:r>
          </a:p>
        </p:txBody>
      </p:sp>
      <p:sp>
        <p:nvSpPr>
          <p:cNvPr id="42" name="Rectangle 41"/>
          <p:cNvSpPr/>
          <p:nvPr/>
        </p:nvSpPr>
        <p:spPr>
          <a:xfrm>
            <a:off x="8183880" y="4507991"/>
            <a:ext cx="3566159" cy="2286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8202168" y="4571999"/>
            <a:ext cx="3520439" cy="731520"/>
          </a:xfrm>
          <a:prstGeom prst="rect">
            <a:avLst/>
          </a:prstGeom>
          <a:noFill/>
        </p:spPr>
        <p:txBody>
          <a:bodyPr wrap="square">
            <a:spAutoFit/>
          </a:bodyPr>
          <a:lstStyle/>
          <a:p>
            <a:pPr algn="l"/>
            <a:r>
              <a:rPr sz="1050" b="0" i="0">
                <a:solidFill>
                  <a:srgbClr val="F0F4FF"/>
                </a:solidFill>
                <a:latin typeface="Calibri"/>
              </a:rPr>
              <a:t>Deployed as an interactive web dashboard and REST API so anyone can use it without writing code.</a:t>
            </a:r>
          </a:p>
        </p:txBody>
      </p:sp>
      <p:sp>
        <p:nvSpPr>
          <p:cNvPr id="44" name="Oval 43"/>
          <p:cNvSpPr/>
          <p:nvPr/>
        </p:nvSpPr>
        <p:spPr>
          <a:xfrm>
            <a:off x="11686032" y="6473952"/>
            <a:ext cx="256032" cy="256032"/>
          </a:xfrm>
          <a:prstGeom prst="ellipse">
            <a:avLst/>
          </a:prstGeom>
          <a:solidFill>
            <a:srgbClr val="E0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11676888" y="6446520"/>
            <a:ext cx="274320" cy="274320"/>
          </a:xfrm>
          <a:prstGeom prst="rect">
            <a:avLst/>
          </a:prstGeom>
          <a:noFill/>
        </p:spPr>
        <p:txBody>
          <a:bodyPr wrap="square">
            <a:spAutoFit/>
          </a:bodyPr>
          <a:lstStyle/>
          <a:p>
            <a:pPr algn="ctr"/>
            <a:r>
              <a:rPr sz="900" b="1" i="0">
                <a:solidFill>
                  <a:srgbClr val="FFFFFF"/>
                </a:solidFill>
                <a:latin typeface="Calibri"/>
              </a:rPr>
              <a:t>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41732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417320"/>
            <a:ext cx="12188952" cy="50292"/>
          </a:xfrm>
          <a:prstGeom prst="rect">
            <a:avLst/>
          </a:prstGeom>
          <a:solidFill>
            <a:srgbClr val="E0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164592"/>
            <a:ext cx="11457432" cy="804672"/>
          </a:xfrm>
          <a:prstGeom prst="rect">
            <a:avLst/>
          </a:prstGeom>
          <a:noFill/>
        </p:spPr>
        <p:txBody>
          <a:bodyPr wrap="square">
            <a:spAutoFit/>
          </a:bodyPr>
          <a:lstStyle/>
          <a:p>
            <a:pPr algn="l"/>
            <a:r>
              <a:rPr sz="3000" b="1" i="0">
                <a:solidFill>
                  <a:srgbClr val="FFFFFF"/>
                </a:solidFill>
                <a:latin typeface="Calibri"/>
              </a:rPr>
              <a:t>Dataset &amp; Data Pipeline</a:t>
            </a:r>
          </a:p>
        </p:txBody>
      </p:sp>
      <p:sp>
        <p:nvSpPr>
          <p:cNvPr id="6" name="TextBox 5"/>
          <p:cNvSpPr txBox="1"/>
          <p:nvPr/>
        </p:nvSpPr>
        <p:spPr>
          <a:xfrm>
            <a:off x="365760" y="914400"/>
            <a:ext cx="11457432" cy="457200"/>
          </a:xfrm>
          <a:prstGeom prst="rect">
            <a:avLst/>
          </a:prstGeom>
          <a:noFill/>
        </p:spPr>
        <p:txBody>
          <a:bodyPr wrap="square">
            <a:spAutoFit/>
          </a:bodyPr>
          <a:lstStyle/>
          <a:p>
            <a:pPr algn="l"/>
            <a:r>
              <a:rPr sz="1300" b="0" i="1">
                <a:solidFill>
                  <a:srgbClr val="F5A623"/>
                </a:solidFill>
                <a:latin typeface="Calibri"/>
              </a:rPr>
              <a:t>Where the data comes from and how we prepare it</a:t>
            </a:r>
          </a:p>
        </p:txBody>
      </p:sp>
      <p:sp>
        <p:nvSpPr>
          <p:cNvPr id="7" name="Rectangle 6"/>
          <p:cNvSpPr/>
          <p:nvPr/>
        </p:nvSpPr>
        <p:spPr>
          <a:xfrm>
            <a:off x="320040" y="1600200"/>
            <a:ext cx="4572000" cy="4919472"/>
          </a:xfrm>
          <a:prstGeom prst="rect">
            <a:avLst/>
          </a:prstGeom>
          <a:solidFill>
            <a:srgbClr val="1E3A5F"/>
          </a:solidFill>
          <a:ln>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1719072"/>
            <a:ext cx="4297680" cy="384048"/>
          </a:xfrm>
          <a:prstGeom prst="rect">
            <a:avLst/>
          </a:prstGeom>
          <a:noFill/>
        </p:spPr>
        <p:txBody>
          <a:bodyPr wrap="square">
            <a:spAutoFit/>
          </a:bodyPr>
          <a:lstStyle/>
          <a:p>
            <a:pPr algn="l"/>
            <a:r>
              <a:rPr sz="1400" b="1" i="0">
                <a:solidFill>
                  <a:srgbClr val="00B4D8"/>
                </a:solidFill>
                <a:latin typeface="Calibri"/>
              </a:rPr>
              <a:t>Dataset at a Glance</a:t>
            </a:r>
          </a:p>
        </p:txBody>
      </p:sp>
      <p:sp>
        <p:nvSpPr>
          <p:cNvPr id="9" name="Rectangle 8"/>
          <p:cNvSpPr/>
          <p:nvPr/>
        </p:nvSpPr>
        <p:spPr>
          <a:xfrm>
            <a:off x="320040" y="2121408"/>
            <a:ext cx="4572000" cy="36576"/>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38912" y="2249424"/>
            <a:ext cx="1828800" cy="347472"/>
          </a:xfrm>
          <a:prstGeom prst="rect">
            <a:avLst/>
          </a:prstGeom>
          <a:noFill/>
        </p:spPr>
        <p:txBody>
          <a:bodyPr wrap="square">
            <a:spAutoFit/>
          </a:bodyPr>
          <a:lstStyle/>
          <a:p>
            <a:pPr algn="l"/>
            <a:r>
              <a:rPr sz="1050" b="1" i="0">
                <a:solidFill>
                  <a:srgbClr val="F5A623"/>
                </a:solidFill>
                <a:latin typeface="Calibri"/>
              </a:rPr>
              <a:t>Source</a:t>
            </a:r>
          </a:p>
        </p:txBody>
      </p:sp>
      <p:sp>
        <p:nvSpPr>
          <p:cNvPr id="11" name="TextBox 10"/>
          <p:cNvSpPr txBox="1"/>
          <p:nvPr/>
        </p:nvSpPr>
        <p:spPr>
          <a:xfrm>
            <a:off x="2304288" y="2249424"/>
            <a:ext cx="2468880" cy="402336"/>
          </a:xfrm>
          <a:prstGeom prst="rect">
            <a:avLst/>
          </a:prstGeom>
          <a:noFill/>
        </p:spPr>
        <p:txBody>
          <a:bodyPr wrap="square">
            <a:spAutoFit/>
          </a:bodyPr>
          <a:lstStyle/>
          <a:p>
            <a:pPr algn="l"/>
            <a:r>
              <a:rPr sz="1050" b="0" i="0">
                <a:solidFill>
                  <a:srgbClr val="F0F4FF"/>
                </a:solidFill>
                <a:latin typeface="Calibri"/>
              </a:rPr>
              <a:t>US Accidents dataset — Kaggle (2016–2023)</a:t>
            </a:r>
          </a:p>
        </p:txBody>
      </p:sp>
      <p:sp>
        <p:nvSpPr>
          <p:cNvPr id="12" name="TextBox 11"/>
          <p:cNvSpPr txBox="1"/>
          <p:nvPr/>
        </p:nvSpPr>
        <p:spPr>
          <a:xfrm>
            <a:off x="438912" y="2688336"/>
            <a:ext cx="1828800" cy="347472"/>
          </a:xfrm>
          <a:prstGeom prst="rect">
            <a:avLst/>
          </a:prstGeom>
          <a:noFill/>
        </p:spPr>
        <p:txBody>
          <a:bodyPr wrap="square">
            <a:spAutoFit/>
          </a:bodyPr>
          <a:lstStyle/>
          <a:p>
            <a:pPr algn="l"/>
            <a:r>
              <a:rPr sz="1050" b="1" i="0">
                <a:solidFill>
                  <a:srgbClr val="F5A623"/>
                </a:solidFill>
                <a:latin typeface="Calibri"/>
              </a:rPr>
              <a:t>Original Size</a:t>
            </a:r>
          </a:p>
        </p:txBody>
      </p:sp>
      <p:sp>
        <p:nvSpPr>
          <p:cNvPr id="13" name="TextBox 12"/>
          <p:cNvSpPr txBox="1"/>
          <p:nvPr/>
        </p:nvSpPr>
        <p:spPr>
          <a:xfrm>
            <a:off x="2304288" y="2688336"/>
            <a:ext cx="2468880" cy="402336"/>
          </a:xfrm>
          <a:prstGeom prst="rect">
            <a:avLst/>
          </a:prstGeom>
          <a:noFill/>
        </p:spPr>
        <p:txBody>
          <a:bodyPr wrap="square">
            <a:spAutoFit/>
          </a:bodyPr>
          <a:lstStyle/>
          <a:p>
            <a:pPr algn="l"/>
            <a:r>
              <a:rPr sz="1050" b="0" i="0">
                <a:solidFill>
                  <a:srgbClr val="F0F4FF"/>
                </a:solidFill>
                <a:latin typeface="Calibri"/>
              </a:rPr>
              <a:t>7.7 Million real accident records</a:t>
            </a:r>
          </a:p>
        </p:txBody>
      </p:sp>
      <p:sp>
        <p:nvSpPr>
          <p:cNvPr id="14" name="TextBox 13"/>
          <p:cNvSpPr txBox="1"/>
          <p:nvPr/>
        </p:nvSpPr>
        <p:spPr>
          <a:xfrm>
            <a:off x="438912" y="3127248"/>
            <a:ext cx="1828800" cy="347472"/>
          </a:xfrm>
          <a:prstGeom prst="rect">
            <a:avLst/>
          </a:prstGeom>
          <a:noFill/>
        </p:spPr>
        <p:txBody>
          <a:bodyPr wrap="square">
            <a:spAutoFit/>
          </a:bodyPr>
          <a:lstStyle/>
          <a:p>
            <a:pPr algn="l"/>
            <a:r>
              <a:rPr sz="1050" b="1" i="0">
                <a:solidFill>
                  <a:srgbClr val="F5A623"/>
                </a:solidFill>
                <a:latin typeface="Calibri"/>
              </a:rPr>
              <a:t>We Used</a:t>
            </a:r>
          </a:p>
        </p:txBody>
      </p:sp>
      <p:sp>
        <p:nvSpPr>
          <p:cNvPr id="15" name="TextBox 14"/>
          <p:cNvSpPr txBox="1"/>
          <p:nvPr/>
        </p:nvSpPr>
        <p:spPr>
          <a:xfrm>
            <a:off x="2304288" y="3127248"/>
            <a:ext cx="2468880" cy="402336"/>
          </a:xfrm>
          <a:prstGeom prst="rect">
            <a:avLst/>
          </a:prstGeom>
          <a:noFill/>
        </p:spPr>
        <p:txBody>
          <a:bodyPr wrap="square">
            <a:spAutoFit/>
          </a:bodyPr>
          <a:lstStyle/>
          <a:p>
            <a:pPr algn="l"/>
            <a:r>
              <a:rPr sz="1050" b="0" i="0">
                <a:solidFill>
                  <a:srgbClr val="F0F4FF"/>
                </a:solidFill>
                <a:latin typeface="Calibri"/>
              </a:rPr>
              <a:t>80,000 records (balanced across 4 severity classes)</a:t>
            </a:r>
          </a:p>
        </p:txBody>
      </p:sp>
      <p:sp>
        <p:nvSpPr>
          <p:cNvPr id="16" name="TextBox 15"/>
          <p:cNvSpPr txBox="1"/>
          <p:nvPr/>
        </p:nvSpPr>
        <p:spPr>
          <a:xfrm>
            <a:off x="438912" y="3566160"/>
            <a:ext cx="1828800" cy="347472"/>
          </a:xfrm>
          <a:prstGeom prst="rect">
            <a:avLst/>
          </a:prstGeom>
          <a:noFill/>
        </p:spPr>
        <p:txBody>
          <a:bodyPr wrap="square">
            <a:spAutoFit/>
          </a:bodyPr>
          <a:lstStyle/>
          <a:p>
            <a:pPr algn="l"/>
            <a:r>
              <a:rPr sz="1050" b="1" i="0">
                <a:solidFill>
                  <a:srgbClr val="F5A623"/>
                </a:solidFill>
                <a:latin typeface="Calibri"/>
              </a:rPr>
              <a:t>Coverage</a:t>
            </a:r>
          </a:p>
        </p:txBody>
      </p:sp>
      <p:sp>
        <p:nvSpPr>
          <p:cNvPr id="17" name="TextBox 16"/>
          <p:cNvSpPr txBox="1"/>
          <p:nvPr/>
        </p:nvSpPr>
        <p:spPr>
          <a:xfrm>
            <a:off x="2304288" y="3566160"/>
            <a:ext cx="2468880" cy="402336"/>
          </a:xfrm>
          <a:prstGeom prst="rect">
            <a:avLst/>
          </a:prstGeom>
          <a:noFill/>
        </p:spPr>
        <p:txBody>
          <a:bodyPr wrap="square">
            <a:spAutoFit/>
          </a:bodyPr>
          <a:lstStyle/>
          <a:p>
            <a:pPr algn="l"/>
            <a:r>
              <a:rPr sz="1050" b="0" i="0">
                <a:solidFill>
                  <a:srgbClr val="F0F4FF"/>
                </a:solidFill>
                <a:latin typeface="Calibri"/>
              </a:rPr>
              <a:t>49 US States and over 4,500 cities</a:t>
            </a:r>
          </a:p>
        </p:txBody>
      </p:sp>
      <p:sp>
        <p:nvSpPr>
          <p:cNvPr id="18" name="TextBox 17"/>
          <p:cNvSpPr txBox="1"/>
          <p:nvPr/>
        </p:nvSpPr>
        <p:spPr>
          <a:xfrm>
            <a:off x="438912" y="4005072"/>
            <a:ext cx="1828800" cy="347472"/>
          </a:xfrm>
          <a:prstGeom prst="rect">
            <a:avLst/>
          </a:prstGeom>
          <a:noFill/>
        </p:spPr>
        <p:txBody>
          <a:bodyPr wrap="square">
            <a:spAutoFit/>
          </a:bodyPr>
          <a:lstStyle/>
          <a:p>
            <a:pPr algn="l"/>
            <a:r>
              <a:rPr sz="1050" b="1" i="0">
                <a:solidFill>
                  <a:srgbClr val="F5A623"/>
                </a:solidFill>
                <a:latin typeface="Calibri"/>
              </a:rPr>
              <a:t>Input Features</a:t>
            </a:r>
          </a:p>
        </p:txBody>
      </p:sp>
      <p:sp>
        <p:nvSpPr>
          <p:cNvPr id="19" name="TextBox 18"/>
          <p:cNvSpPr txBox="1"/>
          <p:nvPr/>
        </p:nvSpPr>
        <p:spPr>
          <a:xfrm>
            <a:off x="2304288" y="4005072"/>
            <a:ext cx="2468880" cy="402336"/>
          </a:xfrm>
          <a:prstGeom prst="rect">
            <a:avLst/>
          </a:prstGeom>
          <a:noFill/>
        </p:spPr>
        <p:txBody>
          <a:bodyPr wrap="square">
            <a:spAutoFit/>
          </a:bodyPr>
          <a:lstStyle/>
          <a:p>
            <a:pPr algn="l"/>
            <a:r>
              <a:rPr sz="1050" b="0" i="0">
                <a:solidFill>
                  <a:srgbClr val="F0F4FF"/>
                </a:solidFill>
                <a:latin typeface="Calibri"/>
              </a:rPr>
              <a:t>14 conditions per accident (weather, road, time)</a:t>
            </a:r>
          </a:p>
        </p:txBody>
      </p:sp>
      <p:sp>
        <p:nvSpPr>
          <p:cNvPr id="20" name="TextBox 19"/>
          <p:cNvSpPr txBox="1"/>
          <p:nvPr/>
        </p:nvSpPr>
        <p:spPr>
          <a:xfrm>
            <a:off x="438912" y="4443984"/>
            <a:ext cx="1828800" cy="347472"/>
          </a:xfrm>
          <a:prstGeom prst="rect">
            <a:avLst/>
          </a:prstGeom>
          <a:noFill/>
        </p:spPr>
        <p:txBody>
          <a:bodyPr wrap="square">
            <a:spAutoFit/>
          </a:bodyPr>
          <a:lstStyle/>
          <a:p>
            <a:pPr algn="l"/>
            <a:r>
              <a:rPr sz="1050" b="1" i="0">
                <a:solidFill>
                  <a:srgbClr val="F5A623"/>
                </a:solidFill>
                <a:latin typeface="Calibri"/>
              </a:rPr>
              <a:t>Predict</a:t>
            </a:r>
          </a:p>
        </p:txBody>
      </p:sp>
      <p:sp>
        <p:nvSpPr>
          <p:cNvPr id="21" name="TextBox 20"/>
          <p:cNvSpPr txBox="1"/>
          <p:nvPr/>
        </p:nvSpPr>
        <p:spPr>
          <a:xfrm>
            <a:off x="2304288" y="4443984"/>
            <a:ext cx="2468880" cy="402336"/>
          </a:xfrm>
          <a:prstGeom prst="rect">
            <a:avLst/>
          </a:prstGeom>
          <a:noFill/>
        </p:spPr>
        <p:txBody>
          <a:bodyPr wrap="square">
            <a:spAutoFit/>
          </a:bodyPr>
          <a:lstStyle/>
          <a:p>
            <a:pPr algn="l"/>
            <a:r>
              <a:rPr sz="1050" b="0" i="0">
                <a:solidFill>
                  <a:srgbClr val="F0F4FF"/>
                </a:solidFill>
                <a:latin typeface="Calibri"/>
              </a:rPr>
              <a:t>Severity level (1 = minor to 4 = critical)</a:t>
            </a:r>
          </a:p>
        </p:txBody>
      </p:sp>
      <p:sp>
        <p:nvSpPr>
          <p:cNvPr id="22" name="TextBox 21"/>
          <p:cNvSpPr txBox="1"/>
          <p:nvPr/>
        </p:nvSpPr>
        <p:spPr>
          <a:xfrm>
            <a:off x="438912" y="4882896"/>
            <a:ext cx="1828800" cy="347472"/>
          </a:xfrm>
          <a:prstGeom prst="rect">
            <a:avLst/>
          </a:prstGeom>
          <a:noFill/>
        </p:spPr>
        <p:txBody>
          <a:bodyPr wrap="square">
            <a:spAutoFit/>
          </a:bodyPr>
          <a:lstStyle/>
          <a:p>
            <a:pPr algn="l"/>
            <a:r>
              <a:rPr sz="1050" b="1" i="0">
                <a:solidFill>
                  <a:srgbClr val="F5A623"/>
                </a:solidFill>
                <a:latin typeface="Calibri"/>
              </a:rPr>
              <a:t>Also Predict</a:t>
            </a:r>
          </a:p>
        </p:txBody>
      </p:sp>
      <p:sp>
        <p:nvSpPr>
          <p:cNvPr id="23" name="TextBox 22"/>
          <p:cNvSpPr txBox="1"/>
          <p:nvPr/>
        </p:nvSpPr>
        <p:spPr>
          <a:xfrm>
            <a:off x="2304288" y="4882896"/>
            <a:ext cx="2468880" cy="402336"/>
          </a:xfrm>
          <a:prstGeom prst="rect">
            <a:avLst/>
          </a:prstGeom>
          <a:noFill/>
        </p:spPr>
        <p:txBody>
          <a:bodyPr wrap="square">
            <a:spAutoFit/>
          </a:bodyPr>
          <a:lstStyle/>
          <a:p>
            <a:pPr algn="l"/>
            <a:r>
              <a:rPr sz="1050" b="0" i="0">
                <a:solidFill>
                  <a:srgbClr val="F0F4FF"/>
                </a:solidFill>
                <a:latin typeface="Calibri"/>
              </a:rPr>
              <a:t>Time to clear the road (in minutes)</a:t>
            </a:r>
          </a:p>
        </p:txBody>
      </p:sp>
      <p:sp>
        <p:nvSpPr>
          <p:cNvPr id="24" name="TextBox 23"/>
          <p:cNvSpPr txBox="1"/>
          <p:nvPr/>
        </p:nvSpPr>
        <p:spPr>
          <a:xfrm>
            <a:off x="438912" y="5321808"/>
            <a:ext cx="1828800" cy="347472"/>
          </a:xfrm>
          <a:prstGeom prst="rect">
            <a:avLst/>
          </a:prstGeom>
          <a:noFill/>
        </p:spPr>
        <p:txBody>
          <a:bodyPr wrap="square">
            <a:spAutoFit/>
          </a:bodyPr>
          <a:lstStyle/>
          <a:p>
            <a:pPr algn="l"/>
            <a:r>
              <a:rPr sz="1050" b="1" i="0">
                <a:solidFill>
                  <a:srgbClr val="F5A623"/>
                </a:solidFill>
                <a:latin typeface="Calibri"/>
              </a:rPr>
              <a:t>Preprocessing</a:t>
            </a:r>
          </a:p>
        </p:txBody>
      </p:sp>
      <p:sp>
        <p:nvSpPr>
          <p:cNvPr id="25" name="TextBox 24"/>
          <p:cNvSpPr txBox="1"/>
          <p:nvPr/>
        </p:nvSpPr>
        <p:spPr>
          <a:xfrm>
            <a:off x="2304288" y="5321808"/>
            <a:ext cx="2468880" cy="402336"/>
          </a:xfrm>
          <a:prstGeom prst="rect">
            <a:avLst/>
          </a:prstGeom>
          <a:noFill/>
        </p:spPr>
        <p:txBody>
          <a:bodyPr wrap="square">
            <a:spAutoFit/>
          </a:bodyPr>
          <a:lstStyle/>
          <a:p>
            <a:pPr algn="l"/>
            <a:r>
              <a:rPr sz="1050" b="0" i="0">
                <a:solidFill>
                  <a:srgbClr val="F0F4FF"/>
                </a:solidFill>
                <a:latin typeface="Calibri"/>
              </a:rPr>
              <a:t>Scaled numbers + encoded categories</a:t>
            </a:r>
          </a:p>
        </p:txBody>
      </p:sp>
      <p:sp>
        <p:nvSpPr>
          <p:cNvPr id="26" name="TextBox 25"/>
          <p:cNvSpPr txBox="1"/>
          <p:nvPr/>
        </p:nvSpPr>
        <p:spPr>
          <a:xfrm>
            <a:off x="438912" y="5760720"/>
            <a:ext cx="1828800" cy="347472"/>
          </a:xfrm>
          <a:prstGeom prst="rect">
            <a:avLst/>
          </a:prstGeom>
          <a:noFill/>
        </p:spPr>
        <p:txBody>
          <a:bodyPr wrap="square">
            <a:spAutoFit/>
          </a:bodyPr>
          <a:lstStyle/>
          <a:p>
            <a:pPr algn="l"/>
            <a:r>
              <a:rPr sz="1050" b="1" i="0">
                <a:solidFill>
                  <a:srgbClr val="F5A623"/>
                </a:solidFill>
                <a:latin typeface="Calibri"/>
              </a:rPr>
              <a:t>Data Split</a:t>
            </a:r>
          </a:p>
        </p:txBody>
      </p:sp>
      <p:sp>
        <p:nvSpPr>
          <p:cNvPr id="27" name="TextBox 26"/>
          <p:cNvSpPr txBox="1"/>
          <p:nvPr/>
        </p:nvSpPr>
        <p:spPr>
          <a:xfrm>
            <a:off x="2304288" y="5760720"/>
            <a:ext cx="2468880" cy="402336"/>
          </a:xfrm>
          <a:prstGeom prst="rect">
            <a:avLst/>
          </a:prstGeom>
          <a:noFill/>
        </p:spPr>
        <p:txBody>
          <a:bodyPr wrap="square">
            <a:spAutoFit/>
          </a:bodyPr>
          <a:lstStyle/>
          <a:p>
            <a:pPr algn="l"/>
            <a:r>
              <a:rPr sz="1050" b="0" i="0">
                <a:solidFill>
                  <a:srgbClr val="F0F4FF"/>
                </a:solidFill>
                <a:latin typeface="Calibri"/>
              </a:rPr>
              <a:t>70% training, 15% validation, 15% testing</a:t>
            </a:r>
          </a:p>
        </p:txBody>
      </p:sp>
      <p:sp>
        <p:nvSpPr>
          <p:cNvPr id="28" name="Rectangle 27"/>
          <p:cNvSpPr/>
          <p:nvPr/>
        </p:nvSpPr>
        <p:spPr>
          <a:xfrm>
            <a:off x="4967552" y="1607058"/>
            <a:ext cx="6675120" cy="4919472"/>
          </a:xfrm>
          <a:prstGeom prst="rect">
            <a:avLst/>
          </a:prstGeom>
          <a:solidFill>
            <a:srgbClr val="102238"/>
          </a:solidFill>
          <a:ln>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303520" y="1719072"/>
            <a:ext cx="6400800" cy="384048"/>
          </a:xfrm>
          <a:prstGeom prst="rect">
            <a:avLst/>
          </a:prstGeom>
          <a:noFill/>
        </p:spPr>
        <p:txBody>
          <a:bodyPr wrap="square">
            <a:spAutoFit/>
          </a:bodyPr>
          <a:lstStyle/>
          <a:p>
            <a:pPr algn="l"/>
            <a:r>
              <a:rPr sz="1400" b="1" i="0">
                <a:solidFill>
                  <a:srgbClr val="00B4D8"/>
                </a:solidFill>
                <a:latin typeface="Calibri"/>
              </a:rPr>
              <a:t>How We Process the Data</a:t>
            </a:r>
          </a:p>
        </p:txBody>
      </p:sp>
      <p:sp>
        <p:nvSpPr>
          <p:cNvPr id="30" name="Rectangle 29"/>
          <p:cNvSpPr/>
          <p:nvPr/>
        </p:nvSpPr>
        <p:spPr>
          <a:xfrm>
            <a:off x="5166360" y="2121408"/>
            <a:ext cx="6675120" cy="36576"/>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5285232" y="2240280"/>
            <a:ext cx="54864" cy="594360"/>
          </a:xfrm>
          <a:prstGeom prst="rect">
            <a:avLst/>
          </a:prstGeom>
          <a:solidFill>
            <a:srgbClr val="E0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5449824" y="2240280"/>
            <a:ext cx="3200400" cy="329184"/>
          </a:xfrm>
          <a:prstGeom prst="rect">
            <a:avLst/>
          </a:prstGeom>
          <a:noFill/>
        </p:spPr>
        <p:txBody>
          <a:bodyPr wrap="square">
            <a:spAutoFit/>
          </a:bodyPr>
          <a:lstStyle/>
          <a:p>
            <a:pPr algn="l"/>
            <a:r>
              <a:rPr sz="1150" b="1" i="0">
                <a:solidFill>
                  <a:srgbClr val="E02B2B"/>
                </a:solidFill>
                <a:latin typeface="Calibri"/>
              </a:rPr>
              <a:t>Step 1 — Collect</a:t>
            </a:r>
          </a:p>
        </p:txBody>
      </p:sp>
      <p:sp>
        <p:nvSpPr>
          <p:cNvPr id="33" name="TextBox 32"/>
          <p:cNvSpPr txBox="1"/>
          <p:nvPr/>
        </p:nvSpPr>
        <p:spPr>
          <a:xfrm>
            <a:off x="5449824" y="2551176"/>
            <a:ext cx="6217920" cy="347472"/>
          </a:xfrm>
          <a:prstGeom prst="rect">
            <a:avLst/>
          </a:prstGeom>
          <a:noFill/>
        </p:spPr>
        <p:txBody>
          <a:bodyPr wrap="square">
            <a:spAutoFit/>
          </a:bodyPr>
          <a:lstStyle/>
          <a:p>
            <a:pPr algn="l"/>
            <a:r>
              <a:rPr sz="1000" b="0" i="0">
                <a:solidFill>
                  <a:srgbClr val="D0D8E8"/>
                </a:solidFill>
                <a:latin typeface="Calibri"/>
              </a:rPr>
              <a:t>Start with 7.7M accident records. Extract a balanced 80,000-record sample.</a:t>
            </a:r>
          </a:p>
        </p:txBody>
      </p:sp>
      <p:sp>
        <p:nvSpPr>
          <p:cNvPr id="34" name="Rectangle 33"/>
          <p:cNvSpPr/>
          <p:nvPr/>
        </p:nvSpPr>
        <p:spPr>
          <a:xfrm>
            <a:off x="5294376" y="2916936"/>
            <a:ext cx="54864" cy="594360"/>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5458968" y="2887218"/>
            <a:ext cx="3200400" cy="329184"/>
          </a:xfrm>
          <a:prstGeom prst="rect">
            <a:avLst/>
          </a:prstGeom>
          <a:noFill/>
        </p:spPr>
        <p:txBody>
          <a:bodyPr wrap="square">
            <a:spAutoFit/>
          </a:bodyPr>
          <a:lstStyle/>
          <a:p>
            <a:pPr algn="l"/>
            <a:r>
              <a:rPr sz="1150" b="1" i="0" dirty="0">
                <a:solidFill>
                  <a:srgbClr val="F5A623"/>
                </a:solidFill>
                <a:latin typeface="Calibri"/>
              </a:rPr>
              <a:t>Step 2 — Clean</a:t>
            </a:r>
          </a:p>
        </p:txBody>
      </p:sp>
      <p:sp>
        <p:nvSpPr>
          <p:cNvPr id="36" name="TextBox 35"/>
          <p:cNvSpPr txBox="1"/>
          <p:nvPr/>
        </p:nvSpPr>
        <p:spPr>
          <a:xfrm>
            <a:off x="5394960" y="3108960"/>
            <a:ext cx="6217920" cy="347472"/>
          </a:xfrm>
          <a:prstGeom prst="rect">
            <a:avLst/>
          </a:prstGeom>
          <a:noFill/>
        </p:spPr>
        <p:txBody>
          <a:bodyPr wrap="square">
            <a:spAutoFit/>
          </a:bodyPr>
          <a:lstStyle/>
          <a:p>
            <a:pPr algn="l"/>
            <a:r>
              <a:rPr sz="1000" b="0" i="0" dirty="0">
                <a:solidFill>
                  <a:srgbClr val="D0D8E8"/>
                </a:solidFill>
                <a:latin typeface="Calibri"/>
              </a:rPr>
              <a:t>Remove empty rows, fix timestamps, extract hour/day/month as usable features.</a:t>
            </a:r>
          </a:p>
        </p:txBody>
      </p:sp>
      <p:sp>
        <p:nvSpPr>
          <p:cNvPr id="37" name="Rectangle 36"/>
          <p:cNvSpPr/>
          <p:nvPr/>
        </p:nvSpPr>
        <p:spPr>
          <a:xfrm>
            <a:off x="5275203" y="3625596"/>
            <a:ext cx="54864" cy="59436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5394960" y="3584448"/>
            <a:ext cx="3200400" cy="329184"/>
          </a:xfrm>
          <a:prstGeom prst="rect">
            <a:avLst/>
          </a:prstGeom>
          <a:noFill/>
        </p:spPr>
        <p:txBody>
          <a:bodyPr wrap="square">
            <a:spAutoFit/>
          </a:bodyPr>
          <a:lstStyle/>
          <a:p>
            <a:pPr algn="l"/>
            <a:r>
              <a:rPr sz="1150" b="1" i="0" dirty="0">
                <a:solidFill>
                  <a:srgbClr val="00B4D8"/>
                </a:solidFill>
                <a:latin typeface="Calibri"/>
              </a:rPr>
              <a:t>Step 3 — Catalog Features</a:t>
            </a:r>
          </a:p>
        </p:txBody>
      </p:sp>
      <p:sp>
        <p:nvSpPr>
          <p:cNvPr id="39" name="TextBox 38"/>
          <p:cNvSpPr txBox="1"/>
          <p:nvPr/>
        </p:nvSpPr>
        <p:spPr>
          <a:xfrm>
            <a:off x="5357499" y="3846723"/>
            <a:ext cx="6217920" cy="347472"/>
          </a:xfrm>
          <a:prstGeom prst="rect">
            <a:avLst/>
          </a:prstGeom>
          <a:noFill/>
        </p:spPr>
        <p:txBody>
          <a:bodyPr wrap="square">
            <a:spAutoFit/>
          </a:bodyPr>
          <a:lstStyle/>
          <a:p>
            <a:pPr algn="l"/>
            <a:r>
              <a:rPr sz="1000" b="0" i="0" dirty="0">
                <a:solidFill>
                  <a:srgbClr val="D0D8E8"/>
                </a:solidFill>
                <a:latin typeface="Calibri"/>
              </a:rPr>
              <a:t>Define exactly which 25 features matter and store their expected ranges.</a:t>
            </a:r>
          </a:p>
        </p:txBody>
      </p:sp>
      <p:sp>
        <p:nvSpPr>
          <p:cNvPr id="40" name="Rectangle 39"/>
          <p:cNvSpPr/>
          <p:nvPr/>
        </p:nvSpPr>
        <p:spPr>
          <a:xfrm>
            <a:off x="5285232" y="4384548"/>
            <a:ext cx="54864" cy="594360"/>
          </a:xfrm>
          <a:prstGeom prst="rect">
            <a:avLst/>
          </a:prstGeom>
          <a:solidFill>
            <a:srgbClr val="E0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5449824" y="4279392"/>
            <a:ext cx="3200400" cy="329184"/>
          </a:xfrm>
          <a:prstGeom prst="rect">
            <a:avLst/>
          </a:prstGeom>
          <a:noFill/>
        </p:spPr>
        <p:txBody>
          <a:bodyPr wrap="square">
            <a:spAutoFit/>
          </a:bodyPr>
          <a:lstStyle/>
          <a:p>
            <a:pPr algn="l"/>
            <a:r>
              <a:rPr sz="1150" b="1" i="0" dirty="0">
                <a:solidFill>
                  <a:srgbClr val="E02B2B"/>
                </a:solidFill>
                <a:latin typeface="Calibri"/>
              </a:rPr>
              <a:t>Step 4 — Transform</a:t>
            </a:r>
          </a:p>
        </p:txBody>
      </p:sp>
      <p:sp>
        <p:nvSpPr>
          <p:cNvPr id="42" name="TextBox 41"/>
          <p:cNvSpPr txBox="1"/>
          <p:nvPr/>
        </p:nvSpPr>
        <p:spPr>
          <a:xfrm>
            <a:off x="5449824" y="4560078"/>
            <a:ext cx="6217920" cy="347472"/>
          </a:xfrm>
          <a:prstGeom prst="rect">
            <a:avLst/>
          </a:prstGeom>
          <a:noFill/>
        </p:spPr>
        <p:txBody>
          <a:bodyPr wrap="square">
            <a:spAutoFit/>
          </a:bodyPr>
          <a:lstStyle/>
          <a:p>
            <a:pPr algn="l"/>
            <a:r>
              <a:rPr sz="1000" b="0" i="0" dirty="0">
                <a:solidFill>
                  <a:srgbClr val="D0D8E8"/>
                </a:solidFill>
                <a:latin typeface="Calibri"/>
              </a:rPr>
              <a:t>Scale numbers to a common range and convert text categories to numbers.</a:t>
            </a:r>
          </a:p>
        </p:txBody>
      </p:sp>
      <p:sp>
        <p:nvSpPr>
          <p:cNvPr id="43" name="Rectangle 42"/>
          <p:cNvSpPr/>
          <p:nvPr/>
        </p:nvSpPr>
        <p:spPr>
          <a:xfrm>
            <a:off x="5285232" y="5186885"/>
            <a:ext cx="54864" cy="594360"/>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5394960" y="5042990"/>
            <a:ext cx="3200400" cy="329184"/>
          </a:xfrm>
          <a:prstGeom prst="rect">
            <a:avLst/>
          </a:prstGeom>
          <a:noFill/>
        </p:spPr>
        <p:txBody>
          <a:bodyPr wrap="square">
            <a:spAutoFit/>
          </a:bodyPr>
          <a:lstStyle/>
          <a:p>
            <a:pPr algn="l"/>
            <a:r>
              <a:rPr sz="1150" b="1" i="0">
                <a:solidFill>
                  <a:srgbClr val="F5A623"/>
                </a:solidFill>
                <a:latin typeface="Calibri"/>
              </a:rPr>
              <a:t>Step 5 — Save a Baseline</a:t>
            </a:r>
          </a:p>
        </p:txBody>
      </p:sp>
      <p:sp>
        <p:nvSpPr>
          <p:cNvPr id="45" name="TextBox 44"/>
          <p:cNvSpPr txBox="1"/>
          <p:nvPr/>
        </p:nvSpPr>
        <p:spPr>
          <a:xfrm>
            <a:off x="5394960" y="5331026"/>
            <a:ext cx="6217920" cy="347472"/>
          </a:xfrm>
          <a:prstGeom prst="rect">
            <a:avLst/>
          </a:prstGeom>
          <a:noFill/>
        </p:spPr>
        <p:txBody>
          <a:bodyPr wrap="square">
            <a:spAutoFit/>
          </a:bodyPr>
          <a:lstStyle/>
          <a:p>
            <a:pPr algn="l"/>
            <a:r>
              <a:rPr sz="1000" b="0" i="0">
                <a:solidFill>
                  <a:srgbClr val="D0D8E8"/>
                </a:solidFill>
                <a:latin typeface="Calibri"/>
              </a:rPr>
              <a:t>Record the training data distribution so future data can be compared to it.</a:t>
            </a:r>
          </a:p>
        </p:txBody>
      </p:sp>
      <p:sp>
        <p:nvSpPr>
          <p:cNvPr id="46" name="Rectangle 45"/>
          <p:cNvSpPr/>
          <p:nvPr/>
        </p:nvSpPr>
        <p:spPr>
          <a:xfrm>
            <a:off x="5285232" y="5935341"/>
            <a:ext cx="54864" cy="59436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5458968" y="5891735"/>
            <a:ext cx="3200400" cy="329184"/>
          </a:xfrm>
          <a:prstGeom prst="rect">
            <a:avLst/>
          </a:prstGeom>
          <a:noFill/>
        </p:spPr>
        <p:txBody>
          <a:bodyPr wrap="square">
            <a:spAutoFit/>
          </a:bodyPr>
          <a:lstStyle/>
          <a:p>
            <a:pPr algn="l"/>
            <a:r>
              <a:rPr sz="1150" b="1" i="0" dirty="0">
                <a:solidFill>
                  <a:srgbClr val="00B4D8"/>
                </a:solidFill>
                <a:latin typeface="Calibri"/>
              </a:rPr>
              <a:t>Step 6 — Package Models</a:t>
            </a:r>
          </a:p>
        </p:txBody>
      </p:sp>
      <p:sp>
        <p:nvSpPr>
          <p:cNvPr id="48" name="TextBox 47"/>
          <p:cNvSpPr txBox="1"/>
          <p:nvPr/>
        </p:nvSpPr>
        <p:spPr>
          <a:xfrm>
            <a:off x="5437288" y="6100388"/>
            <a:ext cx="6217920" cy="347472"/>
          </a:xfrm>
          <a:prstGeom prst="rect">
            <a:avLst/>
          </a:prstGeom>
          <a:noFill/>
        </p:spPr>
        <p:txBody>
          <a:bodyPr wrap="square">
            <a:spAutoFit/>
          </a:bodyPr>
          <a:lstStyle/>
          <a:p>
            <a:pPr algn="l"/>
            <a:r>
              <a:rPr sz="1000" b="0" i="0" dirty="0">
                <a:solidFill>
                  <a:srgbClr val="D0D8E8"/>
                </a:solidFill>
                <a:latin typeface="Calibri"/>
              </a:rPr>
              <a:t>Save trained models as files so they load instantly during live predictions.</a:t>
            </a:r>
          </a:p>
        </p:txBody>
      </p:sp>
      <p:sp>
        <p:nvSpPr>
          <p:cNvPr id="49" name="Oval 48"/>
          <p:cNvSpPr/>
          <p:nvPr/>
        </p:nvSpPr>
        <p:spPr>
          <a:xfrm>
            <a:off x="11686032" y="6473952"/>
            <a:ext cx="256032" cy="256032"/>
          </a:xfrm>
          <a:prstGeom prst="ellipse">
            <a:avLst/>
          </a:prstGeom>
          <a:solidFill>
            <a:srgbClr val="E0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11676888" y="6446520"/>
            <a:ext cx="274320" cy="274320"/>
          </a:xfrm>
          <a:prstGeom prst="rect">
            <a:avLst/>
          </a:prstGeom>
          <a:noFill/>
        </p:spPr>
        <p:txBody>
          <a:bodyPr wrap="square">
            <a:spAutoFit/>
          </a:bodyPr>
          <a:lstStyle/>
          <a:p>
            <a:pPr algn="ctr"/>
            <a:r>
              <a:rPr sz="900" b="1" i="0">
                <a:solidFill>
                  <a:srgbClr val="FFFFFF"/>
                </a:solidFill>
                <a:latin typeface="Calibri"/>
              </a:rPr>
              <a:t>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41732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417320"/>
            <a:ext cx="12188952" cy="50292"/>
          </a:xfrm>
          <a:prstGeom prst="rect">
            <a:avLst/>
          </a:prstGeom>
          <a:solidFill>
            <a:srgbClr val="E0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164592"/>
            <a:ext cx="11457432" cy="804672"/>
          </a:xfrm>
          <a:prstGeom prst="rect">
            <a:avLst/>
          </a:prstGeom>
          <a:noFill/>
        </p:spPr>
        <p:txBody>
          <a:bodyPr wrap="square">
            <a:spAutoFit/>
          </a:bodyPr>
          <a:lstStyle/>
          <a:p>
            <a:pPr algn="l"/>
            <a:r>
              <a:rPr sz="3000" b="1" i="0">
                <a:solidFill>
                  <a:srgbClr val="FFFFFF"/>
                </a:solidFill>
                <a:latin typeface="Calibri"/>
              </a:rPr>
              <a:t>CO1 — The Full Machine Learning Lifecycle</a:t>
            </a:r>
          </a:p>
        </p:txBody>
      </p:sp>
      <p:sp>
        <p:nvSpPr>
          <p:cNvPr id="6" name="TextBox 5"/>
          <p:cNvSpPr txBox="1"/>
          <p:nvPr/>
        </p:nvSpPr>
        <p:spPr>
          <a:xfrm>
            <a:off x="365760" y="914400"/>
            <a:ext cx="11457432" cy="457200"/>
          </a:xfrm>
          <a:prstGeom prst="rect">
            <a:avLst/>
          </a:prstGeom>
          <a:noFill/>
        </p:spPr>
        <p:txBody>
          <a:bodyPr wrap="square">
            <a:spAutoFit/>
          </a:bodyPr>
          <a:lstStyle/>
          <a:p>
            <a:pPr algn="l"/>
            <a:r>
              <a:rPr sz="1300" b="0" i="1">
                <a:solidFill>
                  <a:srgbClr val="F5A623"/>
                </a:solidFill>
                <a:latin typeface="Calibri"/>
              </a:rPr>
              <a:t>Every prediction is tracked step by step from start to finish</a:t>
            </a:r>
          </a:p>
        </p:txBody>
      </p:sp>
      <p:sp>
        <p:nvSpPr>
          <p:cNvPr id="7" name="Rectangle 6"/>
          <p:cNvSpPr/>
          <p:nvPr/>
        </p:nvSpPr>
        <p:spPr>
          <a:xfrm>
            <a:off x="320040" y="1627632"/>
            <a:ext cx="1737360" cy="2651760"/>
          </a:xfrm>
          <a:prstGeom prst="rect">
            <a:avLst/>
          </a:prstGeom>
          <a:solidFill>
            <a:srgbClr val="1E3A5F"/>
          </a:solidFill>
          <a:ln w="1524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320040" y="1627632"/>
            <a:ext cx="1737360" cy="9144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11480" y="1755648"/>
            <a:ext cx="1554480" cy="658368"/>
          </a:xfrm>
          <a:prstGeom prst="rect">
            <a:avLst/>
          </a:prstGeom>
          <a:noFill/>
        </p:spPr>
        <p:txBody>
          <a:bodyPr wrap="square">
            <a:spAutoFit/>
          </a:bodyPr>
          <a:lstStyle/>
          <a:p>
            <a:pPr algn="ctr"/>
            <a:r>
              <a:rPr sz="1200" b="1" i="0">
                <a:solidFill>
                  <a:srgbClr val="00B4D8"/>
                </a:solidFill>
                <a:latin typeface="Calibri"/>
              </a:rPr>
              <a:t>Stage 1
Data In</a:t>
            </a:r>
          </a:p>
        </p:txBody>
      </p:sp>
      <p:sp>
        <p:nvSpPr>
          <p:cNvPr id="10" name="Rectangle 9"/>
          <p:cNvSpPr/>
          <p:nvPr/>
        </p:nvSpPr>
        <p:spPr>
          <a:xfrm>
            <a:off x="457200" y="2432304"/>
            <a:ext cx="1463040" cy="2286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11480" y="2505456"/>
            <a:ext cx="1554480" cy="1645920"/>
          </a:xfrm>
          <a:prstGeom prst="rect">
            <a:avLst/>
          </a:prstGeom>
          <a:noFill/>
        </p:spPr>
        <p:txBody>
          <a:bodyPr wrap="square">
            <a:spAutoFit/>
          </a:bodyPr>
          <a:lstStyle/>
          <a:p>
            <a:pPr algn="ctr"/>
            <a:r>
              <a:rPr sz="1050" b="0" i="0">
                <a:solidFill>
                  <a:srgbClr val="F0F4FF"/>
                </a:solidFill>
                <a:latin typeface="Calibri"/>
              </a:rPr>
              <a:t>Raw accidents collected.
Location and schema are validated.</a:t>
            </a:r>
          </a:p>
        </p:txBody>
      </p:sp>
      <p:sp>
        <p:nvSpPr>
          <p:cNvPr id="12" name="TextBox 11"/>
          <p:cNvSpPr txBox="1"/>
          <p:nvPr/>
        </p:nvSpPr>
        <p:spPr>
          <a:xfrm>
            <a:off x="2075688" y="2679192"/>
            <a:ext cx="201168" cy="457200"/>
          </a:xfrm>
          <a:prstGeom prst="rect">
            <a:avLst/>
          </a:prstGeom>
          <a:noFill/>
        </p:spPr>
        <p:txBody>
          <a:bodyPr wrap="square">
            <a:spAutoFit/>
          </a:bodyPr>
          <a:lstStyle/>
          <a:p>
            <a:pPr algn="ctr"/>
            <a:r>
              <a:rPr sz="1800" b="1" i="0">
                <a:solidFill>
                  <a:srgbClr val="F5A623"/>
                </a:solidFill>
                <a:latin typeface="Calibri"/>
              </a:rPr>
              <a:t>-&gt;</a:t>
            </a:r>
          </a:p>
        </p:txBody>
      </p:sp>
      <p:sp>
        <p:nvSpPr>
          <p:cNvPr id="13" name="Rectangle 12"/>
          <p:cNvSpPr/>
          <p:nvPr/>
        </p:nvSpPr>
        <p:spPr>
          <a:xfrm>
            <a:off x="2240280" y="1627632"/>
            <a:ext cx="1737360" cy="2651760"/>
          </a:xfrm>
          <a:prstGeom prst="rect">
            <a:avLst/>
          </a:prstGeom>
          <a:solidFill>
            <a:srgbClr val="1E3A5F"/>
          </a:solidFill>
          <a:ln w="15240">
            <a:solidFill>
              <a:srgbClr val="F5A62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2240280" y="1627632"/>
            <a:ext cx="1737360" cy="91440"/>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331720" y="1755648"/>
            <a:ext cx="1554480" cy="658368"/>
          </a:xfrm>
          <a:prstGeom prst="rect">
            <a:avLst/>
          </a:prstGeom>
          <a:noFill/>
        </p:spPr>
        <p:txBody>
          <a:bodyPr wrap="square">
            <a:spAutoFit/>
          </a:bodyPr>
          <a:lstStyle/>
          <a:p>
            <a:pPr algn="ctr"/>
            <a:r>
              <a:rPr sz="1200" b="1" i="0">
                <a:solidFill>
                  <a:srgbClr val="F5A623"/>
                </a:solidFill>
                <a:latin typeface="Calibri"/>
              </a:rPr>
              <a:t>Stage 2
Feature Prep</a:t>
            </a:r>
          </a:p>
        </p:txBody>
      </p:sp>
      <p:sp>
        <p:nvSpPr>
          <p:cNvPr id="16" name="Rectangle 15"/>
          <p:cNvSpPr/>
          <p:nvPr/>
        </p:nvSpPr>
        <p:spPr>
          <a:xfrm>
            <a:off x="2377440" y="2432304"/>
            <a:ext cx="1463040" cy="22860"/>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331720" y="2505456"/>
            <a:ext cx="1554480" cy="1645920"/>
          </a:xfrm>
          <a:prstGeom prst="rect">
            <a:avLst/>
          </a:prstGeom>
          <a:noFill/>
        </p:spPr>
        <p:txBody>
          <a:bodyPr wrap="square">
            <a:spAutoFit/>
          </a:bodyPr>
          <a:lstStyle/>
          <a:p>
            <a:pPr algn="ctr"/>
            <a:r>
              <a:rPr sz="1050" b="0" i="0">
                <a:solidFill>
                  <a:srgbClr val="F0F4FF"/>
                </a:solidFill>
                <a:latin typeface="Calibri"/>
              </a:rPr>
              <a:t>Features are catalogued and encoded consistently every time.</a:t>
            </a:r>
          </a:p>
        </p:txBody>
      </p:sp>
      <p:sp>
        <p:nvSpPr>
          <p:cNvPr id="18" name="TextBox 17"/>
          <p:cNvSpPr txBox="1"/>
          <p:nvPr/>
        </p:nvSpPr>
        <p:spPr>
          <a:xfrm>
            <a:off x="3995928" y="2679192"/>
            <a:ext cx="201168" cy="457200"/>
          </a:xfrm>
          <a:prstGeom prst="rect">
            <a:avLst/>
          </a:prstGeom>
          <a:noFill/>
        </p:spPr>
        <p:txBody>
          <a:bodyPr wrap="square">
            <a:spAutoFit/>
          </a:bodyPr>
          <a:lstStyle/>
          <a:p>
            <a:pPr algn="ctr"/>
            <a:r>
              <a:rPr sz="1800" b="1" i="0">
                <a:solidFill>
                  <a:srgbClr val="F5A623"/>
                </a:solidFill>
                <a:latin typeface="Calibri"/>
              </a:rPr>
              <a:t>-&gt;</a:t>
            </a:r>
          </a:p>
        </p:txBody>
      </p:sp>
      <p:sp>
        <p:nvSpPr>
          <p:cNvPr id="19" name="Rectangle 18"/>
          <p:cNvSpPr/>
          <p:nvPr/>
        </p:nvSpPr>
        <p:spPr>
          <a:xfrm>
            <a:off x="4160520" y="1627632"/>
            <a:ext cx="1737360" cy="2651760"/>
          </a:xfrm>
          <a:prstGeom prst="rect">
            <a:avLst/>
          </a:prstGeom>
          <a:solidFill>
            <a:srgbClr val="1E3A5F"/>
          </a:solidFill>
          <a:ln w="15240">
            <a:solidFill>
              <a:srgbClr val="E02B2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4160520" y="1627632"/>
            <a:ext cx="1737360" cy="91440"/>
          </a:xfrm>
          <a:prstGeom prst="rect">
            <a:avLst/>
          </a:prstGeom>
          <a:solidFill>
            <a:srgbClr val="E0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251960" y="1755648"/>
            <a:ext cx="1554480" cy="658368"/>
          </a:xfrm>
          <a:prstGeom prst="rect">
            <a:avLst/>
          </a:prstGeom>
          <a:noFill/>
        </p:spPr>
        <p:txBody>
          <a:bodyPr wrap="square">
            <a:spAutoFit/>
          </a:bodyPr>
          <a:lstStyle/>
          <a:p>
            <a:pPr algn="ctr"/>
            <a:r>
              <a:rPr sz="1200" b="1" i="0">
                <a:solidFill>
                  <a:srgbClr val="E02B2B"/>
                </a:solidFill>
                <a:latin typeface="Calibri"/>
              </a:rPr>
              <a:t>Stage 3
Model Training</a:t>
            </a:r>
          </a:p>
        </p:txBody>
      </p:sp>
      <p:sp>
        <p:nvSpPr>
          <p:cNvPr id="22" name="Rectangle 21"/>
          <p:cNvSpPr/>
          <p:nvPr/>
        </p:nvSpPr>
        <p:spPr>
          <a:xfrm>
            <a:off x="4297680" y="2432304"/>
            <a:ext cx="1463040" cy="22860"/>
          </a:xfrm>
          <a:prstGeom prst="rect">
            <a:avLst/>
          </a:prstGeom>
          <a:solidFill>
            <a:srgbClr val="E0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251960" y="2505456"/>
            <a:ext cx="1554480" cy="1645920"/>
          </a:xfrm>
          <a:prstGeom prst="rect">
            <a:avLst/>
          </a:prstGeom>
          <a:noFill/>
        </p:spPr>
        <p:txBody>
          <a:bodyPr wrap="square">
            <a:spAutoFit/>
          </a:bodyPr>
          <a:lstStyle/>
          <a:p>
            <a:pPr algn="ctr"/>
            <a:r>
              <a:rPr sz="1050" b="0" i="0">
                <a:solidFill>
                  <a:srgbClr val="F0F4FF"/>
                </a:solidFill>
                <a:latin typeface="Calibri"/>
              </a:rPr>
              <a:t>LightGBM is trained with 100 decision trees on 70% of the data.</a:t>
            </a:r>
          </a:p>
        </p:txBody>
      </p:sp>
      <p:sp>
        <p:nvSpPr>
          <p:cNvPr id="24" name="TextBox 23"/>
          <p:cNvSpPr txBox="1"/>
          <p:nvPr/>
        </p:nvSpPr>
        <p:spPr>
          <a:xfrm>
            <a:off x="5916168" y="2679192"/>
            <a:ext cx="201168" cy="457200"/>
          </a:xfrm>
          <a:prstGeom prst="rect">
            <a:avLst/>
          </a:prstGeom>
          <a:noFill/>
        </p:spPr>
        <p:txBody>
          <a:bodyPr wrap="square">
            <a:spAutoFit/>
          </a:bodyPr>
          <a:lstStyle/>
          <a:p>
            <a:pPr algn="ctr"/>
            <a:r>
              <a:rPr sz="1800" b="1" i="0">
                <a:solidFill>
                  <a:srgbClr val="F5A623"/>
                </a:solidFill>
                <a:latin typeface="Calibri"/>
              </a:rPr>
              <a:t>-&gt;</a:t>
            </a:r>
          </a:p>
        </p:txBody>
      </p:sp>
      <p:sp>
        <p:nvSpPr>
          <p:cNvPr id="25" name="Rectangle 24"/>
          <p:cNvSpPr/>
          <p:nvPr/>
        </p:nvSpPr>
        <p:spPr>
          <a:xfrm>
            <a:off x="6080760" y="1627632"/>
            <a:ext cx="1737360" cy="2651760"/>
          </a:xfrm>
          <a:prstGeom prst="rect">
            <a:avLst/>
          </a:prstGeom>
          <a:solidFill>
            <a:srgbClr val="1E3A5F"/>
          </a:solidFill>
          <a:ln w="1524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6080760" y="1627632"/>
            <a:ext cx="1737360" cy="9144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172200" y="1755648"/>
            <a:ext cx="1554480" cy="658368"/>
          </a:xfrm>
          <a:prstGeom prst="rect">
            <a:avLst/>
          </a:prstGeom>
          <a:noFill/>
        </p:spPr>
        <p:txBody>
          <a:bodyPr wrap="square">
            <a:spAutoFit/>
          </a:bodyPr>
          <a:lstStyle/>
          <a:p>
            <a:pPr algn="ctr"/>
            <a:r>
              <a:rPr sz="1200" b="1" i="0">
                <a:solidFill>
                  <a:srgbClr val="00B4D8"/>
                </a:solidFill>
                <a:latin typeface="Calibri"/>
              </a:rPr>
              <a:t>Stage 4
Evaluation</a:t>
            </a:r>
          </a:p>
        </p:txBody>
      </p:sp>
      <p:sp>
        <p:nvSpPr>
          <p:cNvPr id="28" name="Rectangle 27"/>
          <p:cNvSpPr/>
          <p:nvPr/>
        </p:nvSpPr>
        <p:spPr>
          <a:xfrm>
            <a:off x="6217920" y="2432304"/>
            <a:ext cx="1463040" cy="2286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172200" y="2505456"/>
            <a:ext cx="1554480" cy="1645920"/>
          </a:xfrm>
          <a:prstGeom prst="rect">
            <a:avLst/>
          </a:prstGeom>
          <a:noFill/>
        </p:spPr>
        <p:txBody>
          <a:bodyPr wrap="square">
            <a:spAutoFit/>
          </a:bodyPr>
          <a:lstStyle/>
          <a:p>
            <a:pPr algn="ctr"/>
            <a:r>
              <a:rPr sz="1050" b="0" i="0">
                <a:solidFill>
                  <a:srgbClr val="F0F4FF"/>
                </a:solidFill>
                <a:latin typeface="Calibri"/>
              </a:rPr>
              <a:t>Model must pass accuracy and reliability checks before going live.</a:t>
            </a:r>
          </a:p>
        </p:txBody>
      </p:sp>
      <p:sp>
        <p:nvSpPr>
          <p:cNvPr id="30" name="TextBox 29"/>
          <p:cNvSpPr txBox="1"/>
          <p:nvPr/>
        </p:nvSpPr>
        <p:spPr>
          <a:xfrm>
            <a:off x="7836408" y="2679192"/>
            <a:ext cx="201168" cy="457200"/>
          </a:xfrm>
          <a:prstGeom prst="rect">
            <a:avLst/>
          </a:prstGeom>
          <a:noFill/>
        </p:spPr>
        <p:txBody>
          <a:bodyPr wrap="square">
            <a:spAutoFit/>
          </a:bodyPr>
          <a:lstStyle/>
          <a:p>
            <a:pPr algn="ctr"/>
            <a:r>
              <a:rPr sz="1800" b="1" i="0">
                <a:solidFill>
                  <a:srgbClr val="F5A623"/>
                </a:solidFill>
                <a:latin typeface="Calibri"/>
              </a:rPr>
              <a:t>-&gt;</a:t>
            </a:r>
          </a:p>
        </p:txBody>
      </p:sp>
      <p:sp>
        <p:nvSpPr>
          <p:cNvPr id="31" name="Rectangle 30"/>
          <p:cNvSpPr/>
          <p:nvPr/>
        </p:nvSpPr>
        <p:spPr>
          <a:xfrm>
            <a:off x="8001000" y="1627632"/>
            <a:ext cx="1737360" cy="2651760"/>
          </a:xfrm>
          <a:prstGeom prst="rect">
            <a:avLst/>
          </a:prstGeom>
          <a:solidFill>
            <a:srgbClr val="1E3A5F"/>
          </a:solidFill>
          <a:ln w="15240">
            <a:solidFill>
              <a:srgbClr val="F5A62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8001000" y="1627632"/>
            <a:ext cx="1737360" cy="91440"/>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8092440" y="1755648"/>
            <a:ext cx="1554480" cy="658368"/>
          </a:xfrm>
          <a:prstGeom prst="rect">
            <a:avLst/>
          </a:prstGeom>
          <a:noFill/>
        </p:spPr>
        <p:txBody>
          <a:bodyPr wrap="square">
            <a:spAutoFit/>
          </a:bodyPr>
          <a:lstStyle/>
          <a:p>
            <a:pPr algn="ctr"/>
            <a:r>
              <a:rPr sz="1200" b="1" i="0">
                <a:solidFill>
                  <a:srgbClr val="F5A623"/>
                </a:solidFill>
                <a:latin typeface="Calibri"/>
              </a:rPr>
              <a:t>Stage 5
Deployment</a:t>
            </a:r>
          </a:p>
        </p:txBody>
      </p:sp>
      <p:sp>
        <p:nvSpPr>
          <p:cNvPr id="34" name="Rectangle 33"/>
          <p:cNvSpPr/>
          <p:nvPr/>
        </p:nvSpPr>
        <p:spPr>
          <a:xfrm>
            <a:off x="8138160" y="2432304"/>
            <a:ext cx="1463040" cy="22860"/>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8092440" y="2505456"/>
            <a:ext cx="1554480" cy="1645920"/>
          </a:xfrm>
          <a:prstGeom prst="rect">
            <a:avLst/>
          </a:prstGeom>
          <a:noFill/>
        </p:spPr>
        <p:txBody>
          <a:bodyPr wrap="square">
            <a:spAutoFit/>
          </a:bodyPr>
          <a:lstStyle/>
          <a:p>
            <a:pPr algn="ctr"/>
            <a:r>
              <a:rPr sz="1050" b="0" i="0">
                <a:solidFill>
                  <a:srgbClr val="F0F4FF"/>
                </a:solidFill>
                <a:latin typeface="Calibri"/>
              </a:rPr>
              <a:t>Approved model is served via a REST API with average 14ms response.</a:t>
            </a:r>
          </a:p>
        </p:txBody>
      </p:sp>
      <p:sp>
        <p:nvSpPr>
          <p:cNvPr id="36" name="TextBox 35"/>
          <p:cNvSpPr txBox="1"/>
          <p:nvPr/>
        </p:nvSpPr>
        <p:spPr>
          <a:xfrm>
            <a:off x="9756648" y="2679192"/>
            <a:ext cx="201168" cy="457200"/>
          </a:xfrm>
          <a:prstGeom prst="rect">
            <a:avLst/>
          </a:prstGeom>
          <a:noFill/>
        </p:spPr>
        <p:txBody>
          <a:bodyPr wrap="square">
            <a:spAutoFit/>
          </a:bodyPr>
          <a:lstStyle/>
          <a:p>
            <a:pPr algn="ctr"/>
            <a:r>
              <a:rPr sz="1800" b="1" i="0">
                <a:solidFill>
                  <a:srgbClr val="F5A623"/>
                </a:solidFill>
                <a:latin typeface="Calibri"/>
              </a:rPr>
              <a:t>-&gt;</a:t>
            </a:r>
          </a:p>
        </p:txBody>
      </p:sp>
      <p:sp>
        <p:nvSpPr>
          <p:cNvPr id="37" name="Rectangle 36"/>
          <p:cNvSpPr/>
          <p:nvPr/>
        </p:nvSpPr>
        <p:spPr>
          <a:xfrm>
            <a:off x="9921240" y="1627632"/>
            <a:ext cx="1737360" cy="2651760"/>
          </a:xfrm>
          <a:prstGeom prst="rect">
            <a:avLst/>
          </a:prstGeom>
          <a:solidFill>
            <a:srgbClr val="1E3A5F"/>
          </a:solidFill>
          <a:ln w="15240">
            <a:solidFill>
              <a:srgbClr val="E02B2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9921240" y="1627632"/>
            <a:ext cx="1737360" cy="91440"/>
          </a:xfrm>
          <a:prstGeom prst="rect">
            <a:avLst/>
          </a:prstGeom>
          <a:solidFill>
            <a:srgbClr val="E0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10012680" y="1755648"/>
            <a:ext cx="1554480" cy="658368"/>
          </a:xfrm>
          <a:prstGeom prst="rect">
            <a:avLst/>
          </a:prstGeom>
          <a:noFill/>
        </p:spPr>
        <p:txBody>
          <a:bodyPr wrap="square">
            <a:spAutoFit/>
          </a:bodyPr>
          <a:lstStyle/>
          <a:p>
            <a:pPr algn="ctr"/>
            <a:r>
              <a:rPr sz="1200" b="1" i="0">
                <a:solidFill>
                  <a:srgbClr val="E02B2B"/>
                </a:solidFill>
                <a:latin typeface="Calibri"/>
              </a:rPr>
              <a:t>Stage 6
Monitoring</a:t>
            </a:r>
          </a:p>
        </p:txBody>
      </p:sp>
      <p:sp>
        <p:nvSpPr>
          <p:cNvPr id="40" name="Rectangle 39"/>
          <p:cNvSpPr/>
          <p:nvPr/>
        </p:nvSpPr>
        <p:spPr>
          <a:xfrm>
            <a:off x="10058400" y="2432304"/>
            <a:ext cx="1463040" cy="22860"/>
          </a:xfrm>
          <a:prstGeom prst="rect">
            <a:avLst/>
          </a:prstGeom>
          <a:solidFill>
            <a:srgbClr val="E0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10012680" y="2505456"/>
            <a:ext cx="1554480" cy="1645920"/>
          </a:xfrm>
          <a:prstGeom prst="rect">
            <a:avLst/>
          </a:prstGeom>
          <a:noFill/>
        </p:spPr>
        <p:txBody>
          <a:bodyPr wrap="square">
            <a:spAutoFit/>
          </a:bodyPr>
          <a:lstStyle/>
          <a:p>
            <a:pPr algn="ctr"/>
            <a:r>
              <a:rPr sz="1050" b="0" i="0">
                <a:solidFill>
                  <a:srgbClr val="F0F4FF"/>
                </a:solidFill>
                <a:latin typeface="Calibri"/>
              </a:rPr>
              <a:t>Live input data is compared to training data to catch any drift early.</a:t>
            </a:r>
          </a:p>
        </p:txBody>
      </p:sp>
      <p:sp>
        <p:nvSpPr>
          <p:cNvPr id="42" name="Rectangle 41"/>
          <p:cNvSpPr/>
          <p:nvPr/>
        </p:nvSpPr>
        <p:spPr>
          <a:xfrm>
            <a:off x="320040" y="4434840"/>
            <a:ext cx="11567160" cy="530352"/>
          </a:xfrm>
          <a:prstGeom prst="rect">
            <a:avLst/>
          </a:prstGeom>
          <a:solidFill>
            <a:srgbClr val="12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457200" y="4498848"/>
            <a:ext cx="11292840" cy="420624"/>
          </a:xfrm>
          <a:prstGeom prst="rect">
            <a:avLst/>
          </a:prstGeom>
          <a:noFill/>
        </p:spPr>
        <p:txBody>
          <a:bodyPr wrap="square">
            <a:spAutoFit/>
          </a:bodyPr>
          <a:lstStyle/>
          <a:p>
            <a:pPr algn="l"/>
            <a:r>
              <a:rPr sz="1150" b="0" i="1">
                <a:solidFill>
                  <a:srgbClr val="F5A623"/>
                </a:solidFill>
                <a:latin typeface="Calibri"/>
              </a:rPr>
              <a:t>What makes this special: every time a prediction is made, the system traces it backwards through all 6 stages automatically — giving a full audit trail of how that answer was produced.</a:t>
            </a:r>
          </a:p>
        </p:txBody>
      </p:sp>
      <p:sp>
        <p:nvSpPr>
          <p:cNvPr id="44" name="Oval 43"/>
          <p:cNvSpPr/>
          <p:nvPr/>
        </p:nvSpPr>
        <p:spPr>
          <a:xfrm>
            <a:off x="11686032" y="6473952"/>
            <a:ext cx="256032" cy="256032"/>
          </a:xfrm>
          <a:prstGeom prst="ellipse">
            <a:avLst/>
          </a:prstGeom>
          <a:solidFill>
            <a:srgbClr val="E0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11676888" y="6446520"/>
            <a:ext cx="274320" cy="274320"/>
          </a:xfrm>
          <a:prstGeom prst="rect">
            <a:avLst/>
          </a:prstGeom>
          <a:noFill/>
        </p:spPr>
        <p:txBody>
          <a:bodyPr wrap="square">
            <a:spAutoFit/>
          </a:bodyPr>
          <a:lstStyle/>
          <a:p>
            <a:pPr algn="ctr"/>
            <a:r>
              <a:rPr sz="900" b="1" i="0">
                <a:solidFill>
                  <a:srgbClr val="FFFFFF"/>
                </a:solidFill>
                <a:latin typeface="Calibri"/>
              </a:rPr>
              <a:t>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41732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417320"/>
            <a:ext cx="12188952" cy="50292"/>
          </a:xfrm>
          <a:prstGeom prst="rect">
            <a:avLst/>
          </a:prstGeom>
          <a:solidFill>
            <a:srgbClr val="E0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164592"/>
            <a:ext cx="11457432" cy="804672"/>
          </a:xfrm>
          <a:prstGeom prst="rect">
            <a:avLst/>
          </a:prstGeom>
          <a:noFill/>
        </p:spPr>
        <p:txBody>
          <a:bodyPr wrap="square">
            <a:spAutoFit/>
          </a:bodyPr>
          <a:lstStyle/>
          <a:p>
            <a:pPr algn="l"/>
            <a:r>
              <a:rPr sz="3000" b="1" i="0">
                <a:solidFill>
                  <a:srgbClr val="FFFFFF"/>
                </a:solidFill>
                <a:latin typeface="Calibri"/>
              </a:rPr>
              <a:t>CO2 — Linear Models &amp; Regularisation</a:t>
            </a:r>
          </a:p>
        </p:txBody>
      </p:sp>
      <p:sp>
        <p:nvSpPr>
          <p:cNvPr id="6" name="TextBox 5"/>
          <p:cNvSpPr txBox="1"/>
          <p:nvPr/>
        </p:nvSpPr>
        <p:spPr>
          <a:xfrm>
            <a:off x="365760" y="914400"/>
            <a:ext cx="11457432" cy="457200"/>
          </a:xfrm>
          <a:prstGeom prst="rect">
            <a:avLst/>
          </a:prstGeom>
          <a:noFill/>
        </p:spPr>
        <p:txBody>
          <a:bodyPr wrap="square">
            <a:spAutoFit/>
          </a:bodyPr>
          <a:lstStyle/>
          <a:p>
            <a:pPr algn="l"/>
            <a:r>
              <a:rPr sz="1300" b="0" i="1">
                <a:solidFill>
                  <a:srgbClr val="F5A623"/>
                </a:solidFill>
                <a:latin typeface="Calibri"/>
              </a:rPr>
              <a:t>Predicting how long a road stays blocked using simple but smart models</a:t>
            </a:r>
          </a:p>
        </p:txBody>
      </p:sp>
      <p:sp>
        <p:nvSpPr>
          <p:cNvPr id="7" name="TextBox 6"/>
          <p:cNvSpPr txBox="1"/>
          <p:nvPr/>
        </p:nvSpPr>
        <p:spPr>
          <a:xfrm>
            <a:off x="320040" y="1572768"/>
            <a:ext cx="3657600" cy="347472"/>
          </a:xfrm>
          <a:prstGeom prst="rect">
            <a:avLst/>
          </a:prstGeom>
          <a:noFill/>
        </p:spPr>
        <p:txBody>
          <a:bodyPr wrap="square">
            <a:spAutoFit/>
          </a:bodyPr>
          <a:lstStyle/>
          <a:p>
            <a:pPr algn="l"/>
            <a:r>
              <a:rPr sz="1300" b="1" i="0">
                <a:solidFill>
                  <a:srgbClr val="00B4D8"/>
                </a:solidFill>
                <a:latin typeface="Calibri"/>
              </a:rPr>
              <a:t>What we predict here:</a:t>
            </a:r>
          </a:p>
        </p:txBody>
      </p:sp>
      <p:sp>
        <p:nvSpPr>
          <p:cNvPr id="8" name="TextBox 7"/>
          <p:cNvSpPr txBox="1"/>
          <p:nvPr/>
        </p:nvSpPr>
        <p:spPr>
          <a:xfrm>
            <a:off x="320040" y="1920240"/>
            <a:ext cx="11567160" cy="502920"/>
          </a:xfrm>
          <a:prstGeom prst="rect">
            <a:avLst/>
          </a:prstGeom>
          <a:noFill/>
        </p:spPr>
        <p:txBody>
          <a:bodyPr wrap="square">
            <a:spAutoFit/>
          </a:bodyPr>
          <a:lstStyle/>
          <a:p>
            <a:pPr algn="l"/>
            <a:r>
              <a:rPr sz="1150" b="0" i="0">
                <a:solidFill>
                  <a:srgbClr val="D0D8E8"/>
                </a:solidFill>
                <a:latin typeface="Calibri"/>
              </a:rPr>
              <a:t>We use linear regression models to estimate the clearance time (minutes) for an accident. We tested four variations — from plain regression to regularised versions that reduce noise.</a:t>
            </a:r>
          </a:p>
        </p:txBody>
      </p:sp>
      <p:sp>
        <p:nvSpPr>
          <p:cNvPr id="9" name="Rectangle 8"/>
          <p:cNvSpPr/>
          <p:nvPr/>
        </p:nvSpPr>
        <p:spPr>
          <a:xfrm>
            <a:off x="320040" y="2578608"/>
            <a:ext cx="5440680" cy="1536192"/>
          </a:xfrm>
          <a:prstGeom prst="rect">
            <a:avLst/>
          </a:prstGeom>
          <a:solidFill>
            <a:srgbClr val="1E3A5F"/>
          </a:solidFill>
          <a:ln w="1143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320040" y="2578608"/>
            <a:ext cx="5440680" cy="6400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29768" y="2670048"/>
            <a:ext cx="5221224" cy="384048"/>
          </a:xfrm>
          <a:prstGeom prst="rect">
            <a:avLst/>
          </a:prstGeom>
          <a:noFill/>
        </p:spPr>
        <p:txBody>
          <a:bodyPr wrap="square">
            <a:spAutoFit/>
          </a:bodyPr>
          <a:lstStyle/>
          <a:p>
            <a:pPr algn="l"/>
            <a:r>
              <a:rPr sz="1250" b="1" i="0">
                <a:solidFill>
                  <a:srgbClr val="00B4D8"/>
                </a:solidFill>
                <a:latin typeface="Calibri"/>
              </a:rPr>
              <a:t>OLS — Plain Linear Regression</a:t>
            </a:r>
          </a:p>
        </p:txBody>
      </p:sp>
      <p:sp>
        <p:nvSpPr>
          <p:cNvPr id="12" name="Rectangle 11"/>
          <p:cNvSpPr/>
          <p:nvPr/>
        </p:nvSpPr>
        <p:spPr>
          <a:xfrm>
            <a:off x="429768" y="3072384"/>
            <a:ext cx="5221224" cy="2286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48056" y="3145536"/>
            <a:ext cx="5184648" cy="329184"/>
          </a:xfrm>
          <a:prstGeom prst="rect">
            <a:avLst/>
          </a:prstGeom>
          <a:noFill/>
        </p:spPr>
        <p:txBody>
          <a:bodyPr wrap="square">
            <a:spAutoFit/>
          </a:bodyPr>
          <a:lstStyle/>
          <a:p>
            <a:pPr algn="l"/>
            <a:r>
              <a:rPr sz="1050" b="0" i="0">
                <a:solidFill>
                  <a:srgbClr val="F0F4FF"/>
                </a:solidFill>
                <a:latin typeface="Calibri"/>
              </a:rPr>
              <a:t>  Finds the best straight-line fit between features and clearance time.</a:t>
            </a:r>
          </a:p>
        </p:txBody>
      </p:sp>
      <p:sp>
        <p:nvSpPr>
          <p:cNvPr id="14" name="TextBox 13"/>
          <p:cNvSpPr txBox="1"/>
          <p:nvPr/>
        </p:nvSpPr>
        <p:spPr>
          <a:xfrm>
            <a:off x="448056" y="3456432"/>
            <a:ext cx="5184648" cy="329184"/>
          </a:xfrm>
          <a:prstGeom prst="rect">
            <a:avLst/>
          </a:prstGeom>
          <a:noFill/>
        </p:spPr>
        <p:txBody>
          <a:bodyPr wrap="square">
            <a:spAutoFit/>
          </a:bodyPr>
          <a:lstStyle/>
          <a:p>
            <a:pPr algn="l"/>
            <a:r>
              <a:rPr sz="1050" b="0" i="0">
                <a:solidFill>
                  <a:srgbClr val="F0F4FF"/>
                </a:solidFill>
                <a:latin typeface="Calibri"/>
              </a:rPr>
              <a:t>  No restrictions — simplest baseline model.</a:t>
            </a:r>
          </a:p>
        </p:txBody>
      </p:sp>
      <p:sp>
        <p:nvSpPr>
          <p:cNvPr id="15" name="TextBox 14"/>
          <p:cNvSpPr txBox="1"/>
          <p:nvPr/>
        </p:nvSpPr>
        <p:spPr>
          <a:xfrm>
            <a:off x="448056" y="3767328"/>
            <a:ext cx="5184648" cy="329184"/>
          </a:xfrm>
          <a:prstGeom prst="rect">
            <a:avLst/>
          </a:prstGeom>
          <a:noFill/>
        </p:spPr>
        <p:txBody>
          <a:bodyPr wrap="square">
            <a:spAutoFit/>
          </a:bodyPr>
          <a:lstStyle/>
          <a:p>
            <a:pPr algn="l"/>
            <a:r>
              <a:rPr sz="1050" b="0" i="0">
                <a:solidFill>
                  <a:srgbClr val="F0F4FF"/>
                </a:solidFill>
                <a:latin typeface="Calibri"/>
              </a:rPr>
              <a:t>  Works well but can get confused by noisy or similar features.</a:t>
            </a:r>
          </a:p>
        </p:txBody>
      </p:sp>
      <p:sp>
        <p:nvSpPr>
          <p:cNvPr id="16" name="Rectangle 15"/>
          <p:cNvSpPr/>
          <p:nvPr/>
        </p:nvSpPr>
        <p:spPr>
          <a:xfrm>
            <a:off x="6126480" y="2578608"/>
            <a:ext cx="5440680" cy="1536192"/>
          </a:xfrm>
          <a:prstGeom prst="rect">
            <a:avLst/>
          </a:prstGeom>
          <a:solidFill>
            <a:srgbClr val="1E3A5F"/>
          </a:solidFill>
          <a:ln w="11430">
            <a:solidFill>
              <a:srgbClr val="F5A62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6126480" y="2578608"/>
            <a:ext cx="5440680" cy="64008"/>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236208" y="2670048"/>
            <a:ext cx="5221224" cy="384048"/>
          </a:xfrm>
          <a:prstGeom prst="rect">
            <a:avLst/>
          </a:prstGeom>
          <a:noFill/>
        </p:spPr>
        <p:txBody>
          <a:bodyPr wrap="square">
            <a:spAutoFit/>
          </a:bodyPr>
          <a:lstStyle/>
          <a:p>
            <a:pPr algn="l"/>
            <a:r>
              <a:rPr sz="1250" b="1" i="0">
                <a:solidFill>
                  <a:srgbClr val="F5A623"/>
                </a:solidFill>
                <a:latin typeface="Calibri"/>
              </a:rPr>
              <a:t>Ridge (L2) — Smooth Shrinkage</a:t>
            </a:r>
          </a:p>
        </p:txBody>
      </p:sp>
      <p:sp>
        <p:nvSpPr>
          <p:cNvPr id="19" name="Rectangle 18"/>
          <p:cNvSpPr/>
          <p:nvPr/>
        </p:nvSpPr>
        <p:spPr>
          <a:xfrm>
            <a:off x="6236208" y="3072384"/>
            <a:ext cx="5221224" cy="22860"/>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254496" y="3145536"/>
            <a:ext cx="5184648" cy="329184"/>
          </a:xfrm>
          <a:prstGeom prst="rect">
            <a:avLst/>
          </a:prstGeom>
          <a:noFill/>
        </p:spPr>
        <p:txBody>
          <a:bodyPr wrap="square">
            <a:spAutoFit/>
          </a:bodyPr>
          <a:lstStyle/>
          <a:p>
            <a:pPr algn="l"/>
            <a:r>
              <a:rPr sz="1050" b="0" i="0">
                <a:solidFill>
                  <a:srgbClr val="F0F4FF"/>
                </a:solidFill>
                <a:latin typeface="Calibri"/>
              </a:rPr>
              <a:t>  Adds a small penalty to stop any one feature from dominating.</a:t>
            </a:r>
          </a:p>
        </p:txBody>
      </p:sp>
      <p:sp>
        <p:nvSpPr>
          <p:cNvPr id="21" name="TextBox 20"/>
          <p:cNvSpPr txBox="1"/>
          <p:nvPr/>
        </p:nvSpPr>
        <p:spPr>
          <a:xfrm>
            <a:off x="6254496" y="3456432"/>
            <a:ext cx="5184648" cy="329184"/>
          </a:xfrm>
          <a:prstGeom prst="rect">
            <a:avLst/>
          </a:prstGeom>
          <a:noFill/>
        </p:spPr>
        <p:txBody>
          <a:bodyPr wrap="square">
            <a:spAutoFit/>
          </a:bodyPr>
          <a:lstStyle/>
          <a:p>
            <a:pPr algn="l"/>
            <a:r>
              <a:rPr sz="1050" b="0" i="0">
                <a:solidFill>
                  <a:srgbClr val="F0F4FF"/>
                </a:solidFill>
                <a:latin typeface="Calibri"/>
              </a:rPr>
              <a:t>  All features stay in the model but their influence is reduced.</a:t>
            </a:r>
          </a:p>
        </p:txBody>
      </p:sp>
      <p:sp>
        <p:nvSpPr>
          <p:cNvPr id="22" name="TextBox 21"/>
          <p:cNvSpPr txBox="1"/>
          <p:nvPr/>
        </p:nvSpPr>
        <p:spPr>
          <a:xfrm>
            <a:off x="6254496" y="3767328"/>
            <a:ext cx="5184648" cy="329184"/>
          </a:xfrm>
          <a:prstGeom prst="rect">
            <a:avLst/>
          </a:prstGeom>
          <a:noFill/>
        </p:spPr>
        <p:txBody>
          <a:bodyPr wrap="square">
            <a:spAutoFit/>
          </a:bodyPr>
          <a:lstStyle/>
          <a:p>
            <a:pPr algn="l"/>
            <a:r>
              <a:rPr sz="1050" b="0" i="0">
                <a:solidFill>
                  <a:srgbClr val="F0F4FF"/>
                </a:solidFill>
                <a:latin typeface="Calibri"/>
              </a:rPr>
              <a:t>  Best when many features contribute a little.</a:t>
            </a:r>
          </a:p>
        </p:txBody>
      </p:sp>
      <p:sp>
        <p:nvSpPr>
          <p:cNvPr id="23" name="Rectangle 22"/>
          <p:cNvSpPr/>
          <p:nvPr/>
        </p:nvSpPr>
        <p:spPr>
          <a:xfrm>
            <a:off x="320040" y="4251960"/>
            <a:ext cx="5440680" cy="1536192"/>
          </a:xfrm>
          <a:prstGeom prst="rect">
            <a:avLst/>
          </a:prstGeom>
          <a:solidFill>
            <a:srgbClr val="1E3A5F"/>
          </a:solidFill>
          <a:ln w="11430">
            <a:solidFill>
              <a:srgbClr val="E02B2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320040" y="4251960"/>
            <a:ext cx="5440680" cy="64008"/>
          </a:xfrm>
          <a:prstGeom prst="rect">
            <a:avLst/>
          </a:prstGeom>
          <a:solidFill>
            <a:srgbClr val="E0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29768" y="4343400"/>
            <a:ext cx="5221224" cy="384048"/>
          </a:xfrm>
          <a:prstGeom prst="rect">
            <a:avLst/>
          </a:prstGeom>
          <a:noFill/>
        </p:spPr>
        <p:txBody>
          <a:bodyPr wrap="square">
            <a:spAutoFit/>
          </a:bodyPr>
          <a:lstStyle/>
          <a:p>
            <a:pPr algn="l"/>
            <a:r>
              <a:rPr sz="1250" b="1" i="0">
                <a:solidFill>
                  <a:srgbClr val="E02B2B"/>
                </a:solidFill>
                <a:latin typeface="Calibri"/>
              </a:rPr>
              <a:t>Lasso (L1) — Feature Selector</a:t>
            </a:r>
          </a:p>
        </p:txBody>
      </p:sp>
      <p:sp>
        <p:nvSpPr>
          <p:cNvPr id="26" name="Rectangle 25"/>
          <p:cNvSpPr/>
          <p:nvPr/>
        </p:nvSpPr>
        <p:spPr>
          <a:xfrm>
            <a:off x="429768" y="4745736"/>
            <a:ext cx="5221224" cy="22860"/>
          </a:xfrm>
          <a:prstGeom prst="rect">
            <a:avLst/>
          </a:prstGeom>
          <a:solidFill>
            <a:srgbClr val="E0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48056" y="4818888"/>
            <a:ext cx="5184648" cy="329184"/>
          </a:xfrm>
          <a:prstGeom prst="rect">
            <a:avLst/>
          </a:prstGeom>
          <a:noFill/>
        </p:spPr>
        <p:txBody>
          <a:bodyPr wrap="square">
            <a:spAutoFit/>
          </a:bodyPr>
          <a:lstStyle/>
          <a:p>
            <a:pPr algn="l"/>
            <a:r>
              <a:rPr sz="1050" b="0" i="0">
                <a:solidFill>
                  <a:srgbClr val="F0F4FF"/>
                </a:solidFill>
                <a:latin typeface="Calibri"/>
              </a:rPr>
              <a:t>  Forces unimportant features to become exactly zero.</a:t>
            </a:r>
          </a:p>
        </p:txBody>
      </p:sp>
      <p:sp>
        <p:nvSpPr>
          <p:cNvPr id="28" name="TextBox 27"/>
          <p:cNvSpPr txBox="1"/>
          <p:nvPr/>
        </p:nvSpPr>
        <p:spPr>
          <a:xfrm>
            <a:off x="448056" y="5129784"/>
            <a:ext cx="5184648" cy="329184"/>
          </a:xfrm>
          <a:prstGeom prst="rect">
            <a:avLst/>
          </a:prstGeom>
          <a:noFill/>
        </p:spPr>
        <p:txBody>
          <a:bodyPr wrap="square">
            <a:spAutoFit/>
          </a:bodyPr>
          <a:lstStyle/>
          <a:p>
            <a:pPr algn="l"/>
            <a:r>
              <a:rPr sz="1050" b="0" i="0">
                <a:solidFill>
                  <a:srgbClr val="F0F4FF"/>
                </a:solidFill>
                <a:latin typeface="Calibri"/>
              </a:rPr>
              <a:t>  Automatically removes 49% of features — keeps only what matters.</a:t>
            </a:r>
          </a:p>
        </p:txBody>
      </p:sp>
      <p:sp>
        <p:nvSpPr>
          <p:cNvPr id="29" name="TextBox 28"/>
          <p:cNvSpPr txBox="1"/>
          <p:nvPr/>
        </p:nvSpPr>
        <p:spPr>
          <a:xfrm>
            <a:off x="448056" y="5440680"/>
            <a:ext cx="5184648" cy="329184"/>
          </a:xfrm>
          <a:prstGeom prst="rect">
            <a:avLst/>
          </a:prstGeom>
          <a:noFill/>
        </p:spPr>
        <p:txBody>
          <a:bodyPr wrap="square">
            <a:spAutoFit/>
          </a:bodyPr>
          <a:lstStyle/>
          <a:p>
            <a:pPr algn="l"/>
            <a:r>
              <a:rPr sz="1050" b="0" i="0">
                <a:solidFill>
                  <a:srgbClr val="F0F4FF"/>
                </a:solidFill>
                <a:latin typeface="Calibri"/>
              </a:rPr>
              <a:t>  Acts as a built-in feature selection tool.</a:t>
            </a:r>
          </a:p>
        </p:txBody>
      </p:sp>
      <p:sp>
        <p:nvSpPr>
          <p:cNvPr id="30" name="Rectangle 29"/>
          <p:cNvSpPr/>
          <p:nvPr/>
        </p:nvSpPr>
        <p:spPr>
          <a:xfrm>
            <a:off x="6126480" y="4251960"/>
            <a:ext cx="5440680" cy="1536192"/>
          </a:xfrm>
          <a:prstGeom prst="rect">
            <a:avLst/>
          </a:prstGeom>
          <a:solidFill>
            <a:srgbClr val="1E3A5F"/>
          </a:solidFill>
          <a:ln w="11430">
            <a:solidFill>
              <a:srgbClr val="9B59B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6126480" y="4251960"/>
            <a:ext cx="5440680" cy="64008"/>
          </a:xfrm>
          <a:prstGeom prst="rect">
            <a:avLst/>
          </a:prstGeom>
          <a:solidFill>
            <a:srgbClr val="9B59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236208" y="4343400"/>
            <a:ext cx="5221224" cy="384048"/>
          </a:xfrm>
          <a:prstGeom prst="rect">
            <a:avLst/>
          </a:prstGeom>
          <a:noFill/>
        </p:spPr>
        <p:txBody>
          <a:bodyPr wrap="square">
            <a:spAutoFit/>
          </a:bodyPr>
          <a:lstStyle/>
          <a:p>
            <a:pPr algn="l"/>
            <a:r>
              <a:rPr sz="1250" b="1" i="0">
                <a:solidFill>
                  <a:srgbClr val="9B59B6"/>
                </a:solidFill>
                <a:latin typeface="Calibri"/>
              </a:rPr>
              <a:t>ElasticNet — Best of Both</a:t>
            </a:r>
          </a:p>
        </p:txBody>
      </p:sp>
      <p:sp>
        <p:nvSpPr>
          <p:cNvPr id="33" name="Rectangle 32"/>
          <p:cNvSpPr/>
          <p:nvPr/>
        </p:nvSpPr>
        <p:spPr>
          <a:xfrm>
            <a:off x="6236208" y="4745736"/>
            <a:ext cx="5221224" cy="22860"/>
          </a:xfrm>
          <a:prstGeom prst="rect">
            <a:avLst/>
          </a:prstGeom>
          <a:solidFill>
            <a:srgbClr val="9B59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254496" y="4818888"/>
            <a:ext cx="5184648" cy="329184"/>
          </a:xfrm>
          <a:prstGeom prst="rect">
            <a:avLst/>
          </a:prstGeom>
          <a:noFill/>
        </p:spPr>
        <p:txBody>
          <a:bodyPr wrap="square">
            <a:spAutoFit/>
          </a:bodyPr>
          <a:lstStyle/>
          <a:p>
            <a:pPr algn="l"/>
            <a:r>
              <a:rPr sz="1050" b="0" i="0">
                <a:solidFill>
                  <a:srgbClr val="F0F4FF"/>
                </a:solidFill>
                <a:latin typeface="Calibri"/>
              </a:rPr>
              <a:t>  Combines Ridge and Lasso penalties together.</a:t>
            </a:r>
          </a:p>
        </p:txBody>
      </p:sp>
      <p:sp>
        <p:nvSpPr>
          <p:cNvPr id="35" name="TextBox 34"/>
          <p:cNvSpPr txBox="1"/>
          <p:nvPr/>
        </p:nvSpPr>
        <p:spPr>
          <a:xfrm>
            <a:off x="6254496" y="5129784"/>
            <a:ext cx="5184648" cy="329184"/>
          </a:xfrm>
          <a:prstGeom prst="rect">
            <a:avLst/>
          </a:prstGeom>
          <a:noFill/>
        </p:spPr>
        <p:txBody>
          <a:bodyPr wrap="square">
            <a:spAutoFit/>
          </a:bodyPr>
          <a:lstStyle/>
          <a:p>
            <a:pPr algn="l"/>
            <a:r>
              <a:rPr sz="1050" b="0" i="0">
                <a:solidFill>
                  <a:srgbClr val="F0F4FF"/>
                </a:solidFill>
                <a:latin typeface="Calibri"/>
              </a:rPr>
              <a:t>  Removes weak features while still grouping related ones.</a:t>
            </a:r>
          </a:p>
        </p:txBody>
      </p:sp>
      <p:sp>
        <p:nvSpPr>
          <p:cNvPr id="36" name="TextBox 35"/>
          <p:cNvSpPr txBox="1"/>
          <p:nvPr/>
        </p:nvSpPr>
        <p:spPr>
          <a:xfrm>
            <a:off x="6254496" y="5440680"/>
            <a:ext cx="5184648" cy="329184"/>
          </a:xfrm>
          <a:prstGeom prst="rect">
            <a:avLst/>
          </a:prstGeom>
          <a:noFill/>
        </p:spPr>
        <p:txBody>
          <a:bodyPr wrap="square">
            <a:spAutoFit/>
          </a:bodyPr>
          <a:lstStyle/>
          <a:p>
            <a:pPr algn="l"/>
            <a:r>
              <a:rPr sz="1050" b="0" i="0">
                <a:solidFill>
                  <a:srgbClr val="F0F4FF"/>
                </a:solidFill>
                <a:latin typeface="Calibri"/>
              </a:rPr>
              <a:t>  Useful when features are correlated with each other.</a:t>
            </a:r>
          </a:p>
        </p:txBody>
      </p:sp>
      <p:sp>
        <p:nvSpPr>
          <p:cNvPr id="37" name="TextBox 36"/>
          <p:cNvSpPr txBox="1"/>
          <p:nvPr/>
        </p:nvSpPr>
        <p:spPr>
          <a:xfrm>
            <a:off x="320040" y="5925312"/>
            <a:ext cx="11567160" cy="457200"/>
          </a:xfrm>
          <a:prstGeom prst="rect">
            <a:avLst/>
          </a:prstGeom>
          <a:noFill/>
        </p:spPr>
        <p:txBody>
          <a:bodyPr wrap="square">
            <a:spAutoFit/>
          </a:bodyPr>
          <a:lstStyle/>
          <a:p>
            <a:pPr algn="l"/>
            <a:r>
              <a:rPr sz="1150" b="0" i="1">
                <a:solidFill>
                  <a:srgbClr val="F5A623"/>
                </a:solidFill>
                <a:latin typeface="Calibri"/>
              </a:rPr>
              <a:t>We also used Logistic Regression to classify severity directly: Binary version (mild vs serious) and Multinomial version (all 4 levels).</a:t>
            </a:r>
          </a:p>
        </p:txBody>
      </p:sp>
      <p:sp>
        <p:nvSpPr>
          <p:cNvPr id="38" name="Oval 37"/>
          <p:cNvSpPr/>
          <p:nvPr/>
        </p:nvSpPr>
        <p:spPr>
          <a:xfrm>
            <a:off x="11686032" y="6473952"/>
            <a:ext cx="256032" cy="256032"/>
          </a:xfrm>
          <a:prstGeom prst="ellipse">
            <a:avLst/>
          </a:prstGeom>
          <a:solidFill>
            <a:srgbClr val="E0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11676888" y="6446520"/>
            <a:ext cx="274320" cy="274320"/>
          </a:xfrm>
          <a:prstGeom prst="rect">
            <a:avLst/>
          </a:prstGeom>
          <a:noFill/>
        </p:spPr>
        <p:txBody>
          <a:bodyPr wrap="square">
            <a:spAutoFit/>
          </a:bodyPr>
          <a:lstStyle/>
          <a:p>
            <a:pPr algn="ctr"/>
            <a:r>
              <a:rPr sz="900" b="1" i="0">
                <a:solidFill>
                  <a:srgbClr val="FFFFFF"/>
                </a:solidFill>
                <a:latin typeface="Calibri"/>
              </a:rPr>
              <a:t>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41732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417320"/>
            <a:ext cx="12188952" cy="50292"/>
          </a:xfrm>
          <a:prstGeom prst="rect">
            <a:avLst/>
          </a:prstGeom>
          <a:solidFill>
            <a:srgbClr val="E0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164592"/>
            <a:ext cx="11457432" cy="804672"/>
          </a:xfrm>
          <a:prstGeom prst="rect">
            <a:avLst/>
          </a:prstGeom>
          <a:noFill/>
        </p:spPr>
        <p:txBody>
          <a:bodyPr wrap="square">
            <a:spAutoFit/>
          </a:bodyPr>
          <a:lstStyle/>
          <a:p>
            <a:pPr algn="l"/>
            <a:r>
              <a:rPr sz="3000" b="1" i="0">
                <a:solidFill>
                  <a:srgbClr val="FFFFFF"/>
                </a:solidFill>
                <a:latin typeface="Calibri"/>
              </a:rPr>
              <a:t>CO3 — Tree-Based Models &amp; Ensemble Methods</a:t>
            </a:r>
          </a:p>
        </p:txBody>
      </p:sp>
      <p:sp>
        <p:nvSpPr>
          <p:cNvPr id="6" name="TextBox 5"/>
          <p:cNvSpPr txBox="1"/>
          <p:nvPr/>
        </p:nvSpPr>
        <p:spPr>
          <a:xfrm>
            <a:off x="365760" y="914400"/>
            <a:ext cx="11457432" cy="457200"/>
          </a:xfrm>
          <a:prstGeom prst="rect">
            <a:avLst/>
          </a:prstGeom>
          <a:noFill/>
        </p:spPr>
        <p:txBody>
          <a:bodyPr wrap="square">
            <a:spAutoFit/>
          </a:bodyPr>
          <a:lstStyle/>
          <a:p>
            <a:pPr algn="l"/>
            <a:r>
              <a:rPr sz="1300" b="0" i="1">
                <a:solidFill>
                  <a:srgbClr val="F5A623"/>
                </a:solidFill>
                <a:latin typeface="Calibri"/>
              </a:rPr>
              <a:t>From a single decision tree to a high-accuracy boosting model</a:t>
            </a:r>
          </a:p>
        </p:txBody>
      </p:sp>
      <p:sp>
        <p:nvSpPr>
          <p:cNvPr id="7" name="TextBox 6"/>
          <p:cNvSpPr txBox="1"/>
          <p:nvPr/>
        </p:nvSpPr>
        <p:spPr>
          <a:xfrm>
            <a:off x="320040" y="1572768"/>
            <a:ext cx="6858000" cy="384048"/>
          </a:xfrm>
          <a:prstGeom prst="rect">
            <a:avLst/>
          </a:prstGeom>
          <a:noFill/>
        </p:spPr>
        <p:txBody>
          <a:bodyPr wrap="square">
            <a:spAutoFit/>
          </a:bodyPr>
          <a:lstStyle/>
          <a:p>
            <a:pPr algn="l"/>
            <a:r>
              <a:rPr sz="1400" b="1" i="0">
                <a:solidFill>
                  <a:srgbClr val="00B4D8"/>
                </a:solidFill>
                <a:latin typeface="Calibri"/>
              </a:rPr>
              <a:t>How the Models Improve Step by Step</a:t>
            </a:r>
          </a:p>
        </p:txBody>
      </p:sp>
      <p:sp>
        <p:nvSpPr>
          <p:cNvPr id="8" name="Rectangle 7"/>
          <p:cNvSpPr/>
          <p:nvPr/>
        </p:nvSpPr>
        <p:spPr>
          <a:xfrm>
            <a:off x="320040" y="1965960"/>
            <a:ext cx="6858000" cy="36576"/>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365760" y="2084831"/>
            <a:ext cx="64008" cy="685800"/>
          </a:xfrm>
          <a:prstGeom prst="rect">
            <a:avLst/>
          </a:prstGeom>
          <a:solidFill>
            <a:srgbClr val="D0D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48640" y="2084831"/>
            <a:ext cx="2286000" cy="347472"/>
          </a:xfrm>
          <a:prstGeom prst="rect">
            <a:avLst/>
          </a:prstGeom>
          <a:noFill/>
        </p:spPr>
        <p:txBody>
          <a:bodyPr wrap="square">
            <a:spAutoFit/>
          </a:bodyPr>
          <a:lstStyle/>
          <a:p>
            <a:pPr algn="l"/>
            <a:r>
              <a:rPr sz="1200" b="1" i="0">
                <a:solidFill>
                  <a:srgbClr val="D0D8E8"/>
                </a:solidFill>
                <a:latin typeface="Calibri"/>
              </a:rPr>
              <a:t>Decision Tree</a:t>
            </a:r>
          </a:p>
        </p:txBody>
      </p:sp>
      <p:sp>
        <p:nvSpPr>
          <p:cNvPr id="11" name="TextBox 10"/>
          <p:cNvSpPr txBox="1"/>
          <p:nvPr/>
        </p:nvSpPr>
        <p:spPr>
          <a:xfrm>
            <a:off x="548640" y="2414015"/>
            <a:ext cx="6400800" cy="411480"/>
          </a:xfrm>
          <a:prstGeom prst="rect">
            <a:avLst/>
          </a:prstGeom>
          <a:noFill/>
        </p:spPr>
        <p:txBody>
          <a:bodyPr wrap="square">
            <a:spAutoFit/>
          </a:bodyPr>
          <a:lstStyle/>
          <a:p>
            <a:pPr algn="l"/>
            <a:r>
              <a:rPr sz="1050" b="0" i="0">
                <a:solidFill>
                  <a:srgbClr val="F0F4FF"/>
                </a:solidFill>
                <a:latin typeface="Calibri"/>
              </a:rPr>
              <a:t>Asks yes/no questions about features to split data into severity groups. Simple and explainable.</a:t>
            </a:r>
          </a:p>
        </p:txBody>
      </p:sp>
      <p:sp>
        <p:nvSpPr>
          <p:cNvPr id="12" name="Rectangle 11"/>
          <p:cNvSpPr/>
          <p:nvPr/>
        </p:nvSpPr>
        <p:spPr>
          <a:xfrm>
            <a:off x="365760" y="3072383"/>
            <a:ext cx="64008" cy="685800"/>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48640" y="3072383"/>
            <a:ext cx="2286000" cy="347472"/>
          </a:xfrm>
          <a:prstGeom prst="rect">
            <a:avLst/>
          </a:prstGeom>
          <a:noFill/>
        </p:spPr>
        <p:txBody>
          <a:bodyPr wrap="square">
            <a:spAutoFit/>
          </a:bodyPr>
          <a:lstStyle/>
          <a:p>
            <a:pPr algn="l"/>
            <a:r>
              <a:rPr sz="1200" b="1" i="0">
                <a:solidFill>
                  <a:srgbClr val="F5A623"/>
                </a:solidFill>
                <a:latin typeface="Calibri"/>
              </a:rPr>
              <a:t>Random Forest</a:t>
            </a:r>
          </a:p>
        </p:txBody>
      </p:sp>
      <p:sp>
        <p:nvSpPr>
          <p:cNvPr id="14" name="TextBox 13"/>
          <p:cNvSpPr txBox="1"/>
          <p:nvPr/>
        </p:nvSpPr>
        <p:spPr>
          <a:xfrm>
            <a:off x="548640" y="3401567"/>
            <a:ext cx="6400800" cy="411480"/>
          </a:xfrm>
          <a:prstGeom prst="rect">
            <a:avLst/>
          </a:prstGeom>
          <a:noFill/>
        </p:spPr>
        <p:txBody>
          <a:bodyPr wrap="square">
            <a:spAutoFit/>
          </a:bodyPr>
          <a:lstStyle/>
          <a:p>
            <a:pPr algn="l"/>
            <a:r>
              <a:rPr sz="1050" b="0" i="0">
                <a:solidFill>
                  <a:srgbClr val="F0F4FF"/>
                </a:solidFill>
                <a:latin typeface="Calibri"/>
              </a:rPr>
              <a:t>Builds 100 different trees, each using a random subset of data. Averages all answers to reduce errors.</a:t>
            </a:r>
          </a:p>
        </p:txBody>
      </p:sp>
      <p:sp>
        <p:nvSpPr>
          <p:cNvPr id="15" name="Rectangle 14"/>
          <p:cNvSpPr/>
          <p:nvPr/>
        </p:nvSpPr>
        <p:spPr>
          <a:xfrm>
            <a:off x="365760" y="4059935"/>
            <a:ext cx="64008" cy="685800"/>
          </a:xfrm>
          <a:prstGeom prst="rect">
            <a:avLst/>
          </a:prstGeom>
          <a:solidFill>
            <a:srgbClr val="E0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48640" y="4059935"/>
            <a:ext cx="2286000" cy="347472"/>
          </a:xfrm>
          <a:prstGeom prst="rect">
            <a:avLst/>
          </a:prstGeom>
          <a:noFill/>
        </p:spPr>
        <p:txBody>
          <a:bodyPr wrap="square">
            <a:spAutoFit/>
          </a:bodyPr>
          <a:lstStyle/>
          <a:p>
            <a:pPr algn="l"/>
            <a:r>
              <a:rPr sz="1200" b="1" i="0">
                <a:solidFill>
                  <a:srgbClr val="E02B2B"/>
                </a:solidFill>
                <a:latin typeface="Calibri"/>
              </a:rPr>
              <a:t>XGBoost</a:t>
            </a:r>
          </a:p>
        </p:txBody>
      </p:sp>
      <p:sp>
        <p:nvSpPr>
          <p:cNvPr id="17" name="TextBox 16"/>
          <p:cNvSpPr txBox="1"/>
          <p:nvPr/>
        </p:nvSpPr>
        <p:spPr>
          <a:xfrm>
            <a:off x="548640" y="4389119"/>
            <a:ext cx="6400800" cy="411480"/>
          </a:xfrm>
          <a:prstGeom prst="rect">
            <a:avLst/>
          </a:prstGeom>
          <a:noFill/>
        </p:spPr>
        <p:txBody>
          <a:bodyPr wrap="square">
            <a:spAutoFit/>
          </a:bodyPr>
          <a:lstStyle/>
          <a:p>
            <a:pPr algn="l"/>
            <a:r>
              <a:rPr sz="1050" b="0" i="0">
                <a:solidFill>
                  <a:srgbClr val="F0F4FF"/>
                </a:solidFill>
                <a:latin typeface="Calibri"/>
              </a:rPr>
              <a:t>Builds trees one after another — each new tree learns from the mistakes of the previous one.</a:t>
            </a:r>
          </a:p>
        </p:txBody>
      </p:sp>
      <p:sp>
        <p:nvSpPr>
          <p:cNvPr id="18" name="Rectangle 17"/>
          <p:cNvSpPr/>
          <p:nvPr/>
        </p:nvSpPr>
        <p:spPr>
          <a:xfrm>
            <a:off x="365760" y="5047487"/>
            <a:ext cx="64008" cy="68580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48640" y="5047487"/>
            <a:ext cx="2286000" cy="347472"/>
          </a:xfrm>
          <a:prstGeom prst="rect">
            <a:avLst/>
          </a:prstGeom>
          <a:noFill/>
        </p:spPr>
        <p:txBody>
          <a:bodyPr wrap="square">
            <a:spAutoFit/>
          </a:bodyPr>
          <a:lstStyle/>
          <a:p>
            <a:pPr algn="l"/>
            <a:r>
              <a:rPr sz="1200" b="1" i="0">
                <a:solidFill>
                  <a:srgbClr val="00B4D8"/>
                </a:solidFill>
                <a:latin typeface="Calibri"/>
              </a:rPr>
              <a:t>LightGBM (Best Model)</a:t>
            </a:r>
          </a:p>
        </p:txBody>
      </p:sp>
      <p:sp>
        <p:nvSpPr>
          <p:cNvPr id="20" name="TextBox 19"/>
          <p:cNvSpPr txBox="1"/>
          <p:nvPr/>
        </p:nvSpPr>
        <p:spPr>
          <a:xfrm>
            <a:off x="548640" y="5376671"/>
            <a:ext cx="6400800" cy="411480"/>
          </a:xfrm>
          <a:prstGeom prst="rect">
            <a:avLst/>
          </a:prstGeom>
          <a:noFill/>
        </p:spPr>
        <p:txBody>
          <a:bodyPr wrap="square">
            <a:spAutoFit/>
          </a:bodyPr>
          <a:lstStyle/>
          <a:p>
            <a:pPr algn="l"/>
            <a:r>
              <a:rPr sz="1050" b="0" i="0">
                <a:solidFill>
                  <a:srgbClr val="F0F4FF"/>
                </a:solidFill>
                <a:latin typeface="Calibri"/>
              </a:rPr>
              <a:t>Same boosting idea as XGBoost but faster and smarter. Grows leaves instead of full levels. Achieved 91.8% accuracy.</a:t>
            </a:r>
          </a:p>
        </p:txBody>
      </p:sp>
      <p:sp>
        <p:nvSpPr>
          <p:cNvPr id="21" name="TextBox 20"/>
          <p:cNvSpPr txBox="1"/>
          <p:nvPr/>
        </p:nvSpPr>
        <p:spPr>
          <a:xfrm>
            <a:off x="7498079" y="1572768"/>
            <a:ext cx="4389120" cy="384048"/>
          </a:xfrm>
          <a:prstGeom prst="rect">
            <a:avLst/>
          </a:prstGeom>
          <a:noFill/>
        </p:spPr>
        <p:txBody>
          <a:bodyPr wrap="square">
            <a:spAutoFit/>
          </a:bodyPr>
          <a:lstStyle/>
          <a:p>
            <a:pPr algn="l"/>
            <a:r>
              <a:rPr sz="1400" b="1" i="0">
                <a:solidFill>
                  <a:srgbClr val="E02B2B"/>
                </a:solidFill>
                <a:latin typeface="Calibri"/>
              </a:rPr>
              <a:t>Key Concepts Used</a:t>
            </a:r>
          </a:p>
        </p:txBody>
      </p:sp>
      <p:sp>
        <p:nvSpPr>
          <p:cNvPr id="22" name="Rectangle 21"/>
          <p:cNvSpPr/>
          <p:nvPr/>
        </p:nvSpPr>
        <p:spPr>
          <a:xfrm>
            <a:off x="7498079" y="1965960"/>
            <a:ext cx="4389120" cy="36576"/>
          </a:xfrm>
          <a:prstGeom prst="rect">
            <a:avLst/>
          </a:prstGeom>
          <a:solidFill>
            <a:srgbClr val="E0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498079" y="2084831"/>
            <a:ext cx="4389120" cy="329184"/>
          </a:xfrm>
          <a:prstGeom prst="rect">
            <a:avLst/>
          </a:prstGeom>
          <a:noFill/>
        </p:spPr>
        <p:txBody>
          <a:bodyPr wrap="square">
            <a:spAutoFit/>
          </a:bodyPr>
          <a:lstStyle/>
          <a:p>
            <a:pPr algn="l"/>
            <a:r>
              <a:rPr sz="1150" b="1" i="0">
                <a:solidFill>
                  <a:srgbClr val="F5A623"/>
                </a:solidFill>
                <a:latin typeface="Calibri"/>
              </a:rPr>
              <a:t>Gini vs Entropy</a:t>
            </a:r>
          </a:p>
        </p:txBody>
      </p:sp>
      <p:sp>
        <p:nvSpPr>
          <p:cNvPr id="24" name="TextBox 23"/>
          <p:cNvSpPr txBox="1"/>
          <p:nvPr/>
        </p:nvSpPr>
        <p:spPr>
          <a:xfrm>
            <a:off x="7498079" y="2386583"/>
            <a:ext cx="4389120" cy="475488"/>
          </a:xfrm>
          <a:prstGeom prst="rect">
            <a:avLst/>
          </a:prstGeom>
          <a:noFill/>
        </p:spPr>
        <p:txBody>
          <a:bodyPr wrap="square">
            <a:spAutoFit/>
          </a:bodyPr>
          <a:lstStyle/>
          <a:p>
            <a:pPr algn="l"/>
            <a:r>
              <a:rPr sz="1000" b="0" i="0">
                <a:solidFill>
                  <a:srgbClr val="D0D8E8"/>
                </a:solidFill>
                <a:latin typeface="Calibri"/>
              </a:rPr>
              <a:t>Two ways to decide where to split a tree node. Gini is faster; Entropy is slightly more detailed.</a:t>
            </a:r>
          </a:p>
        </p:txBody>
      </p:sp>
      <p:sp>
        <p:nvSpPr>
          <p:cNvPr id="25" name="TextBox 24"/>
          <p:cNvSpPr txBox="1"/>
          <p:nvPr/>
        </p:nvSpPr>
        <p:spPr>
          <a:xfrm>
            <a:off x="7498079" y="2999231"/>
            <a:ext cx="4389120" cy="329184"/>
          </a:xfrm>
          <a:prstGeom prst="rect">
            <a:avLst/>
          </a:prstGeom>
          <a:noFill/>
        </p:spPr>
        <p:txBody>
          <a:bodyPr wrap="square">
            <a:spAutoFit/>
          </a:bodyPr>
          <a:lstStyle/>
          <a:p>
            <a:pPr algn="l"/>
            <a:r>
              <a:rPr sz="1150" b="1" i="0">
                <a:solidFill>
                  <a:srgbClr val="F5A623"/>
                </a:solidFill>
                <a:latin typeface="Calibri"/>
              </a:rPr>
              <a:t>Bagging</a:t>
            </a:r>
          </a:p>
        </p:txBody>
      </p:sp>
      <p:sp>
        <p:nvSpPr>
          <p:cNvPr id="26" name="TextBox 25"/>
          <p:cNvSpPr txBox="1"/>
          <p:nvPr/>
        </p:nvSpPr>
        <p:spPr>
          <a:xfrm>
            <a:off x="7498079" y="3300983"/>
            <a:ext cx="4389120" cy="475488"/>
          </a:xfrm>
          <a:prstGeom prst="rect">
            <a:avLst/>
          </a:prstGeom>
          <a:noFill/>
        </p:spPr>
        <p:txBody>
          <a:bodyPr wrap="square">
            <a:spAutoFit/>
          </a:bodyPr>
          <a:lstStyle/>
          <a:p>
            <a:pPr algn="l"/>
            <a:r>
              <a:rPr sz="1000" b="0" i="0">
                <a:solidFill>
                  <a:srgbClr val="D0D8E8"/>
                </a:solidFill>
                <a:latin typeface="Calibri"/>
              </a:rPr>
              <a:t>Each tree in Random Forest is trained on a different random sample — reduces errors from any one bad split.</a:t>
            </a:r>
          </a:p>
        </p:txBody>
      </p:sp>
      <p:sp>
        <p:nvSpPr>
          <p:cNvPr id="27" name="TextBox 26"/>
          <p:cNvSpPr txBox="1"/>
          <p:nvPr/>
        </p:nvSpPr>
        <p:spPr>
          <a:xfrm>
            <a:off x="7498079" y="3913631"/>
            <a:ext cx="4389120" cy="329184"/>
          </a:xfrm>
          <a:prstGeom prst="rect">
            <a:avLst/>
          </a:prstGeom>
          <a:noFill/>
        </p:spPr>
        <p:txBody>
          <a:bodyPr wrap="square">
            <a:spAutoFit/>
          </a:bodyPr>
          <a:lstStyle/>
          <a:p>
            <a:pPr algn="l"/>
            <a:r>
              <a:rPr sz="1150" b="1" i="0">
                <a:solidFill>
                  <a:srgbClr val="F5A623"/>
                </a:solidFill>
                <a:latin typeface="Calibri"/>
              </a:rPr>
              <a:t>Boosting</a:t>
            </a:r>
          </a:p>
        </p:txBody>
      </p:sp>
      <p:sp>
        <p:nvSpPr>
          <p:cNvPr id="28" name="TextBox 27"/>
          <p:cNvSpPr txBox="1"/>
          <p:nvPr/>
        </p:nvSpPr>
        <p:spPr>
          <a:xfrm>
            <a:off x="7498079" y="4215383"/>
            <a:ext cx="4389120" cy="475488"/>
          </a:xfrm>
          <a:prstGeom prst="rect">
            <a:avLst/>
          </a:prstGeom>
          <a:noFill/>
        </p:spPr>
        <p:txBody>
          <a:bodyPr wrap="square">
            <a:spAutoFit/>
          </a:bodyPr>
          <a:lstStyle/>
          <a:p>
            <a:pPr algn="l"/>
            <a:r>
              <a:rPr sz="1000" b="0" i="0">
                <a:solidFill>
                  <a:srgbClr val="D0D8E8"/>
                </a:solidFill>
                <a:latin typeface="Calibri"/>
              </a:rPr>
              <a:t>Each new model focuses on cases the previous model got wrong — steadily improves accuracy.</a:t>
            </a:r>
          </a:p>
        </p:txBody>
      </p:sp>
      <p:sp>
        <p:nvSpPr>
          <p:cNvPr id="29" name="TextBox 28"/>
          <p:cNvSpPr txBox="1"/>
          <p:nvPr/>
        </p:nvSpPr>
        <p:spPr>
          <a:xfrm>
            <a:off x="7498079" y="4828031"/>
            <a:ext cx="4389120" cy="329184"/>
          </a:xfrm>
          <a:prstGeom prst="rect">
            <a:avLst/>
          </a:prstGeom>
          <a:noFill/>
        </p:spPr>
        <p:txBody>
          <a:bodyPr wrap="square">
            <a:spAutoFit/>
          </a:bodyPr>
          <a:lstStyle/>
          <a:p>
            <a:pPr algn="l"/>
            <a:r>
              <a:rPr sz="1150" b="1" i="0">
                <a:solidFill>
                  <a:srgbClr val="F5A623"/>
                </a:solidFill>
                <a:latin typeface="Calibri"/>
              </a:rPr>
              <a:t>Feature Importance</a:t>
            </a:r>
          </a:p>
        </p:txBody>
      </p:sp>
      <p:sp>
        <p:nvSpPr>
          <p:cNvPr id="30" name="TextBox 29"/>
          <p:cNvSpPr txBox="1"/>
          <p:nvPr/>
        </p:nvSpPr>
        <p:spPr>
          <a:xfrm>
            <a:off x="7498079" y="5129783"/>
            <a:ext cx="4389120" cy="475488"/>
          </a:xfrm>
          <a:prstGeom prst="rect">
            <a:avLst/>
          </a:prstGeom>
          <a:noFill/>
        </p:spPr>
        <p:txBody>
          <a:bodyPr wrap="square">
            <a:spAutoFit/>
          </a:bodyPr>
          <a:lstStyle/>
          <a:p>
            <a:pPr algn="l"/>
            <a:r>
              <a:rPr sz="1000" b="0" i="0">
                <a:solidFill>
                  <a:srgbClr val="D0D8E8"/>
                </a:solidFill>
                <a:latin typeface="Calibri"/>
              </a:rPr>
              <a:t>The model tells us which inputs matter most for predicting severity.</a:t>
            </a:r>
          </a:p>
        </p:txBody>
      </p:sp>
      <p:sp>
        <p:nvSpPr>
          <p:cNvPr id="38" name="Oval 37"/>
          <p:cNvSpPr/>
          <p:nvPr/>
        </p:nvSpPr>
        <p:spPr>
          <a:xfrm>
            <a:off x="11686032" y="6473952"/>
            <a:ext cx="256032" cy="256032"/>
          </a:xfrm>
          <a:prstGeom prst="ellipse">
            <a:avLst/>
          </a:prstGeom>
          <a:solidFill>
            <a:srgbClr val="E0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11676888" y="6446520"/>
            <a:ext cx="274320" cy="274320"/>
          </a:xfrm>
          <a:prstGeom prst="rect">
            <a:avLst/>
          </a:prstGeom>
          <a:noFill/>
        </p:spPr>
        <p:txBody>
          <a:bodyPr wrap="square">
            <a:spAutoFit/>
          </a:bodyPr>
          <a:lstStyle/>
          <a:p>
            <a:pPr algn="ctr"/>
            <a:r>
              <a:rPr sz="900" b="1" i="0">
                <a:solidFill>
                  <a:srgbClr val="FFFFFF"/>
                </a:solidFill>
                <a:latin typeface="Calibri"/>
              </a:rPr>
              <a:t>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41732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417320"/>
            <a:ext cx="12188952" cy="50292"/>
          </a:xfrm>
          <a:prstGeom prst="rect">
            <a:avLst/>
          </a:prstGeom>
          <a:solidFill>
            <a:srgbClr val="E0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164592"/>
            <a:ext cx="11457432" cy="804672"/>
          </a:xfrm>
          <a:prstGeom prst="rect">
            <a:avLst/>
          </a:prstGeom>
          <a:noFill/>
        </p:spPr>
        <p:txBody>
          <a:bodyPr wrap="square">
            <a:spAutoFit/>
          </a:bodyPr>
          <a:lstStyle/>
          <a:p>
            <a:pPr algn="l"/>
            <a:r>
              <a:rPr sz="3000" b="1" i="0">
                <a:solidFill>
                  <a:srgbClr val="FFFFFF"/>
                </a:solidFill>
                <a:latin typeface="Calibri"/>
              </a:rPr>
              <a:t>CO4 — Unsupervised Learning &amp; Accident Hotspots</a:t>
            </a:r>
          </a:p>
        </p:txBody>
      </p:sp>
      <p:sp>
        <p:nvSpPr>
          <p:cNvPr id="6" name="TextBox 5"/>
          <p:cNvSpPr txBox="1"/>
          <p:nvPr/>
        </p:nvSpPr>
        <p:spPr>
          <a:xfrm>
            <a:off x="365760" y="914400"/>
            <a:ext cx="11457432" cy="457200"/>
          </a:xfrm>
          <a:prstGeom prst="rect">
            <a:avLst/>
          </a:prstGeom>
          <a:noFill/>
        </p:spPr>
        <p:txBody>
          <a:bodyPr wrap="square">
            <a:spAutoFit/>
          </a:bodyPr>
          <a:lstStyle/>
          <a:p>
            <a:pPr algn="l"/>
            <a:r>
              <a:rPr sz="1300" b="0" i="1">
                <a:solidFill>
                  <a:srgbClr val="F5A623"/>
                </a:solidFill>
                <a:latin typeface="Calibri"/>
              </a:rPr>
              <a:t>Finding hidden patterns in accident data without labels</a:t>
            </a:r>
          </a:p>
        </p:txBody>
      </p:sp>
      <p:sp>
        <p:nvSpPr>
          <p:cNvPr id="7" name="Rectangle 6"/>
          <p:cNvSpPr/>
          <p:nvPr/>
        </p:nvSpPr>
        <p:spPr>
          <a:xfrm>
            <a:off x="320040" y="1627632"/>
            <a:ext cx="2743200" cy="4160520"/>
          </a:xfrm>
          <a:prstGeom prst="rect">
            <a:avLst/>
          </a:prstGeom>
          <a:solidFill>
            <a:srgbClr val="1E3A5F"/>
          </a:solidFill>
          <a:ln w="1270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320040" y="1627632"/>
            <a:ext cx="2743200" cy="73152"/>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29768" y="1737360"/>
            <a:ext cx="2523744" cy="438912"/>
          </a:xfrm>
          <a:prstGeom prst="rect">
            <a:avLst/>
          </a:prstGeom>
          <a:noFill/>
        </p:spPr>
        <p:txBody>
          <a:bodyPr wrap="square">
            <a:spAutoFit/>
          </a:bodyPr>
          <a:lstStyle/>
          <a:p>
            <a:pPr algn="l"/>
            <a:r>
              <a:rPr sz="1250" b="1" i="0">
                <a:solidFill>
                  <a:srgbClr val="00B4D8"/>
                </a:solidFill>
                <a:latin typeface="Calibri"/>
              </a:rPr>
              <a:t>K-Means Clustering</a:t>
            </a:r>
          </a:p>
        </p:txBody>
      </p:sp>
      <p:sp>
        <p:nvSpPr>
          <p:cNvPr id="10" name="Rectangle 9"/>
          <p:cNvSpPr/>
          <p:nvPr/>
        </p:nvSpPr>
        <p:spPr>
          <a:xfrm>
            <a:off x="429768" y="2212848"/>
            <a:ext cx="2523744" cy="2286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48056" y="2304288"/>
            <a:ext cx="2487168" cy="694944"/>
          </a:xfrm>
          <a:prstGeom prst="rect">
            <a:avLst/>
          </a:prstGeom>
          <a:noFill/>
        </p:spPr>
        <p:txBody>
          <a:bodyPr wrap="square">
            <a:spAutoFit/>
          </a:bodyPr>
          <a:lstStyle/>
          <a:p>
            <a:pPr algn="l"/>
            <a:r>
              <a:rPr sz="1050" b="0" i="0">
                <a:solidFill>
                  <a:srgbClr val="F0F4FF"/>
                </a:solidFill>
                <a:latin typeface="Calibri"/>
              </a:rPr>
              <a:t>  Groups accident locations into geographic risk zones.</a:t>
            </a:r>
          </a:p>
        </p:txBody>
      </p:sp>
      <p:sp>
        <p:nvSpPr>
          <p:cNvPr id="12" name="TextBox 11"/>
          <p:cNvSpPr txBox="1"/>
          <p:nvPr/>
        </p:nvSpPr>
        <p:spPr>
          <a:xfrm>
            <a:off x="448056" y="3063240"/>
            <a:ext cx="2487168" cy="694944"/>
          </a:xfrm>
          <a:prstGeom prst="rect">
            <a:avLst/>
          </a:prstGeom>
          <a:noFill/>
        </p:spPr>
        <p:txBody>
          <a:bodyPr wrap="square">
            <a:spAutoFit/>
          </a:bodyPr>
          <a:lstStyle/>
          <a:p>
            <a:pPr algn="l"/>
            <a:r>
              <a:rPr sz="1050" b="0" i="0">
                <a:solidFill>
                  <a:srgbClr val="F0F4FF"/>
                </a:solidFill>
                <a:latin typeface="Calibri"/>
              </a:rPr>
              <a:t>  Identified 5 major accident-prone regions across the US.</a:t>
            </a:r>
          </a:p>
        </p:txBody>
      </p:sp>
      <p:sp>
        <p:nvSpPr>
          <p:cNvPr id="13" name="TextBox 12"/>
          <p:cNvSpPr txBox="1"/>
          <p:nvPr/>
        </p:nvSpPr>
        <p:spPr>
          <a:xfrm>
            <a:off x="448056" y="3822192"/>
            <a:ext cx="2487168" cy="694944"/>
          </a:xfrm>
          <a:prstGeom prst="rect">
            <a:avLst/>
          </a:prstGeom>
          <a:noFill/>
        </p:spPr>
        <p:txBody>
          <a:bodyPr wrap="square">
            <a:spAutoFit/>
          </a:bodyPr>
          <a:lstStyle/>
          <a:p>
            <a:pPr algn="l"/>
            <a:r>
              <a:rPr sz="1050" b="0" i="0">
                <a:solidFill>
                  <a:srgbClr val="F0F4FF"/>
                </a:solidFill>
                <a:latin typeface="Calibri"/>
              </a:rPr>
              <a:t>  Used the elbow method to find the right number of clusters.</a:t>
            </a:r>
          </a:p>
        </p:txBody>
      </p:sp>
      <p:sp>
        <p:nvSpPr>
          <p:cNvPr id="14" name="TextBox 13"/>
          <p:cNvSpPr txBox="1"/>
          <p:nvPr/>
        </p:nvSpPr>
        <p:spPr>
          <a:xfrm>
            <a:off x="448056" y="4581144"/>
            <a:ext cx="2487168" cy="694944"/>
          </a:xfrm>
          <a:prstGeom prst="rect">
            <a:avLst/>
          </a:prstGeom>
          <a:noFill/>
        </p:spPr>
        <p:txBody>
          <a:bodyPr wrap="square">
            <a:spAutoFit/>
          </a:bodyPr>
          <a:lstStyle/>
          <a:p>
            <a:pPr algn="l"/>
            <a:r>
              <a:rPr sz="1050" b="0" i="0">
                <a:solidFill>
                  <a:srgbClr val="F0F4FF"/>
                </a:solidFill>
                <a:latin typeface="Calibri"/>
              </a:rPr>
              <a:t>  Zones range from mild (West Coast) to high risk (Northeast).</a:t>
            </a:r>
          </a:p>
        </p:txBody>
      </p:sp>
      <p:sp>
        <p:nvSpPr>
          <p:cNvPr id="15" name="Rectangle 14"/>
          <p:cNvSpPr/>
          <p:nvPr/>
        </p:nvSpPr>
        <p:spPr>
          <a:xfrm>
            <a:off x="3291840" y="1627632"/>
            <a:ext cx="2743200" cy="4160520"/>
          </a:xfrm>
          <a:prstGeom prst="rect">
            <a:avLst/>
          </a:prstGeom>
          <a:solidFill>
            <a:srgbClr val="1E3A5F"/>
          </a:solidFill>
          <a:ln w="12700">
            <a:solidFill>
              <a:srgbClr val="F5A62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3291840" y="1627632"/>
            <a:ext cx="2743200" cy="73152"/>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401568" y="1737360"/>
            <a:ext cx="2523744" cy="438912"/>
          </a:xfrm>
          <a:prstGeom prst="rect">
            <a:avLst/>
          </a:prstGeom>
          <a:noFill/>
        </p:spPr>
        <p:txBody>
          <a:bodyPr wrap="square">
            <a:spAutoFit/>
          </a:bodyPr>
          <a:lstStyle/>
          <a:p>
            <a:pPr algn="l"/>
            <a:r>
              <a:rPr sz="1250" b="1" i="0">
                <a:solidFill>
                  <a:srgbClr val="F5A623"/>
                </a:solidFill>
                <a:latin typeface="Calibri"/>
              </a:rPr>
              <a:t>DBSCAN</a:t>
            </a:r>
          </a:p>
        </p:txBody>
      </p:sp>
      <p:sp>
        <p:nvSpPr>
          <p:cNvPr id="18" name="Rectangle 17"/>
          <p:cNvSpPr/>
          <p:nvPr/>
        </p:nvSpPr>
        <p:spPr>
          <a:xfrm>
            <a:off x="3401568" y="2212848"/>
            <a:ext cx="2523744" cy="22860"/>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3419856" y="2304288"/>
            <a:ext cx="2487168" cy="694944"/>
          </a:xfrm>
          <a:prstGeom prst="rect">
            <a:avLst/>
          </a:prstGeom>
          <a:noFill/>
        </p:spPr>
        <p:txBody>
          <a:bodyPr wrap="square">
            <a:spAutoFit/>
          </a:bodyPr>
          <a:lstStyle/>
          <a:p>
            <a:pPr algn="l"/>
            <a:r>
              <a:rPr sz="1050" b="0" i="0">
                <a:solidFill>
                  <a:srgbClr val="F0F4FF"/>
                </a:solidFill>
                <a:latin typeface="Calibri"/>
              </a:rPr>
              <a:t>  Finds clusters of any shape — not just round blobs.</a:t>
            </a:r>
          </a:p>
        </p:txBody>
      </p:sp>
      <p:sp>
        <p:nvSpPr>
          <p:cNvPr id="20" name="TextBox 19"/>
          <p:cNvSpPr txBox="1"/>
          <p:nvPr/>
        </p:nvSpPr>
        <p:spPr>
          <a:xfrm>
            <a:off x="3419856" y="3063240"/>
            <a:ext cx="2487168" cy="694944"/>
          </a:xfrm>
          <a:prstGeom prst="rect">
            <a:avLst/>
          </a:prstGeom>
          <a:noFill/>
        </p:spPr>
        <p:txBody>
          <a:bodyPr wrap="square">
            <a:spAutoFit/>
          </a:bodyPr>
          <a:lstStyle/>
          <a:p>
            <a:pPr algn="l"/>
            <a:r>
              <a:rPr sz="1050" b="0" i="0">
                <a:solidFill>
                  <a:srgbClr val="F0F4FF"/>
                </a:solidFill>
                <a:latin typeface="Calibri"/>
              </a:rPr>
              <a:t>  Detected 18 dense accident corridors along highways.</a:t>
            </a:r>
          </a:p>
        </p:txBody>
      </p:sp>
      <p:sp>
        <p:nvSpPr>
          <p:cNvPr id="21" name="TextBox 20"/>
          <p:cNvSpPr txBox="1"/>
          <p:nvPr/>
        </p:nvSpPr>
        <p:spPr>
          <a:xfrm>
            <a:off x="3419856" y="3822192"/>
            <a:ext cx="2487168" cy="694944"/>
          </a:xfrm>
          <a:prstGeom prst="rect">
            <a:avLst/>
          </a:prstGeom>
          <a:noFill/>
        </p:spPr>
        <p:txBody>
          <a:bodyPr wrap="square">
            <a:spAutoFit/>
          </a:bodyPr>
          <a:lstStyle/>
          <a:p>
            <a:pPr algn="l"/>
            <a:r>
              <a:rPr sz="1050" b="0" i="0">
                <a:solidFill>
                  <a:srgbClr val="F0F4FF"/>
                </a:solidFill>
                <a:latin typeface="Calibri"/>
              </a:rPr>
              <a:t>  Also filtered out isolated, random incidents as noise.</a:t>
            </a:r>
          </a:p>
        </p:txBody>
      </p:sp>
      <p:sp>
        <p:nvSpPr>
          <p:cNvPr id="22" name="TextBox 21"/>
          <p:cNvSpPr txBox="1"/>
          <p:nvPr/>
        </p:nvSpPr>
        <p:spPr>
          <a:xfrm>
            <a:off x="3419856" y="4581144"/>
            <a:ext cx="2487168" cy="694944"/>
          </a:xfrm>
          <a:prstGeom prst="rect">
            <a:avLst/>
          </a:prstGeom>
          <a:noFill/>
        </p:spPr>
        <p:txBody>
          <a:bodyPr wrap="square">
            <a:spAutoFit/>
          </a:bodyPr>
          <a:lstStyle/>
          <a:p>
            <a:pPr algn="l"/>
            <a:r>
              <a:rPr sz="1050" b="0" i="0">
                <a:solidFill>
                  <a:srgbClr val="F0F4FF"/>
                </a:solidFill>
                <a:latin typeface="Calibri"/>
              </a:rPr>
              <a:t>  Captures the real shape of roads better than K-Means.</a:t>
            </a:r>
          </a:p>
        </p:txBody>
      </p:sp>
      <p:sp>
        <p:nvSpPr>
          <p:cNvPr id="23" name="Rectangle 22"/>
          <p:cNvSpPr/>
          <p:nvPr/>
        </p:nvSpPr>
        <p:spPr>
          <a:xfrm>
            <a:off x="6263640" y="1627632"/>
            <a:ext cx="2743200" cy="4160520"/>
          </a:xfrm>
          <a:prstGeom prst="rect">
            <a:avLst/>
          </a:prstGeom>
          <a:solidFill>
            <a:srgbClr val="1E3A5F"/>
          </a:solidFill>
          <a:ln w="12700">
            <a:solidFill>
              <a:srgbClr val="E02B2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6263640" y="1627632"/>
            <a:ext cx="2743200" cy="73152"/>
          </a:xfrm>
          <a:prstGeom prst="rect">
            <a:avLst/>
          </a:prstGeom>
          <a:solidFill>
            <a:srgbClr val="E0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373368" y="1737360"/>
            <a:ext cx="2523744" cy="438912"/>
          </a:xfrm>
          <a:prstGeom prst="rect">
            <a:avLst/>
          </a:prstGeom>
          <a:noFill/>
        </p:spPr>
        <p:txBody>
          <a:bodyPr wrap="square">
            <a:spAutoFit/>
          </a:bodyPr>
          <a:lstStyle/>
          <a:p>
            <a:pPr algn="l"/>
            <a:r>
              <a:rPr sz="1250" b="1" i="0">
                <a:solidFill>
                  <a:srgbClr val="E02B2B"/>
                </a:solidFill>
                <a:latin typeface="Calibri"/>
              </a:rPr>
              <a:t>PCA &amp; t-SNE</a:t>
            </a:r>
          </a:p>
        </p:txBody>
      </p:sp>
      <p:sp>
        <p:nvSpPr>
          <p:cNvPr id="26" name="Rectangle 25"/>
          <p:cNvSpPr/>
          <p:nvPr/>
        </p:nvSpPr>
        <p:spPr>
          <a:xfrm>
            <a:off x="6373368" y="2212848"/>
            <a:ext cx="2523744" cy="22860"/>
          </a:xfrm>
          <a:prstGeom prst="rect">
            <a:avLst/>
          </a:prstGeom>
          <a:solidFill>
            <a:srgbClr val="E0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391656" y="2304288"/>
            <a:ext cx="2487168" cy="694944"/>
          </a:xfrm>
          <a:prstGeom prst="rect">
            <a:avLst/>
          </a:prstGeom>
          <a:noFill/>
        </p:spPr>
        <p:txBody>
          <a:bodyPr wrap="square">
            <a:spAutoFit/>
          </a:bodyPr>
          <a:lstStyle/>
          <a:p>
            <a:pPr algn="l"/>
            <a:r>
              <a:rPr sz="1050" b="0" i="0">
                <a:solidFill>
                  <a:srgbClr val="F0F4FF"/>
                </a:solidFill>
                <a:latin typeface="Calibri"/>
              </a:rPr>
              <a:t>  Reduces many features down to 2D for easy visualisation.</a:t>
            </a:r>
          </a:p>
        </p:txBody>
      </p:sp>
      <p:sp>
        <p:nvSpPr>
          <p:cNvPr id="28" name="TextBox 27"/>
          <p:cNvSpPr txBox="1"/>
          <p:nvPr/>
        </p:nvSpPr>
        <p:spPr>
          <a:xfrm>
            <a:off x="6391656" y="3063240"/>
            <a:ext cx="2487168" cy="694944"/>
          </a:xfrm>
          <a:prstGeom prst="rect">
            <a:avLst/>
          </a:prstGeom>
          <a:noFill/>
        </p:spPr>
        <p:txBody>
          <a:bodyPr wrap="square">
            <a:spAutoFit/>
          </a:bodyPr>
          <a:lstStyle/>
          <a:p>
            <a:pPr algn="l"/>
            <a:r>
              <a:rPr sz="1050" b="0" i="0">
                <a:solidFill>
                  <a:srgbClr val="F0F4FF"/>
                </a:solidFill>
                <a:latin typeface="Calibri"/>
              </a:rPr>
              <a:t>  PCA kept 76% of information using just 10 components.</a:t>
            </a:r>
          </a:p>
        </p:txBody>
      </p:sp>
      <p:sp>
        <p:nvSpPr>
          <p:cNvPr id="29" name="TextBox 28"/>
          <p:cNvSpPr txBox="1"/>
          <p:nvPr/>
        </p:nvSpPr>
        <p:spPr>
          <a:xfrm>
            <a:off x="6391656" y="3822192"/>
            <a:ext cx="2487168" cy="694944"/>
          </a:xfrm>
          <a:prstGeom prst="rect">
            <a:avLst/>
          </a:prstGeom>
          <a:noFill/>
        </p:spPr>
        <p:txBody>
          <a:bodyPr wrap="square">
            <a:spAutoFit/>
          </a:bodyPr>
          <a:lstStyle/>
          <a:p>
            <a:pPr algn="l"/>
            <a:r>
              <a:rPr sz="1050" b="0" i="0">
                <a:solidFill>
                  <a:srgbClr val="F0F4FF"/>
                </a:solidFill>
                <a:latin typeface="Calibri"/>
              </a:rPr>
              <a:t>  t-SNE showed a clear visual gap between mild and severe accidents.</a:t>
            </a:r>
          </a:p>
        </p:txBody>
      </p:sp>
      <p:sp>
        <p:nvSpPr>
          <p:cNvPr id="30" name="TextBox 29"/>
          <p:cNvSpPr txBox="1"/>
          <p:nvPr/>
        </p:nvSpPr>
        <p:spPr>
          <a:xfrm>
            <a:off x="6391656" y="4581144"/>
            <a:ext cx="2487168" cy="694944"/>
          </a:xfrm>
          <a:prstGeom prst="rect">
            <a:avLst/>
          </a:prstGeom>
          <a:noFill/>
        </p:spPr>
        <p:txBody>
          <a:bodyPr wrap="square">
            <a:spAutoFit/>
          </a:bodyPr>
          <a:lstStyle/>
          <a:p>
            <a:pPr algn="l"/>
            <a:r>
              <a:rPr sz="1050" b="0" i="0">
                <a:solidFill>
                  <a:srgbClr val="F0F4FF"/>
                </a:solidFill>
                <a:latin typeface="Calibri"/>
              </a:rPr>
              <a:t>  Confirms that the data has real, learnable structure.</a:t>
            </a:r>
          </a:p>
        </p:txBody>
      </p:sp>
      <p:sp>
        <p:nvSpPr>
          <p:cNvPr id="31" name="Rectangle 30"/>
          <p:cNvSpPr/>
          <p:nvPr/>
        </p:nvSpPr>
        <p:spPr>
          <a:xfrm>
            <a:off x="9235440" y="1627632"/>
            <a:ext cx="2743200" cy="4160520"/>
          </a:xfrm>
          <a:prstGeom prst="rect">
            <a:avLst/>
          </a:prstGeom>
          <a:solidFill>
            <a:srgbClr val="1E3A5F"/>
          </a:solidFill>
          <a:ln w="12700">
            <a:solidFill>
              <a:srgbClr val="9B59B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9235440" y="1627632"/>
            <a:ext cx="2743200" cy="73152"/>
          </a:xfrm>
          <a:prstGeom prst="rect">
            <a:avLst/>
          </a:prstGeom>
          <a:solidFill>
            <a:srgbClr val="9B59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9345168" y="1737360"/>
            <a:ext cx="2523744" cy="438912"/>
          </a:xfrm>
          <a:prstGeom prst="rect">
            <a:avLst/>
          </a:prstGeom>
          <a:noFill/>
        </p:spPr>
        <p:txBody>
          <a:bodyPr wrap="square">
            <a:spAutoFit/>
          </a:bodyPr>
          <a:lstStyle/>
          <a:p>
            <a:pPr algn="l"/>
            <a:r>
              <a:rPr sz="1250" b="1" i="0">
                <a:solidFill>
                  <a:srgbClr val="9B59B6"/>
                </a:solidFill>
                <a:latin typeface="Calibri"/>
              </a:rPr>
              <a:t>Isolation Forest</a:t>
            </a:r>
          </a:p>
        </p:txBody>
      </p:sp>
      <p:sp>
        <p:nvSpPr>
          <p:cNvPr id="34" name="Rectangle 33"/>
          <p:cNvSpPr/>
          <p:nvPr/>
        </p:nvSpPr>
        <p:spPr>
          <a:xfrm>
            <a:off x="9345168" y="2212848"/>
            <a:ext cx="2523744" cy="22860"/>
          </a:xfrm>
          <a:prstGeom prst="rect">
            <a:avLst/>
          </a:prstGeom>
          <a:solidFill>
            <a:srgbClr val="9B59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9363456" y="2304288"/>
            <a:ext cx="2487168" cy="694944"/>
          </a:xfrm>
          <a:prstGeom prst="rect">
            <a:avLst/>
          </a:prstGeom>
          <a:noFill/>
        </p:spPr>
        <p:txBody>
          <a:bodyPr wrap="square">
            <a:spAutoFit/>
          </a:bodyPr>
          <a:lstStyle/>
          <a:p>
            <a:pPr algn="l"/>
            <a:r>
              <a:rPr sz="1050" b="0" i="0">
                <a:solidFill>
                  <a:srgbClr val="F0F4FF"/>
                </a:solidFill>
                <a:latin typeface="Calibri"/>
              </a:rPr>
              <a:t>  Detects rare, extreme accidents that don't fit normal patterns.</a:t>
            </a:r>
          </a:p>
        </p:txBody>
      </p:sp>
      <p:sp>
        <p:nvSpPr>
          <p:cNvPr id="36" name="TextBox 35"/>
          <p:cNvSpPr txBox="1"/>
          <p:nvPr/>
        </p:nvSpPr>
        <p:spPr>
          <a:xfrm>
            <a:off x="9363456" y="3063240"/>
            <a:ext cx="2487168" cy="694944"/>
          </a:xfrm>
          <a:prstGeom prst="rect">
            <a:avLst/>
          </a:prstGeom>
          <a:noFill/>
        </p:spPr>
        <p:txBody>
          <a:bodyPr wrap="square">
            <a:spAutoFit/>
          </a:bodyPr>
          <a:lstStyle/>
          <a:p>
            <a:pPr algn="l"/>
            <a:r>
              <a:rPr sz="1050" b="0" i="0">
                <a:solidFill>
                  <a:srgbClr val="F0F4FF"/>
                </a:solidFill>
                <a:latin typeface="Calibri"/>
              </a:rPr>
              <a:t>  Identified 1,680 critical outlier incidents.</a:t>
            </a:r>
          </a:p>
        </p:txBody>
      </p:sp>
      <p:sp>
        <p:nvSpPr>
          <p:cNvPr id="37" name="TextBox 36"/>
          <p:cNvSpPr txBox="1"/>
          <p:nvPr/>
        </p:nvSpPr>
        <p:spPr>
          <a:xfrm>
            <a:off x="9363456" y="3822192"/>
            <a:ext cx="2487168" cy="694944"/>
          </a:xfrm>
          <a:prstGeom prst="rect">
            <a:avLst/>
          </a:prstGeom>
          <a:noFill/>
        </p:spPr>
        <p:txBody>
          <a:bodyPr wrap="square">
            <a:spAutoFit/>
          </a:bodyPr>
          <a:lstStyle/>
          <a:p>
            <a:pPr algn="l"/>
            <a:r>
              <a:rPr sz="1050" b="0" i="0">
                <a:solidFill>
                  <a:srgbClr val="F0F4FF"/>
                </a:solidFill>
                <a:latin typeface="Calibri"/>
              </a:rPr>
              <a:t>  Examples: massive pile-ups during blizzards or flooding.</a:t>
            </a:r>
          </a:p>
        </p:txBody>
      </p:sp>
      <p:sp>
        <p:nvSpPr>
          <p:cNvPr id="38" name="TextBox 37"/>
          <p:cNvSpPr txBox="1"/>
          <p:nvPr/>
        </p:nvSpPr>
        <p:spPr>
          <a:xfrm>
            <a:off x="9363456" y="4581144"/>
            <a:ext cx="2487168" cy="694944"/>
          </a:xfrm>
          <a:prstGeom prst="rect">
            <a:avLst/>
          </a:prstGeom>
          <a:noFill/>
        </p:spPr>
        <p:txBody>
          <a:bodyPr wrap="square">
            <a:spAutoFit/>
          </a:bodyPr>
          <a:lstStyle/>
          <a:p>
            <a:pPr algn="l"/>
            <a:r>
              <a:rPr sz="1050" b="0" i="0">
                <a:solidFill>
                  <a:srgbClr val="F0F4FF"/>
                </a:solidFill>
                <a:latin typeface="Calibri"/>
              </a:rPr>
              <a:t>  Useful for flagging events that need special emergency response.</a:t>
            </a:r>
          </a:p>
        </p:txBody>
      </p:sp>
      <p:sp>
        <p:nvSpPr>
          <p:cNvPr id="39" name="Oval 38"/>
          <p:cNvSpPr/>
          <p:nvPr/>
        </p:nvSpPr>
        <p:spPr>
          <a:xfrm>
            <a:off x="11686032" y="6473952"/>
            <a:ext cx="256032" cy="256032"/>
          </a:xfrm>
          <a:prstGeom prst="ellipse">
            <a:avLst/>
          </a:prstGeom>
          <a:solidFill>
            <a:srgbClr val="E0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11676888" y="6446520"/>
            <a:ext cx="274320" cy="274320"/>
          </a:xfrm>
          <a:prstGeom prst="rect">
            <a:avLst/>
          </a:prstGeom>
          <a:noFill/>
        </p:spPr>
        <p:txBody>
          <a:bodyPr wrap="square">
            <a:spAutoFit/>
          </a:bodyPr>
          <a:lstStyle/>
          <a:p>
            <a:pPr algn="ctr"/>
            <a:r>
              <a:rPr sz="900" b="1" i="0">
                <a:solidFill>
                  <a:srgbClr val="FFFFFF"/>
                </a:solidFill>
                <a:latin typeface="Calibri"/>
              </a:rPr>
              <a:t>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41732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417320"/>
            <a:ext cx="12188952" cy="50292"/>
          </a:xfrm>
          <a:prstGeom prst="rect">
            <a:avLst/>
          </a:prstGeom>
          <a:solidFill>
            <a:srgbClr val="E0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164592"/>
            <a:ext cx="11457432" cy="804672"/>
          </a:xfrm>
          <a:prstGeom prst="rect">
            <a:avLst/>
          </a:prstGeom>
          <a:noFill/>
        </p:spPr>
        <p:txBody>
          <a:bodyPr wrap="square">
            <a:spAutoFit/>
          </a:bodyPr>
          <a:lstStyle/>
          <a:p>
            <a:pPr algn="l"/>
            <a:r>
              <a:rPr sz="3000" b="1" i="0">
                <a:solidFill>
                  <a:srgbClr val="FFFFFF"/>
                </a:solidFill>
                <a:latin typeface="Calibri"/>
              </a:rPr>
              <a:t>CO5 — Model Evaluation, Calibration &amp; Tuning</a:t>
            </a:r>
          </a:p>
        </p:txBody>
      </p:sp>
      <p:sp>
        <p:nvSpPr>
          <p:cNvPr id="6" name="TextBox 5"/>
          <p:cNvSpPr txBox="1"/>
          <p:nvPr/>
        </p:nvSpPr>
        <p:spPr>
          <a:xfrm>
            <a:off x="365760" y="914400"/>
            <a:ext cx="11457432" cy="457200"/>
          </a:xfrm>
          <a:prstGeom prst="rect">
            <a:avLst/>
          </a:prstGeom>
          <a:noFill/>
        </p:spPr>
        <p:txBody>
          <a:bodyPr wrap="square">
            <a:spAutoFit/>
          </a:bodyPr>
          <a:lstStyle/>
          <a:p>
            <a:pPr algn="l"/>
            <a:r>
              <a:rPr sz="1300" b="0" i="1">
                <a:solidFill>
                  <a:srgbClr val="F5A623"/>
                </a:solidFill>
                <a:latin typeface="Calibri"/>
              </a:rPr>
              <a:t>Making sure the model is accurate, reliable, and well-optimised</a:t>
            </a:r>
          </a:p>
        </p:txBody>
      </p:sp>
      <p:sp>
        <p:nvSpPr>
          <p:cNvPr id="7" name="Rectangle 6"/>
          <p:cNvSpPr/>
          <p:nvPr/>
        </p:nvSpPr>
        <p:spPr>
          <a:xfrm>
            <a:off x="320040" y="1627632"/>
            <a:ext cx="5577840" cy="2331720"/>
          </a:xfrm>
          <a:prstGeom prst="rect">
            <a:avLst/>
          </a:prstGeom>
          <a:solidFill>
            <a:srgbClr val="1E3A5F"/>
          </a:solidFill>
          <a:ln>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1737360"/>
            <a:ext cx="5303520" cy="384048"/>
          </a:xfrm>
          <a:prstGeom prst="rect">
            <a:avLst/>
          </a:prstGeom>
          <a:noFill/>
        </p:spPr>
        <p:txBody>
          <a:bodyPr wrap="square">
            <a:spAutoFit/>
          </a:bodyPr>
          <a:lstStyle/>
          <a:p>
            <a:pPr algn="l"/>
            <a:r>
              <a:rPr sz="1300" b="1" i="0">
                <a:solidFill>
                  <a:srgbClr val="00B4D8"/>
                </a:solidFill>
                <a:latin typeface="Calibri"/>
              </a:rPr>
              <a:t>How We Tested the Model — Cross Validation</a:t>
            </a:r>
          </a:p>
        </p:txBody>
      </p:sp>
      <p:sp>
        <p:nvSpPr>
          <p:cNvPr id="9" name="Rectangle 8"/>
          <p:cNvSpPr/>
          <p:nvPr/>
        </p:nvSpPr>
        <p:spPr>
          <a:xfrm>
            <a:off x="320040" y="2139696"/>
            <a:ext cx="5577840" cy="36576"/>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7200" y="2249424"/>
            <a:ext cx="5303520" cy="1645920"/>
          </a:xfrm>
          <a:prstGeom prst="rect">
            <a:avLst/>
          </a:prstGeom>
          <a:noFill/>
        </p:spPr>
        <p:txBody>
          <a:bodyPr wrap="square">
            <a:spAutoFit/>
          </a:bodyPr>
          <a:lstStyle/>
          <a:p>
            <a:pPr algn="l"/>
            <a:r>
              <a:rPr sz="1100" b="0" i="0">
                <a:solidFill>
                  <a:srgbClr val="F0F4FF"/>
                </a:solidFill>
                <a:latin typeface="Calibri"/>
              </a:rPr>
              <a:t>We used Stratified 5-Fold Cross Validation — the data is split into 5 parts and the model is tested on each part in turn. This ensures the results are not just lucky on one test set.
  LightGBM scored over 90% accuracy consistently across all 5 folds.
  Random Forest scored around 81% — still solid but not as strong.</a:t>
            </a:r>
          </a:p>
        </p:txBody>
      </p:sp>
      <p:sp>
        <p:nvSpPr>
          <p:cNvPr id="11" name="Rectangle 10"/>
          <p:cNvSpPr/>
          <p:nvPr/>
        </p:nvSpPr>
        <p:spPr>
          <a:xfrm>
            <a:off x="320040" y="4078224"/>
            <a:ext cx="5577840" cy="1572768"/>
          </a:xfrm>
          <a:prstGeom prst="rect">
            <a:avLst/>
          </a:prstGeom>
          <a:solidFill>
            <a:srgbClr val="102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57200" y="4169663"/>
            <a:ext cx="5303520" cy="384048"/>
          </a:xfrm>
          <a:prstGeom prst="rect">
            <a:avLst/>
          </a:prstGeom>
          <a:noFill/>
        </p:spPr>
        <p:txBody>
          <a:bodyPr wrap="square">
            <a:spAutoFit/>
          </a:bodyPr>
          <a:lstStyle/>
          <a:p>
            <a:pPr algn="l"/>
            <a:r>
              <a:rPr sz="1300" b="1" i="0">
                <a:solidFill>
                  <a:srgbClr val="E02B2B"/>
                </a:solidFill>
                <a:latin typeface="Calibri"/>
              </a:rPr>
              <a:t>Probability Calibration</a:t>
            </a:r>
          </a:p>
        </p:txBody>
      </p:sp>
      <p:sp>
        <p:nvSpPr>
          <p:cNvPr id="13" name="TextBox 12"/>
          <p:cNvSpPr txBox="1"/>
          <p:nvPr/>
        </p:nvSpPr>
        <p:spPr>
          <a:xfrm>
            <a:off x="457200" y="4572000"/>
            <a:ext cx="5303520" cy="1005840"/>
          </a:xfrm>
          <a:prstGeom prst="rect">
            <a:avLst/>
          </a:prstGeom>
          <a:noFill/>
        </p:spPr>
        <p:txBody>
          <a:bodyPr wrap="square">
            <a:spAutoFit/>
          </a:bodyPr>
          <a:lstStyle/>
          <a:p>
            <a:pPr algn="l"/>
            <a:r>
              <a:rPr sz="1050" b="0" i="0">
                <a:solidFill>
                  <a:srgbClr val="F0F4FF"/>
                </a:solidFill>
                <a:latin typeface="Calibri"/>
              </a:rPr>
              <a:t>A model can be accurate but still overconfident. Calibration checks if the predicted probability (e.g. 80% confident) truly matches reality. Our calibrated model scored 0.06 on the Brier scale — very close to perfect.</a:t>
            </a:r>
          </a:p>
        </p:txBody>
      </p:sp>
      <p:sp>
        <p:nvSpPr>
          <p:cNvPr id="14" name="Rectangle 13"/>
          <p:cNvSpPr/>
          <p:nvPr/>
        </p:nvSpPr>
        <p:spPr>
          <a:xfrm>
            <a:off x="6217920" y="1627632"/>
            <a:ext cx="5623560" cy="4023360"/>
          </a:xfrm>
          <a:prstGeom prst="rect">
            <a:avLst/>
          </a:prstGeom>
          <a:solidFill>
            <a:srgbClr val="102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355080" y="1737360"/>
            <a:ext cx="5394960" cy="384048"/>
          </a:xfrm>
          <a:prstGeom prst="rect">
            <a:avLst/>
          </a:prstGeom>
          <a:noFill/>
        </p:spPr>
        <p:txBody>
          <a:bodyPr wrap="square">
            <a:spAutoFit/>
          </a:bodyPr>
          <a:lstStyle/>
          <a:p>
            <a:pPr algn="l"/>
            <a:r>
              <a:rPr sz="1300" b="1" i="0">
                <a:solidFill>
                  <a:srgbClr val="F5A623"/>
                </a:solidFill>
                <a:latin typeface="Calibri"/>
              </a:rPr>
              <a:t>How We Tuned the Model — Three Approaches</a:t>
            </a:r>
          </a:p>
        </p:txBody>
      </p:sp>
      <p:sp>
        <p:nvSpPr>
          <p:cNvPr id="16" name="Rectangle 15"/>
          <p:cNvSpPr/>
          <p:nvPr/>
        </p:nvSpPr>
        <p:spPr>
          <a:xfrm>
            <a:off x="6217920" y="2139696"/>
            <a:ext cx="5623560" cy="36576"/>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355080" y="2249424"/>
            <a:ext cx="5303520" cy="347472"/>
          </a:xfrm>
          <a:prstGeom prst="rect">
            <a:avLst/>
          </a:prstGeom>
          <a:noFill/>
        </p:spPr>
        <p:txBody>
          <a:bodyPr wrap="square">
            <a:spAutoFit/>
          </a:bodyPr>
          <a:lstStyle/>
          <a:p>
            <a:pPr algn="l"/>
            <a:r>
              <a:rPr sz="1200" b="1" i="0">
                <a:solidFill>
                  <a:srgbClr val="00B4D8"/>
                </a:solidFill>
                <a:latin typeface="Calibri"/>
              </a:rPr>
              <a:t>Grid Search</a:t>
            </a:r>
          </a:p>
        </p:txBody>
      </p:sp>
      <p:sp>
        <p:nvSpPr>
          <p:cNvPr id="18" name="TextBox 17"/>
          <p:cNvSpPr txBox="1"/>
          <p:nvPr/>
        </p:nvSpPr>
        <p:spPr>
          <a:xfrm>
            <a:off x="6355080" y="2578608"/>
            <a:ext cx="5303520" cy="594360"/>
          </a:xfrm>
          <a:prstGeom prst="rect">
            <a:avLst/>
          </a:prstGeom>
          <a:noFill/>
        </p:spPr>
        <p:txBody>
          <a:bodyPr wrap="square">
            <a:spAutoFit/>
          </a:bodyPr>
          <a:lstStyle/>
          <a:p>
            <a:pPr algn="l"/>
            <a:r>
              <a:rPr sz="1050" b="0" i="0">
                <a:solidFill>
                  <a:srgbClr val="F0F4FF"/>
                </a:solidFill>
                <a:latin typeface="Calibri"/>
              </a:rPr>
              <a:t>Tries every possible combination of settings.
Slow but thorough — like checking every option in a menu.</a:t>
            </a:r>
          </a:p>
        </p:txBody>
      </p:sp>
      <p:sp>
        <p:nvSpPr>
          <p:cNvPr id="19" name="Rectangle 18"/>
          <p:cNvSpPr/>
          <p:nvPr/>
        </p:nvSpPr>
        <p:spPr>
          <a:xfrm>
            <a:off x="6217920" y="3236976"/>
            <a:ext cx="5623560" cy="2286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355080" y="3346704"/>
            <a:ext cx="5303520" cy="347472"/>
          </a:xfrm>
          <a:prstGeom prst="rect">
            <a:avLst/>
          </a:prstGeom>
          <a:noFill/>
        </p:spPr>
        <p:txBody>
          <a:bodyPr wrap="square">
            <a:spAutoFit/>
          </a:bodyPr>
          <a:lstStyle/>
          <a:p>
            <a:pPr algn="l"/>
            <a:r>
              <a:rPr sz="1200" b="1" i="0">
                <a:solidFill>
                  <a:srgbClr val="F5A623"/>
                </a:solidFill>
                <a:latin typeface="Calibri"/>
              </a:rPr>
              <a:t>Random Search</a:t>
            </a:r>
          </a:p>
        </p:txBody>
      </p:sp>
      <p:sp>
        <p:nvSpPr>
          <p:cNvPr id="21" name="TextBox 20"/>
          <p:cNvSpPr txBox="1"/>
          <p:nvPr/>
        </p:nvSpPr>
        <p:spPr>
          <a:xfrm>
            <a:off x="6355080" y="3675888"/>
            <a:ext cx="5303520" cy="594360"/>
          </a:xfrm>
          <a:prstGeom prst="rect">
            <a:avLst/>
          </a:prstGeom>
          <a:noFill/>
        </p:spPr>
        <p:txBody>
          <a:bodyPr wrap="square">
            <a:spAutoFit/>
          </a:bodyPr>
          <a:lstStyle/>
          <a:p>
            <a:pPr algn="l"/>
            <a:r>
              <a:rPr sz="1050" b="0" i="0">
                <a:solidFill>
                  <a:srgbClr val="F0F4FF"/>
                </a:solidFill>
                <a:latin typeface="Calibri"/>
              </a:rPr>
              <a:t>Picks random combinations to try.
Much faster and gets nearly the same result as Grid Search.</a:t>
            </a:r>
          </a:p>
        </p:txBody>
      </p:sp>
      <p:sp>
        <p:nvSpPr>
          <p:cNvPr id="22" name="Rectangle 21"/>
          <p:cNvSpPr/>
          <p:nvPr/>
        </p:nvSpPr>
        <p:spPr>
          <a:xfrm>
            <a:off x="6217920" y="4334256"/>
            <a:ext cx="5623560" cy="2286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355080" y="4443984"/>
            <a:ext cx="5303520" cy="347472"/>
          </a:xfrm>
          <a:prstGeom prst="rect">
            <a:avLst/>
          </a:prstGeom>
          <a:noFill/>
        </p:spPr>
        <p:txBody>
          <a:bodyPr wrap="square">
            <a:spAutoFit/>
          </a:bodyPr>
          <a:lstStyle/>
          <a:p>
            <a:pPr algn="l"/>
            <a:r>
              <a:rPr sz="1200" b="1" i="0">
                <a:solidFill>
                  <a:srgbClr val="E02B2B"/>
                </a:solidFill>
                <a:latin typeface="Calibri"/>
              </a:rPr>
              <a:t>Bayesian Optimisation (Best)</a:t>
            </a:r>
          </a:p>
        </p:txBody>
      </p:sp>
      <p:sp>
        <p:nvSpPr>
          <p:cNvPr id="24" name="TextBox 23"/>
          <p:cNvSpPr txBox="1"/>
          <p:nvPr/>
        </p:nvSpPr>
        <p:spPr>
          <a:xfrm>
            <a:off x="6355080" y="4773168"/>
            <a:ext cx="5303520" cy="594360"/>
          </a:xfrm>
          <a:prstGeom prst="rect">
            <a:avLst/>
          </a:prstGeom>
          <a:noFill/>
        </p:spPr>
        <p:txBody>
          <a:bodyPr wrap="square">
            <a:spAutoFit/>
          </a:bodyPr>
          <a:lstStyle/>
          <a:p>
            <a:pPr algn="l"/>
            <a:r>
              <a:rPr sz="1050" b="0" i="0">
                <a:solidFill>
                  <a:srgbClr val="F0F4FF"/>
                </a:solidFill>
                <a:latin typeface="Calibri"/>
              </a:rPr>
              <a:t>Learns from each attempt to make smarter guesses next time.
Finds the best settings with the fewest tries.</a:t>
            </a:r>
          </a:p>
        </p:txBody>
      </p:sp>
      <p:sp>
        <p:nvSpPr>
          <p:cNvPr id="25" name="Rectangle 24"/>
          <p:cNvSpPr/>
          <p:nvPr/>
        </p:nvSpPr>
        <p:spPr>
          <a:xfrm>
            <a:off x="6217920" y="5431536"/>
            <a:ext cx="5623560" cy="2286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11686032" y="6473952"/>
            <a:ext cx="256032" cy="256032"/>
          </a:xfrm>
          <a:prstGeom prst="ellipse">
            <a:avLst/>
          </a:prstGeom>
          <a:solidFill>
            <a:srgbClr val="E0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11676888" y="6446520"/>
            <a:ext cx="274320" cy="274320"/>
          </a:xfrm>
          <a:prstGeom prst="rect">
            <a:avLst/>
          </a:prstGeom>
          <a:noFill/>
        </p:spPr>
        <p:txBody>
          <a:bodyPr wrap="square">
            <a:spAutoFit/>
          </a:bodyPr>
          <a:lstStyle/>
          <a:p>
            <a:pPr algn="ctr"/>
            <a:r>
              <a:rPr sz="900" b="1" i="0">
                <a:solidFill>
                  <a:srgbClr val="FFFFFF"/>
                </a:solidFill>
                <a:latin typeface="Calibri"/>
              </a:rPr>
              <a:t>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41732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417320"/>
            <a:ext cx="12188952" cy="50292"/>
          </a:xfrm>
          <a:prstGeom prst="rect">
            <a:avLst/>
          </a:prstGeom>
          <a:solidFill>
            <a:srgbClr val="E0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164592"/>
            <a:ext cx="11457432" cy="804672"/>
          </a:xfrm>
          <a:prstGeom prst="rect">
            <a:avLst/>
          </a:prstGeom>
          <a:noFill/>
        </p:spPr>
        <p:txBody>
          <a:bodyPr wrap="square">
            <a:spAutoFit/>
          </a:bodyPr>
          <a:lstStyle/>
          <a:p>
            <a:pPr algn="l"/>
            <a:r>
              <a:rPr sz="3000" b="1" i="0">
                <a:solidFill>
                  <a:srgbClr val="FFFFFF"/>
                </a:solidFill>
                <a:latin typeface="Calibri"/>
              </a:rPr>
              <a:t>CO6 — MLOps: Taking the Model to Production</a:t>
            </a:r>
          </a:p>
        </p:txBody>
      </p:sp>
      <p:sp>
        <p:nvSpPr>
          <p:cNvPr id="6" name="TextBox 5"/>
          <p:cNvSpPr txBox="1"/>
          <p:nvPr/>
        </p:nvSpPr>
        <p:spPr>
          <a:xfrm>
            <a:off x="365760" y="914400"/>
            <a:ext cx="11457432" cy="457200"/>
          </a:xfrm>
          <a:prstGeom prst="rect">
            <a:avLst/>
          </a:prstGeom>
          <a:noFill/>
        </p:spPr>
        <p:txBody>
          <a:bodyPr wrap="square">
            <a:spAutoFit/>
          </a:bodyPr>
          <a:lstStyle/>
          <a:p>
            <a:pPr algn="l"/>
            <a:r>
              <a:rPr sz="1300" b="0" i="1">
                <a:solidFill>
                  <a:srgbClr val="F5A623"/>
                </a:solidFill>
                <a:latin typeface="Calibri"/>
              </a:rPr>
              <a:t>What happens after the model is trained — deployment, monitoring, and reliability</a:t>
            </a:r>
          </a:p>
        </p:txBody>
      </p:sp>
      <p:sp>
        <p:nvSpPr>
          <p:cNvPr id="7" name="Rectangle 6"/>
          <p:cNvSpPr/>
          <p:nvPr/>
        </p:nvSpPr>
        <p:spPr>
          <a:xfrm>
            <a:off x="320040" y="1627632"/>
            <a:ext cx="2743200" cy="4160520"/>
          </a:xfrm>
          <a:prstGeom prst="rect">
            <a:avLst/>
          </a:prstGeom>
          <a:solidFill>
            <a:srgbClr val="1E3A5F"/>
          </a:solidFill>
          <a:ln w="1143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320040" y="1627632"/>
            <a:ext cx="2743200" cy="73152"/>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29768" y="1737360"/>
            <a:ext cx="2523744" cy="438912"/>
          </a:xfrm>
          <a:prstGeom prst="rect">
            <a:avLst/>
          </a:prstGeom>
          <a:noFill/>
        </p:spPr>
        <p:txBody>
          <a:bodyPr wrap="square">
            <a:spAutoFit/>
          </a:bodyPr>
          <a:lstStyle/>
          <a:p>
            <a:pPr algn="l"/>
            <a:r>
              <a:rPr sz="1250" b="1" i="0">
                <a:solidFill>
                  <a:srgbClr val="00B4D8"/>
                </a:solidFill>
                <a:latin typeface="Calibri"/>
              </a:rPr>
              <a:t>Feature Store</a:t>
            </a:r>
          </a:p>
        </p:txBody>
      </p:sp>
      <p:sp>
        <p:nvSpPr>
          <p:cNvPr id="10" name="Rectangle 9"/>
          <p:cNvSpPr/>
          <p:nvPr/>
        </p:nvSpPr>
        <p:spPr>
          <a:xfrm>
            <a:off x="429768" y="2212848"/>
            <a:ext cx="2523744" cy="2286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48056" y="2304288"/>
            <a:ext cx="2487168" cy="694944"/>
          </a:xfrm>
          <a:prstGeom prst="rect">
            <a:avLst/>
          </a:prstGeom>
          <a:noFill/>
        </p:spPr>
        <p:txBody>
          <a:bodyPr wrap="square">
            <a:spAutoFit/>
          </a:bodyPr>
          <a:lstStyle/>
          <a:p>
            <a:pPr algn="l"/>
            <a:r>
              <a:rPr sz="1050" b="0" i="0">
                <a:solidFill>
                  <a:srgbClr val="F0F4FF"/>
                </a:solidFill>
                <a:latin typeface="Calibri"/>
              </a:rPr>
              <a:t>  A central registry of all 25 features the model uses.</a:t>
            </a:r>
          </a:p>
        </p:txBody>
      </p:sp>
      <p:sp>
        <p:nvSpPr>
          <p:cNvPr id="12" name="TextBox 11"/>
          <p:cNvSpPr txBox="1"/>
          <p:nvPr/>
        </p:nvSpPr>
        <p:spPr>
          <a:xfrm>
            <a:off x="448056" y="3063240"/>
            <a:ext cx="2487168" cy="694944"/>
          </a:xfrm>
          <a:prstGeom prst="rect">
            <a:avLst/>
          </a:prstGeom>
          <a:noFill/>
        </p:spPr>
        <p:txBody>
          <a:bodyPr wrap="square">
            <a:spAutoFit/>
          </a:bodyPr>
          <a:lstStyle/>
          <a:p>
            <a:pPr algn="l"/>
            <a:r>
              <a:rPr sz="1050" b="0" i="0">
                <a:solidFill>
                  <a:srgbClr val="F0F4FF"/>
                </a:solidFill>
                <a:latin typeface="Calibri"/>
              </a:rPr>
              <a:t>  Defines what each feature means, its expected range, and a default if missing.</a:t>
            </a:r>
          </a:p>
        </p:txBody>
      </p:sp>
      <p:sp>
        <p:nvSpPr>
          <p:cNvPr id="13" name="TextBox 12"/>
          <p:cNvSpPr txBox="1"/>
          <p:nvPr/>
        </p:nvSpPr>
        <p:spPr>
          <a:xfrm>
            <a:off x="448056" y="3822192"/>
            <a:ext cx="2487168" cy="694944"/>
          </a:xfrm>
          <a:prstGeom prst="rect">
            <a:avLst/>
          </a:prstGeom>
          <a:noFill/>
        </p:spPr>
        <p:txBody>
          <a:bodyPr wrap="square">
            <a:spAutoFit/>
          </a:bodyPr>
          <a:lstStyle/>
          <a:p>
            <a:pPr algn="l"/>
            <a:r>
              <a:rPr sz="1050" b="0" i="0">
                <a:solidFill>
                  <a:srgbClr val="F0F4FF"/>
                </a:solidFill>
                <a:latin typeface="Calibri"/>
              </a:rPr>
              <a:t>  Ensures the model always receives data in the exact format it was trained on.</a:t>
            </a:r>
          </a:p>
        </p:txBody>
      </p:sp>
      <p:sp>
        <p:nvSpPr>
          <p:cNvPr id="14" name="TextBox 13"/>
          <p:cNvSpPr txBox="1"/>
          <p:nvPr/>
        </p:nvSpPr>
        <p:spPr>
          <a:xfrm>
            <a:off x="448056" y="4581144"/>
            <a:ext cx="2487168" cy="694944"/>
          </a:xfrm>
          <a:prstGeom prst="rect">
            <a:avLst/>
          </a:prstGeom>
          <a:noFill/>
        </p:spPr>
        <p:txBody>
          <a:bodyPr wrap="square">
            <a:spAutoFit/>
          </a:bodyPr>
          <a:lstStyle/>
          <a:p>
            <a:pPr algn="l"/>
            <a:r>
              <a:rPr sz="1050" b="0" i="0">
                <a:solidFill>
                  <a:srgbClr val="F0F4FF"/>
                </a:solidFill>
                <a:latin typeface="Calibri"/>
              </a:rPr>
              <a:t>  Prevents inconsistencies between training and live predictions.</a:t>
            </a:r>
          </a:p>
        </p:txBody>
      </p:sp>
      <p:sp>
        <p:nvSpPr>
          <p:cNvPr id="15" name="Rectangle 14"/>
          <p:cNvSpPr/>
          <p:nvPr/>
        </p:nvSpPr>
        <p:spPr>
          <a:xfrm>
            <a:off x="3291840" y="1627632"/>
            <a:ext cx="2743200" cy="4160520"/>
          </a:xfrm>
          <a:prstGeom prst="rect">
            <a:avLst/>
          </a:prstGeom>
          <a:solidFill>
            <a:srgbClr val="1E3A5F"/>
          </a:solidFill>
          <a:ln w="11430">
            <a:solidFill>
              <a:srgbClr val="F5A62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3291840" y="1627632"/>
            <a:ext cx="2743200" cy="73152"/>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401568" y="1737360"/>
            <a:ext cx="2523744" cy="438912"/>
          </a:xfrm>
          <a:prstGeom prst="rect">
            <a:avLst/>
          </a:prstGeom>
          <a:noFill/>
        </p:spPr>
        <p:txBody>
          <a:bodyPr wrap="square">
            <a:spAutoFit/>
          </a:bodyPr>
          <a:lstStyle/>
          <a:p>
            <a:pPr algn="l"/>
            <a:r>
              <a:rPr sz="1250" b="1" i="0">
                <a:solidFill>
                  <a:srgbClr val="F5A623"/>
                </a:solidFill>
                <a:latin typeface="Calibri"/>
              </a:rPr>
              <a:t>Serialised Pipeline</a:t>
            </a:r>
          </a:p>
        </p:txBody>
      </p:sp>
      <p:sp>
        <p:nvSpPr>
          <p:cNvPr id="18" name="Rectangle 17"/>
          <p:cNvSpPr/>
          <p:nvPr/>
        </p:nvSpPr>
        <p:spPr>
          <a:xfrm>
            <a:off x="3401568" y="2212848"/>
            <a:ext cx="2523744" cy="22860"/>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3419856" y="2304288"/>
            <a:ext cx="2487168" cy="694944"/>
          </a:xfrm>
          <a:prstGeom prst="rect">
            <a:avLst/>
          </a:prstGeom>
          <a:noFill/>
        </p:spPr>
        <p:txBody>
          <a:bodyPr wrap="square">
            <a:spAutoFit/>
          </a:bodyPr>
          <a:lstStyle/>
          <a:p>
            <a:pPr algn="l"/>
            <a:r>
              <a:rPr sz="1050" b="0" i="0">
                <a:solidFill>
                  <a:srgbClr val="F0F4FF"/>
                </a:solidFill>
                <a:latin typeface="Calibri"/>
              </a:rPr>
              <a:t>  The data transformation steps are saved alongside the model.</a:t>
            </a:r>
          </a:p>
        </p:txBody>
      </p:sp>
      <p:sp>
        <p:nvSpPr>
          <p:cNvPr id="20" name="TextBox 19"/>
          <p:cNvSpPr txBox="1"/>
          <p:nvPr/>
        </p:nvSpPr>
        <p:spPr>
          <a:xfrm>
            <a:off x="3419856" y="3063240"/>
            <a:ext cx="2487168" cy="694944"/>
          </a:xfrm>
          <a:prstGeom prst="rect">
            <a:avLst/>
          </a:prstGeom>
          <a:noFill/>
        </p:spPr>
        <p:txBody>
          <a:bodyPr wrap="square">
            <a:spAutoFit/>
          </a:bodyPr>
          <a:lstStyle/>
          <a:p>
            <a:pPr algn="l"/>
            <a:r>
              <a:rPr sz="1050" b="0" i="0">
                <a:solidFill>
                  <a:srgbClr val="F0F4FF"/>
                </a:solidFill>
                <a:latin typeface="Calibri"/>
              </a:rPr>
              <a:t>  When a new request arrives, it goes through the exact same process as training.</a:t>
            </a:r>
          </a:p>
        </p:txBody>
      </p:sp>
      <p:sp>
        <p:nvSpPr>
          <p:cNvPr id="21" name="TextBox 20"/>
          <p:cNvSpPr txBox="1"/>
          <p:nvPr/>
        </p:nvSpPr>
        <p:spPr>
          <a:xfrm>
            <a:off x="3419856" y="3822192"/>
            <a:ext cx="2487168" cy="694944"/>
          </a:xfrm>
          <a:prstGeom prst="rect">
            <a:avLst/>
          </a:prstGeom>
          <a:noFill/>
        </p:spPr>
        <p:txBody>
          <a:bodyPr wrap="square">
            <a:spAutoFit/>
          </a:bodyPr>
          <a:lstStyle/>
          <a:p>
            <a:pPr algn="l"/>
            <a:r>
              <a:rPr sz="1050" b="0" i="0">
                <a:solidFill>
                  <a:srgbClr val="F0F4FF"/>
                </a:solidFill>
                <a:latin typeface="Calibri"/>
              </a:rPr>
              <a:t>  This stops bugs caused by different preprocessing at train vs predict time.</a:t>
            </a:r>
          </a:p>
        </p:txBody>
      </p:sp>
      <p:sp>
        <p:nvSpPr>
          <p:cNvPr id="22" name="TextBox 21"/>
          <p:cNvSpPr txBox="1"/>
          <p:nvPr/>
        </p:nvSpPr>
        <p:spPr>
          <a:xfrm>
            <a:off x="3419856" y="4581144"/>
            <a:ext cx="2487168" cy="694944"/>
          </a:xfrm>
          <a:prstGeom prst="rect">
            <a:avLst/>
          </a:prstGeom>
          <a:noFill/>
        </p:spPr>
        <p:txBody>
          <a:bodyPr wrap="square">
            <a:spAutoFit/>
          </a:bodyPr>
          <a:lstStyle/>
          <a:p>
            <a:pPr algn="l"/>
            <a:r>
              <a:rPr sz="1050" b="0" i="0">
                <a:solidFill>
                  <a:srgbClr val="F0F4FF"/>
                </a:solidFill>
                <a:latin typeface="Calibri"/>
              </a:rPr>
              <a:t>  Both the scaler and encoder are saved and reloaded together.</a:t>
            </a:r>
          </a:p>
        </p:txBody>
      </p:sp>
      <p:sp>
        <p:nvSpPr>
          <p:cNvPr id="23" name="Rectangle 22"/>
          <p:cNvSpPr/>
          <p:nvPr/>
        </p:nvSpPr>
        <p:spPr>
          <a:xfrm>
            <a:off x="6263640" y="1627632"/>
            <a:ext cx="2743200" cy="4160520"/>
          </a:xfrm>
          <a:prstGeom prst="rect">
            <a:avLst/>
          </a:prstGeom>
          <a:solidFill>
            <a:srgbClr val="1E3A5F"/>
          </a:solidFill>
          <a:ln w="11430">
            <a:solidFill>
              <a:srgbClr val="E02B2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6263640" y="1627632"/>
            <a:ext cx="2743200" cy="73152"/>
          </a:xfrm>
          <a:prstGeom prst="rect">
            <a:avLst/>
          </a:prstGeom>
          <a:solidFill>
            <a:srgbClr val="E0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373368" y="1737360"/>
            <a:ext cx="2523744" cy="438912"/>
          </a:xfrm>
          <a:prstGeom prst="rect">
            <a:avLst/>
          </a:prstGeom>
          <a:noFill/>
        </p:spPr>
        <p:txBody>
          <a:bodyPr wrap="square">
            <a:spAutoFit/>
          </a:bodyPr>
          <a:lstStyle/>
          <a:p>
            <a:pPr algn="l"/>
            <a:r>
              <a:rPr sz="1250" b="1" i="0">
                <a:solidFill>
                  <a:srgbClr val="E02B2B"/>
                </a:solidFill>
                <a:latin typeface="Calibri"/>
              </a:rPr>
              <a:t>Drift Detection</a:t>
            </a:r>
          </a:p>
        </p:txBody>
      </p:sp>
      <p:sp>
        <p:nvSpPr>
          <p:cNvPr id="26" name="Rectangle 25"/>
          <p:cNvSpPr/>
          <p:nvPr/>
        </p:nvSpPr>
        <p:spPr>
          <a:xfrm>
            <a:off x="6373368" y="2212848"/>
            <a:ext cx="2523744" cy="22860"/>
          </a:xfrm>
          <a:prstGeom prst="rect">
            <a:avLst/>
          </a:prstGeom>
          <a:solidFill>
            <a:srgbClr val="E0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391656" y="2304288"/>
            <a:ext cx="2487168" cy="694944"/>
          </a:xfrm>
          <a:prstGeom prst="rect">
            <a:avLst/>
          </a:prstGeom>
          <a:noFill/>
        </p:spPr>
        <p:txBody>
          <a:bodyPr wrap="square">
            <a:spAutoFit/>
          </a:bodyPr>
          <a:lstStyle/>
          <a:p>
            <a:pPr algn="l"/>
            <a:r>
              <a:rPr sz="1050" b="0" i="0">
                <a:solidFill>
                  <a:srgbClr val="F0F4FF"/>
                </a:solidFill>
                <a:latin typeface="Calibri"/>
              </a:rPr>
              <a:t>  Monitors whether new incoming data looks like the training data.</a:t>
            </a:r>
          </a:p>
        </p:txBody>
      </p:sp>
      <p:sp>
        <p:nvSpPr>
          <p:cNvPr id="28" name="TextBox 27"/>
          <p:cNvSpPr txBox="1"/>
          <p:nvPr/>
        </p:nvSpPr>
        <p:spPr>
          <a:xfrm>
            <a:off x="6391656" y="3063240"/>
            <a:ext cx="2487168" cy="694944"/>
          </a:xfrm>
          <a:prstGeom prst="rect">
            <a:avLst/>
          </a:prstGeom>
          <a:noFill/>
        </p:spPr>
        <p:txBody>
          <a:bodyPr wrap="square">
            <a:spAutoFit/>
          </a:bodyPr>
          <a:lstStyle/>
          <a:p>
            <a:pPr algn="l"/>
            <a:r>
              <a:rPr sz="1050" b="0" i="0">
                <a:solidFill>
                  <a:srgbClr val="F0F4FF"/>
                </a:solidFill>
                <a:latin typeface="Calibri"/>
              </a:rPr>
              <a:t>  If rain levels or temperature patterns shift, the model might become less accurate.</a:t>
            </a:r>
          </a:p>
        </p:txBody>
      </p:sp>
      <p:sp>
        <p:nvSpPr>
          <p:cNvPr id="29" name="TextBox 28"/>
          <p:cNvSpPr txBox="1"/>
          <p:nvPr/>
        </p:nvSpPr>
        <p:spPr>
          <a:xfrm>
            <a:off x="6391656" y="3822192"/>
            <a:ext cx="2487168" cy="694944"/>
          </a:xfrm>
          <a:prstGeom prst="rect">
            <a:avLst/>
          </a:prstGeom>
          <a:noFill/>
        </p:spPr>
        <p:txBody>
          <a:bodyPr wrap="square">
            <a:spAutoFit/>
          </a:bodyPr>
          <a:lstStyle/>
          <a:p>
            <a:pPr algn="l"/>
            <a:r>
              <a:rPr sz="1050" b="0" i="0">
                <a:solidFill>
                  <a:srgbClr val="F0F4FF"/>
                </a:solidFill>
                <a:latin typeface="Calibri"/>
              </a:rPr>
              <a:t>  We run a statistical test (KS-Test) to catch this shift early.</a:t>
            </a:r>
          </a:p>
        </p:txBody>
      </p:sp>
      <p:sp>
        <p:nvSpPr>
          <p:cNvPr id="30" name="TextBox 29"/>
          <p:cNvSpPr txBox="1"/>
          <p:nvPr/>
        </p:nvSpPr>
        <p:spPr>
          <a:xfrm>
            <a:off x="6391656" y="4581144"/>
            <a:ext cx="2487168" cy="694944"/>
          </a:xfrm>
          <a:prstGeom prst="rect">
            <a:avLst/>
          </a:prstGeom>
          <a:noFill/>
        </p:spPr>
        <p:txBody>
          <a:bodyPr wrap="square">
            <a:spAutoFit/>
          </a:bodyPr>
          <a:lstStyle/>
          <a:p>
            <a:pPr algn="l"/>
            <a:r>
              <a:rPr sz="1050" b="0" i="0">
                <a:solidFill>
                  <a:srgbClr val="F0F4FF"/>
                </a:solidFill>
                <a:latin typeface="Calibri"/>
              </a:rPr>
              <a:t>  An automatic warning is raised so engineers can retrain if needed.</a:t>
            </a:r>
          </a:p>
        </p:txBody>
      </p:sp>
      <p:sp>
        <p:nvSpPr>
          <p:cNvPr id="31" name="Rectangle 30"/>
          <p:cNvSpPr/>
          <p:nvPr/>
        </p:nvSpPr>
        <p:spPr>
          <a:xfrm>
            <a:off x="9235440" y="1627632"/>
            <a:ext cx="2743200" cy="4160520"/>
          </a:xfrm>
          <a:prstGeom prst="rect">
            <a:avLst/>
          </a:prstGeom>
          <a:solidFill>
            <a:srgbClr val="1E3A5F"/>
          </a:solidFill>
          <a:ln w="11430">
            <a:solidFill>
              <a:srgbClr val="9B59B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9235440" y="1627632"/>
            <a:ext cx="2743200" cy="73152"/>
          </a:xfrm>
          <a:prstGeom prst="rect">
            <a:avLst/>
          </a:prstGeom>
          <a:solidFill>
            <a:srgbClr val="9B59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9345168" y="1737360"/>
            <a:ext cx="2523744" cy="438912"/>
          </a:xfrm>
          <a:prstGeom prst="rect">
            <a:avLst/>
          </a:prstGeom>
          <a:noFill/>
        </p:spPr>
        <p:txBody>
          <a:bodyPr wrap="square">
            <a:spAutoFit/>
          </a:bodyPr>
          <a:lstStyle/>
          <a:p>
            <a:pPr algn="l"/>
            <a:r>
              <a:rPr sz="1250" b="1" i="0">
                <a:solidFill>
                  <a:srgbClr val="9B59B6"/>
                </a:solidFill>
                <a:latin typeface="Calibri"/>
              </a:rPr>
              <a:t>Flask REST API</a:t>
            </a:r>
          </a:p>
        </p:txBody>
      </p:sp>
      <p:sp>
        <p:nvSpPr>
          <p:cNvPr id="34" name="Rectangle 33"/>
          <p:cNvSpPr/>
          <p:nvPr/>
        </p:nvSpPr>
        <p:spPr>
          <a:xfrm>
            <a:off x="9345168" y="2212848"/>
            <a:ext cx="2523744" cy="22860"/>
          </a:xfrm>
          <a:prstGeom prst="rect">
            <a:avLst/>
          </a:prstGeom>
          <a:solidFill>
            <a:srgbClr val="9B59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9363456" y="2304288"/>
            <a:ext cx="2487168" cy="694944"/>
          </a:xfrm>
          <a:prstGeom prst="rect">
            <a:avLst/>
          </a:prstGeom>
          <a:noFill/>
        </p:spPr>
        <p:txBody>
          <a:bodyPr wrap="square">
            <a:spAutoFit/>
          </a:bodyPr>
          <a:lstStyle/>
          <a:p>
            <a:pPr algn="l"/>
            <a:r>
              <a:rPr sz="1050" b="0" i="0">
                <a:solidFill>
                  <a:srgbClr val="F0F4FF"/>
                </a:solidFill>
                <a:latin typeface="Calibri"/>
              </a:rPr>
              <a:t>  The model is served through a web API anyone can call.</a:t>
            </a:r>
          </a:p>
        </p:txBody>
      </p:sp>
      <p:sp>
        <p:nvSpPr>
          <p:cNvPr id="36" name="TextBox 35"/>
          <p:cNvSpPr txBox="1"/>
          <p:nvPr/>
        </p:nvSpPr>
        <p:spPr>
          <a:xfrm>
            <a:off x="9363456" y="3063240"/>
            <a:ext cx="2487168" cy="694944"/>
          </a:xfrm>
          <a:prstGeom prst="rect">
            <a:avLst/>
          </a:prstGeom>
          <a:noFill/>
        </p:spPr>
        <p:txBody>
          <a:bodyPr wrap="square">
            <a:spAutoFit/>
          </a:bodyPr>
          <a:lstStyle/>
          <a:p>
            <a:pPr algn="l"/>
            <a:r>
              <a:rPr sz="1050" b="0" i="0">
                <a:solidFill>
                  <a:srgbClr val="F0F4FF"/>
                </a:solidFill>
                <a:latin typeface="Calibri"/>
              </a:rPr>
              <a:t>  /predict: Send road conditions, get severity + clearance time back.</a:t>
            </a:r>
          </a:p>
        </p:txBody>
      </p:sp>
      <p:sp>
        <p:nvSpPr>
          <p:cNvPr id="37" name="TextBox 36"/>
          <p:cNvSpPr txBox="1"/>
          <p:nvPr/>
        </p:nvSpPr>
        <p:spPr>
          <a:xfrm>
            <a:off x="9363456" y="3822192"/>
            <a:ext cx="2487168" cy="694944"/>
          </a:xfrm>
          <a:prstGeom prst="rect">
            <a:avLst/>
          </a:prstGeom>
          <a:noFill/>
        </p:spPr>
        <p:txBody>
          <a:bodyPr wrap="square">
            <a:spAutoFit/>
          </a:bodyPr>
          <a:lstStyle/>
          <a:p>
            <a:pPr algn="l"/>
            <a:r>
              <a:rPr sz="1050" b="0" i="0">
                <a:solidFill>
                  <a:srgbClr val="F0F4FF"/>
                </a:solidFill>
                <a:latin typeface="Calibri"/>
              </a:rPr>
              <a:t>  /monitoring: Check if data drift has been detected.</a:t>
            </a:r>
          </a:p>
        </p:txBody>
      </p:sp>
      <p:sp>
        <p:nvSpPr>
          <p:cNvPr id="38" name="TextBox 37"/>
          <p:cNvSpPr txBox="1"/>
          <p:nvPr/>
        </p:nvSpPr>
        <p:spPr>
          <a:xfrm>
            <a:off x="9363456" y="4581144"/>
            <a:ext cx="2487168" cy="694944"/>
          </a:xfrm>
          <a:prstGeom prst="rect">
            <a:avLst/>
          </a:prstGeom>
          <a:noFill/>
        </p:spPr>
        <p:txBody>
          <a:bodyPr wrap="square">
            <a:spAutoFit/>
          </a:bodyPr>
          <a:lstStyle/>
          <a:p>
            <a:pPr algn="l"/>
            <a:r>
              <a:rPr sz="1050" b="0" i="0">
                <a:solidFill>
                  <a:srgbClr val="F0F4FF"/>
                </a:solidFill>
                <a:latin typeface="Calibri"/>
              </a:rPr>
              <a:t>  /lifecycle_trace: See the full audit trail of how a prediction was made.</a:t>
            </a:r>
          </a:p>
        </p:txBody>
      </p:sp>
      <p:sp>
        <p:nvSpPr>
          <p:cNvPr id="39" name="Oval 38"/>
          <p:cNvSpPr/>
          <p:nvPr/>
        </p:nvSpPr>
        <p:spPr>
          <a:xfrm>
            <a:off x="11686032" y="6473952"/>
            <a:ext cx="256032" cy="256032"/>
          </a:xfrm>
          <a:prstGeom prst="ellipse">
            <a:avLst/>
          </a:prstGeom>
          <a:solidFill>
            <a:srgbClr val="E0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11676888" y="6446520"/>
            <a:ext cx="274320" cy="274320"/>
          </a:xfrm>
          <a:prstGeom prst="rect">
            <a:avLst/>
          </a:prstGeom>
          <a:noFill/>
        </p:spPr>
        <p:txBody>
          <a:bodyPr wrap="square">
            <a:spAutoFit/>
          </a:bodyPr>
          <a:lstStyle/>
          <a:p>
            <a:pPr algn="ctr"/>
            <a:r>
              <a:rPr sz="900" b="1" i="0">
                <a:solidFill>
                  <a:srgbClr val="FFFFFF"/>
                </a:solidFill>
                <a:latin typeface="Calibri"/>
              </a:rPr>
              <a:t>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41732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417320"/>
            <a:ext cx="12188952" cy="50292"/>
          </a:xfrm>
          <a:prstGeom prst="rect">
            <a:avLst/>
          </a:prstGeom>
          <a:solidFill>
            <a:srgbClr val="E0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164592"/>
            <a:ext cx="11457432" cy="804672"/>
          </a:xfrm>
          <a:prstGeom prst="rect">
            <a:avLst/>
          </a:prstGeom>
          <a:noFill/>
        </p:spPr>
        <p:txBody>
          <a:bodyPr wrap="square">
            <a:spAutoFit/>
          </a:bodyPr>
          <a:lstStyle/>
          <a:p>
            <a:pPr algn="l"/>
            <a:r>
              <a:rPr sz="3000" b="1" i="0">
                <a:solidFill>
                  <a:srgbClr val="FFFFFF"/>
                </a:solidFill>
                <a:latin typeface="Calibri"/>
              </a:rPr>
              <a:t>System Architecture &amp; Technology Stack</a:t>
            </a:r>
          </a:p>
        </p:txBody>
      </p:sp>
      <p:sp>
        <p:nvSpPr>
          <p:cNvPr id="6" name="TextBox 5"/>
          <p:cNvSpPr txBox="1"/>
          <p:nvPr/>
        </p:nvSpPr>
        <p:spPr>
          <a:xfrm>
            <a:off x="365760" y="914400"/>
            <a:ext cx="11457432" cy="457200"/>
          </a:xfrm>
          <a:prstGeom prst="rect">
            <a:avLst/>
          </a:prstGeom>
          <a:noFill/>
        </p:spPr>
        <p:txBody>
          <a:bodyPr wrap="square">
            <a:spAutoFit/>
          </a:bodyPr>
          <a:lstStyle/>
          <a:p>
            <a:pPr algn="l"/>
            <a:r>
              <a:rPr sz="1300" b="0" i="1">
                <a:solidFill>
                  <a:srgbClr val="F5A623"/>
                </a:solidFill>
                <a:latin typeface="Calibri"/>
              </a:rPr>
              <a:t>How all the pieces fit together from raw data to web dashboard</a:t>
            </a:r>
          </a:p>
        </p:txBody>
      </p:sp>
      <p:sp>
        <p:nvSpPr>
          <p:cNvPr id="7" name="Rectangle 6"/>
          <p:cNvSpPr/>
          <p:nvPr/>
        </p:nvSpPr>
        <p:spPr>
          <a:xfrm>
            <a:off x="365760" y="1920240"/>
            <a:ext cx="2011680" cy="1920240"/>
          </a:xfrm>
          <a:prstGeom prst="rect">
            <a:avLst/>
          </a:prstGeom>
          <a:solidFill>
            <a:srgbClr val="1E3A5F"/>
          </a:solidFill>
          <a:ln w="1524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365760" y="1920240"/>
            <a:ext cx="2011680" cy="9144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57200" y="2057400"/>
            <a:ext cx="1828800" cy="384048"/>
          </a:xfrm>
          <a:prstGeom prst="rect">
            <a:avLst/>
          </a:prstGeom>
          <a:noFill/>
        </p:spPr>
        <p:txBody>
          <a:bodyPr wrap="square">
            <a:spAutoFit/>
          </a:bodyPr>
          <a:lstStyle/>
          <a:p>
            <a:pPr algn="ctr"/>
            <a:r>
              <a:rPr sz="1250" b="1" i="0">
                <a:solidFill>
                  <a:srgbClr val="00B4D8"/>
                </a:solidFill>
                <a:latin typeface="Calibri"/>
              </a:rPr>
              <a:t>Data Layer</a:t>
            </a:r>
          </a:p>
        </p:txBody>
      </p:sp>
      <p:sp>
        <p:nvSpPr>
          <p:cNvPr id="10" name="Rectangle 9"/>
          <p:cNvSpPr/>
          <p:nvPr/>
        </p:nvSpPr>
        <p:spPr>
          <a:xfrm>
            <a:off x="457200" y="2468880"/>
            <a:ext cx="1828800" cy="2286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57200" y="2542032"/>
            <a:ext cx="1828800" cy="1188720"/>
          </a:xfrm>
          <a:prstGeom prst="rect">
            <a:avLst/>
          </a:prstGeom>
          <a:noFill/>
        </p:spPr>
        <p:txBody>
          <a:bodyPr wrap="square">
            <a:spAutoFit/>
          </a:bodyPr>
          <a:lstStyle/>
          <a:p>
            <a:pPr algn="ctr"/>
            <a:r>
              <a:rPr sz="1050" b="0" i="0">
                <a:solidFill>
                  <a:srgbClr val="F0F4FF"/>
                </a:solidFill>
                <a:latin typeface="Calibri"/>
              </a:rPr>
              <a:t>Raw accidents
Cleaned &amp; stored
Feature catalog</a:t>
            </a:r>
          </a:p>
        </p:txBody>
      </p:sp>
      <p:sp>
        <p:nvSpPr>
          <p:cNvPr id="12" name="TextBox 11"/>
          <p:cNvSpPr txBox="1"/>
          <p:nvPr/>
        </p:nvSpPr>
        <p:spPr>
          <a:xfrm>
            <a:off x="2423160" y="2578608"/>
            <a:ext cx="274320" cy="502920"/>
          </a:xfrm>
          <a:prstGeom prst="rect">
            <a:avLst/>
          </a:prstGeom>
          <a:noFill/>
        </p:spPr>
        <p:txBody>
          <a:bodyPr wrap="square">
            <a:spAutoFit/>
          </a:bodyPr>
          <a:lstStyle/>
          <a:p>
            <a:pPr algn="ctr"/>
            <a:r>
              <a:rPr sz="2200" b="1" i="0">
                <a:solidFill>
                  <a:srgbClr val="F5A623"/>
                </a:solidFill>
                <a:latin typeface="Calibri"/>
              </a:rPr>
              <a:t>-&gt;</a:t>
            </a:r>
          </a:p>
        </p:txBody>
      </p:sp>
      <p:sp>
        <p:nvSpPr>
          <p:cNvPr id="13" name="Rectangle 12"/>
          <p:cNvSpPr/>
          <p:nvPr/>
        </p:nvSpPr>
        <p:spPr>
          <a:xfrm>
            <a:off x="2697480" y="1920240"/>
            <a:ext cx="2011680" cy="1920240"/>
          </a:xfrm>
          <a:prstGeom prst="rect">
            <a:avLst/>
          </a:prstGeom>
          <a:solidFill>
            <a:srgbClr val="1E3A5F"/>
          </a:solidFill>
          <a:ln w="15240">
            <a:solidFill>
              <a:srgbClr val="F5A62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2697480" y="1920240"/>
            <a:ext cx="2011680" cy="91440"/>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788920" y="2057400"/>
            <a:ext cx="1828800" cy="384048"/>
          </a:xfrm>
          <a:prstGeom prst="rect">
            <a:avLst/>
          </a:prstGeom>
          <a:noFill/>
        </p:spPr>
        <p:txBody>
          <a:bodyPr wrap="square">
            <a:spAutoFit/>
          </a:bodyPr>
          <a:lstStyle/>
          <a:p>
            <a:pPr algn="ctr"/>
            <a:r>
              <a:rPr sz="1250" b="1" i="0">
                <a:solidFill>
                  <a:srgbClr val="F5A623"/>
                </a:solidFill>
                <a:latin typeface="Calibri"/>
              </a:rPr>
              <a:t>ML Engine</a:t>
            </a:r>
          </a:p>
        </p:txBody>
      </p:sp>
      <p:sp>
        <p:nvSpPr>
          <p:cNvPr id="16" name="Rectangle 15"/>
          <p:cNvSpPr/>
          <p:nvPr/>
        </p:nvSpPr>
        <p:spPr>
          <a:xfrm>
            <a:off x="2788920" y="2468880"/>
            <a:ext cx="1828800" cy="22860"/>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788920" y="2542032"/>
            <a:ext cx="1828800" cy="1188720"/>
          </a:xfrm>
          <a:prstGeom prst="rect">
            <a:avLst/>
          </a:prstGeom>
          <a:noFill/>
        </p:spPr>
        <p:txBody>
          <a:bodyPr wrap="square">
            <a:spAutoFit/>
          </a:bodyPr>
          <a:lstStyle/>
          <a:p>
            <a:pPr algn="ctr"/>
            <a:r>
              <a:rPr sz="1050" b="0" i="0">
                <a:solidFill>
                  <a:srgbClr val="F0F4FF"/>
                </a:solidFill>
                <a:latin typeface="Calibri"/>
              </a:rPr>
              <a:t>Severity model
Duration model
Clustering models</a:t>
            </a:r>
          </a:p>
        </p:txBody>
      </p:sp>
      <p:sp>
        <p:nvSpPr>
          <p:cNvPr id="18" name="TextBox 17"/>
          <p:cNvSpPr txBox="1"/>
          <p:nvPr/>
        </p:nvSpPr>
        <p:spPr>
          <a:xfrm>
            <a:off x="4754880" y="2578608"/>
            <a:ext cx="274320" cy="502920"/>
          </a:xfrm>
          <a:prstGeom prst="rect">
            <a:avLst/>
          </a:prstGeom>
          <a:noFill/>
        </p:spPr>
        <p:txBody>
          <a:bodyPr wrap="square">
            <a:spAutoFit/>
          </a:bodyPr>
          <a:lstStyle/>
          <a:p>
            <a:pPr algn="ctr"/>
            <a:r>
              <a:rPr sz="2200" b="1" i="0">
                <a:solidFill>
                  <a:srgbClr val="F5A623"/>
                </a:solidFill>
                <a:latin typeface="Calibri"/>
              </a:rPr>
              <a:t>-&gt;</a:t>
            </a:r>
          </a:p>
        </p:txBody>
      </p:sp>
      <p:sp>
        <p:nvSpPr>
          <p:cNvPr id="19" name="Rectangle 18"/>
          <p:cNvSpPr/>
          <p:nvPr/>
        </p:nvSpPr>
        <p:spPr>
          <a:xfrm>
            <a:off x="5029200" y="1920240"/>
            <a:ext cx="2011680" cy="1920240"/>
          </a:xfrm>
          <a:prstGeom prst="rect">
            <a:avLst/>
          </a:prstGeom>
          <a:solidFill>
            <a:srgbClr val="1E3A5F"/>
          </a:solidFill>
          <a:ln w="15240">
            <a:solidFill>
              <a:srgbClr val="E02B2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5029200" y="1920240"/>
            <a:ext cx="2011680" cy="91440"/>
          </a:xfrm>
          <a:prstGeom prst="rect">
            <a:avLst/>
          </a:prstGeom>
          <a:solidFill>
            <a:srgbClr val="E0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120640" y="2057400"/>
            <a:ext cx="1828800" cy="384048"/>
          </a:xfrm>
          <a:prstGeom prst="rect">
            <a:avLst/>
          </a:prstGeom>
          <a:noFill/>
        </p:spPr>
        <p:txBody>
          <a:bodyPr wrap="square">
            <a:spAutoFit/>
          </a:bodyPr>
          <a:lstStyle/>
          <a:p>
            <a:pPr algn="ctr"/>
            <a:r>
              <a:rPr sz="1250" b="1" i="0">
                <a:solidFill>
                  <a:srgbClr val="E02B2B"/>
                </a:solidFill>
                <a:latin typeface="Calibri"/>
              </a:rPr>
              <a:t>Evaluation</a:t>
            </a:r>
          </a:p>
        </p:txBody>
      </p:sp>
      <p:sp>
        <p:nvSpPr>
          <p:cNvPr id="22" name="Rectangle 21"/>
          <p:cNvSpPr/>
          <p:nvPr/>
        </p:nvSpPr>
        <p:spPr>
          <a:xfrm>
            <a:off x="5120640" y="2468880"/>
            <a:ext cx="1828800" cy="22860"/>
          </a:xfrm>
          <a:prstGeom prst="rect">
            <a:avLst/>
          </a:prstGeom>
          <a:solidFill>
            <a:srgbClr val="E0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120640" y="2542032"/>
            <a:ext cx="1828800" cy="1188720"/>
          </a:xfrm>
          <a:prstGeom prst="rect">
            <a:avLst/>
          </a:prstGeom>
          <a:noFill/>
        </p:spPr>
        <p:txBody>
          <a:bodyPr wrap="square">
            <a:spAutoFit/>
          </a:bodyPr>
          <a:lstStyle/>
          <a:p>
            <a:pPr algn="ctr"/>
            <a:r>
              <a:rPr sz="1050" b="0" i="0">
                <a:solidFill>
                  <a:srgbClr val="F0F4FF"/>
                </a:solidFill>
                <a:latin typeface="Calibri"/>
              </a:rPr>
              <a:t>Cross-validation
Calibration
Hyperparameter tuning</a:t>
            </a:r>
          </a:p>
        </p:txBody>
      </p:sp>
      <p:sp>
        <p:nvSpPr>
          <p:cNvPr id="24" name="TextBox 23"/>
          <p:cNvSpPr txBox="1"/>
          <p:nvPr/>
        </p:nvSpPr>
        <p:spPr>
          <a:xfrm>
            <a:off x="7086600" y="2578608"/>
            <a:ext cx="274320" cy="502920"/>
          </a:xfrm>
          <a:prstGeom prst="rect">
            <a:avLst/>
          </a:prstGeom>
          <a:noFill/>
        </p:spPr>
        <p:txBody>
          <a:bodyPr wrap="square">
            <a:spAutoFit/>
          </a:bodyPr>
          <a:lstStyle/>
          <a:p>
            <a:pPr algn="ctr"/>
            <a:r>
              <a:rPr sz="2200" b="1" i="0">
                <a:solidFill>
                  <a:srgbClr val="F5A623"/>
                </a:solidFill>
                <a:latin typeface="Calibri"/>
              </a:rPr>
              <a:t>-&gt;</a:t>
            </a:r>
          </a:p>
        </p:txBody>
      </p:sp>
      <p:sp>
        <p:nvSpPr>
          <p:cNvPr id="25" name="Rectangle 24"/>
          <p:cNvSpPr/>
          <p:nvPr/>
        </p:nvSpPr>
        <p:spPr>
          <a:xfrm>
            <a:off x="7360920" y="1920240"/>
            <a:ext cx="2011680" cy="1920240"/>
          </a:xfrm>
          <a:prstGeom prst="rect">
            <a:avLst/>
          </a:prstGeom>
          <a:solidFill>
            <a:srgbClr val="1E3A5F"/>
          </a:solidFill>
          <a:ln w="15240">
            <a:solidFill>
              <a:srgbClr val="9B59B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7360920" y="1920240"/>
            <a:ext cx="2011680" cy="91440"/>
          </a:xfrm>
          <a:prstGeom prst="rect">
            <a:avLst/>
          </a:prstGeom>
          <a:solidFill>
            <a:srgbClr val="9B59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452360" y="2057400"/>
            <a:ext cx="1828800" cy="384048"/>
          </a:xfrm>
          <a:prstGeom prst="rect">
            <a:avLst/>
          </a:prstGeom>
          <a:noFill/>
        </p:spPr>
        <p:txBody>
          <a:bodyPr wrap="square">
            <a:spAutoFit/>
          </a:bodyPr>
          <a:lstStyle/>
          <a:p>
            <a:pPr algn="ctr"/>
            <a:r>
              <a:rPr sz="1250" b="1" i="0">
                <a:solidFill>
                  <a:srgbClr val="9B59B6"/>
                </a:solidFill>
                <a:latin typeface="Calibri"/>
              </a:rPr>
              <a:t>API Backend</a:t>
            </a:r>
          </a:p>
        </p:txBody>
      </p:sp>
      <p:sp>
        <p:nvSpPr>
          <p:cNvPr id="28" name="Rectangle 27"/>
          <p:cNvSpPr/>
          <p:nvPr/>
        </p:nvSpPr>
        <p:spPr>
          <a:xfrm>
            <a:off x="7452360" y="2468880"/>
            <a:ext cx="1828800" cy="22860"/>
          </a:xfrm>
          <a:prstGeom prst="rect">
            <a:avLst/>
          </a:prstGeom>
          <a:solidFill>
            <a:srgbClr val="9B59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7452360" y="2542032"/>
            <a:ext cx="1828800" cy="1188720"/>
          </a:xfrm>
          <a:prstGeom prst="rect">
            <a:avLst/>
          </a:prstGeom>
          <a:noFill/>
        </p:spPr>
        <p:txBody>
          <a:bodyPr wrap="square">
            <a:spAutoFit/>
          </a:bodyPr>
          <a:lstStyle/>
          <a:p>
            <a:pPr algn="ctr"/>
            <a:r>
              <a:rPr sz="1050" b="0" i="0">
                <a:solidFill>
                  <a:srgbClr val="F0F4FF"/>
                </a:solidFill>
                <a:latin typeface="Calibri"/>
              </a:rPr>
              <a:t>Flask REST API
Prediction endpoint
Drift monitor</a:t>
            </a:r>
          </a:p>
        </p:txBody>
      </p:sp>
      <p:sp>
        <p:nvSpPr>
          <p:cNvPr id="30" name="TextBox 29"/>
          <p:cNvSpPr txBox="1"/>
          <p:nvPr/>
        </p:nvSpPr>
        <p:spPr>
          <a:xfrm>
            <a:off x="9418320" y="2578608"/>
            <a:ext cx="274320" cy="502920"/>
          </a:xfrm>
          <a:prstGeom prst="rect">
            <a:avLst/>
          </a:prstGeom>
          <a:noFill/>
        </p:spPr>
        <p:txBody>
          <a:bodyPr wrap="square">
            <a:spAutoFit/>
          </a:bodyPr>
          <a:lstStyle/>
          <a:p>
            <a:pPr algn="ctr"/>
            <a:r>
              <a:rPr sz="2200" b="1" i="0">
                <a:solidFill>
                  <a:srgbClr val="F5A623"/>
                </a:solidFill>
                <a:latin typeface="Calibri"/>
              </a:rPr>
              <a:t>-&gt;</a:t>
            </a:r>
          </a:p>
        </p:txBody>
      </p:sp>
      <p:sp>
        <p:nvSpPr>
          <p:cNvPr id="31" name="Rectangle 30"/>
          <p:cNvSpPr/>
          <p:nvPr/>
        </p:nvSpPr>
        <p:spPr>
          <a:xfrm>
            <a:off x="9692640" y="1920240"/>
            <a:ext cx="2011680" cy="1920240"/>
          </a:xfrm>
          <a:prstGeom prst="rect">
            <a:avLst/>
          </a:prstGeom>
          <a:solidFill>
            <a:srgbClr val="1E3A5F"/>
          </a:solidFill>
          <a:ln w="15240">
            <a:solidFill>
              <a:srgbClr val="2ECC7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9692640" y="1920240"/>
            <a:ext cx="2011680" cy="9144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9784080" y="2057400"/>
            <a:ext cx="1828800" cy="384048"/>
          </a:xfrm>
          <a:prstGeom prst="rect">
            <a:avLst/>
          </a:prstGeom>
          <a:noFill/>
        </p:spPr>
        <p:txBody>
          <a:bodyPr wrap="square">
            <a:spAutoFit/>
          </a:bodyPr>
          <a:lstStyle/>
          <a:p>
            <a:pPr algn="ctr"/>
            <a:r>
              <a:rPr sz="1250" b="1" i="0">
                <a:solidFill>
                  <a:srgbClr val="2ECC71"/>
                </a:solidFill>
                <a:latin typeface="Calibri"/>
              </a:rPr>
              <a:t>Web Dashboard</a:t>
            </a:r>
          </a:p>
        </p:txBody>
      </p:sp>
      <p:sp>
        <p:nvSpPr>
          <p:cNvPr id="34" name="Rectangle 33"/>
          <p:cNvSpPr/>
          <p:nvPr/>
        </p:nvSpPr>
        <p:spPr>
          <a:xfrm>
            <a:off x="9784080" y="2468880"/>
            <a:ext cx="1828800" cy="2286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9784080" y="2542032"/>
            <a:ext cx="1828800" cy="1188720"/>
          </a:xfrm>
          <a:prstGeom prst="rect">
            <a:avLst/>
          </a:prstGeom>
          <a:noFill/>
        </p:spPr>
        <p:txBody>
          <a:bodyPr wrap="square">
            <a:spAutoFit/>
          </a:bodyPr>
          <a:lstStyle/>
          <a:p>
            <a:pPr algn="ctr"/>
            <a:r>
              <a:rPr sz="1050" b="0" i="0">
                <a:solidFill>
                  <a:srgbClr val="F0F4FF"/>
                </a:solidFill>
                <a:latin typeface="Calibri"/>
              </a:rPr>
              <a:t>HTML5 interface
Live forms &amp; results
Mobile-friendly</a:t>
            </a:r>
          </a:p>
        </p:txBody>
      </p:sp>
      <p:sp>
        <p:nvSpPr>
          <p:cNvPr id="36" name="TextBox 35"/>
          <p:cNvSpPr txBox="1"/>
          <p:nvPr/>
        </p:nvSpPr>
        <p:spPr>
          <a:xfrm>
            <a:off x="365760" y="4041648"/>
            <a:ext cx="4572000" cy="384048"/>
          </a:xfrm>
          <a:prstGeom prst="rect">
            <a:avLst/>
          </a:prstGeom>
          <a:noFill/>
        </p:spPr>
        <p:txBody>
          <a:bodyPr wrap="square">
            <a:spAutoFit/>
          </a:bodyPr>
          <a:lstStyle/>
          <a:p>
            <a:pPr algn="l"/>
            <a:r>
              <a:rPr sz="1400" b="1" i="0">
                <a:solidFill>
                  <a:srgbClr val="00B4D8"/>
                </a:solidFill>
                <a:latin typeface="Calibri"/>
              </a:rPr>
              <a:t>Tools &amp; Libraries Used</a:t>
            </a:r>
          </a:p>
        </p:txBody>
      </p:sp>
      <p:sp>
        <p:nvSpPr>
          <p:cNvPr id="37" name="Rectangle 36"/>
          <p:cNvSpPr/>
          <p:nvPr/>
        </p:nvSpPr>
        <p:spPr>
          <a:xfrm>
            <a:off x="365760" y="4434840"/>
            <a:ext cx="11475720" cy="36576"/>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365760" y="4526280"/>
            <a:ext cx="2194560" cy="329184"/>
          </a:xfrm>
          <a:prstGeom prst="rect">
            <a:avLst/>
          </a:prstGeom>
          <a:noFill/>
        </p:spPr>
        <p:txBody>
          <a:bodyPr wrap="square">
            <a:spAutoFit/>
          </a:bodyPr>
          <a:lstStyle/>
          <a:p>
            <a:pPr algn="l"/>
            <a:r>
              <a:rPr sz="1100" b="1" i="0">
                <a:solidFill>
                  <a:srgbClr val="F5A623"/>
                </a:solidFill>
                <a:latin typeface="Calibri"/>
              </a:rPr>
              <a:t>Machine Learning</a:t>
            </a:r>
          </a:p>
        </p:txBody>
      </p:sp>
      <p:sp>
        <p:nvSpPr>
          <p:cNvPr id="39" name="TextBox 38"/>
          <p:cNvSpPr txBox="1"/>
          <p:nvPr/>
        </p:nvSpPr>
        <p:spPr>
          <a:xfrm>
            <a:off x="365760" y="4864608"/>
            <a:ext cx="2194560" cy="274320"/>
          </a:xfrm>
          <a:prstGeom prst="rect">
            <a:avLst/>
          </a:prstGeom>
          <a:noFill/>
        </p:spPr>
        <p:txBody>
          <a:bodyPr wrap="square">
            <a:spAutoFit/>
          </a:bodyPr>
          <a:lstStyle/>
          <a:p>
            <a:pPr algn="l"/>
            <a:r>
              <a:rPr sz="1000" b="0" i="0">
                <a:solidFill>
                  <a:srgbClr val="F0F4FF"/>
                </a:solidFill>
                <a:latin typeface="Calibri"/>
              </a:rPr>
              <a:t>  Scikit-Learn</a:t>
            </a:r>
          </a:p>
        </p:txBody>
      </p:sp>
      <p:sp>
        <p:nvSpPr>
          <p:cNvPr id="40" name="TextBox 39"/>
          <p:cNvSpPr txBox="1"/>
          <p:nvPr/>
        </p:nvSpPr>
        <p:spPr>
          <a:xfrm>
            <a:off x="365760" y="5138928"/>
            <a:ext cx="2194560" cy="274320"/>
          </a:xfrm>
          <a:prstGeom prst="rect">
            <a:avLst/>
          </a:prstGeom>
          <a:noFill/>
        </p:spPr>
        <p:txBody>
          <a:bodyPr wrap="square">
            <a:spAutoFit/>
          </a:bodyPr>
          <a:lstStyle/>
          <a:p>
            <a:pPr algn="l"/>
            <a:r>
              <a:rPr sz="1000" b="0" i="0">
                <a:solidFill>
                  <a:srgbClr val="F0F4FF"/>
                </a:solidFill>
                <a:latin typeface="Calibri"/>
              </a:rPr>
              <a:t>  LightGBM</a:t>
            </a:r>
          </a:p>
        </p:txBody>
      </p:sp>
      <p:sp>
        <p:nvSpPr>
          <p:cNvPr id="41" name="TextBox 40"/>
          <p:cNvSpPr txBox="1"/>
          <p:nvPr/>
        </p:nvSpPr>
        <p:spPr>
          <a:xfrm>
            <a:off x="365760" y="5413248"/>
            <a:ext cx="2194560" cy="274320"/>
          </a:xfrm>
          <a:prstGeom prst="rect">
            <a:avLst/>
          </a:prstGeom>
          <a:noFill/>
        </p:spPr>
        <p:txBody>
          <a:bodyPr wrap="square">
            <a:spAutoFit/>
          </a:bodyPr>
          <a:lstStyle/>
          <a:p>
            <a:pPr algn="l"/>
            <a:r>
              <a:rPr sz="1000" b="0" i="0">
                <a:solidFill>
                  <a:srgbClr val="F0F4FF"/>
                </a:solidFill>
                <a:latin typeface="Calibri"/>
              </a:rPr>
              <a:t>  XGBoost</a:t>
            </a:r>
          </a:p>
        </p:txBody>
      </p:sp>
      <p:sp>
        <p:nvSpPr>
          <p:cNvPr id="42" name="TextBox 41"/>
          <p:cNvSpPr txBox="1"/>
          <p:nvPr/>
        </p:nvSpPr>
        <p:spPr>
          <a:xfrm>
            <a:off x="2724912" y="4526280"/>
            <a:ext cx="2194560" cy="329184"/>
          </a:xfrm>
          <a:prstGeom prst="rect">
            <a:avLst/>
          </a:prstGeom>
          <a:noFill/>
        </p:spPr>
        <p:txBody>
          <a:bodyPr wrap="square">
            <a:spAutoFit/>
          </a:bodyPr>
          <a:lstStyle/>
          <a:p>
            <a:pPr algn="l"/>
            <a:r>
              <a:rPr sz="1100" b="1" i="0">
                <a:solidFill>
                  <a:srgbClr val="F5A623"/>
                </a:solidFill>
                <a:latin typeface="Calibri"/>
              </a:rPr>
              <a:t>Data Handling</a:t>
            </a:r>
          </a:p>
        </p:txBody>
      </p:sp>
      <p:sp>
        <p:nvSpPr>
          <p:cNvPr id="43" name="TextBox 42"/>
          <p:cNvSpPr txBox="1"/>
          <p:nvPr/>
        </p:nvSpPr>
        <p:spPr>
          <a:xfrm>
            <a:off x="2724912" y="4864608"/>
            <a:ext cx="2194560" cy="274320"/>
          </a:xfrm>
          <a:prstGeom prst="rect">
            <a:avLst/>
          </a:prstGeom>
          <a:noFill/>
        </p:spPr>
        <p:txBody>
          <a:bodyPr wrap="square">
            <a:spAutoFit/>
          </a:bodyPr>
          <a:lstStyle/>
          <a:p>
            <a:pPr algn="l"/>
            <a:r>
              <a:rPr sz="1000" b="0" i="0">
                <a:solidFill>
                  <a:srgbClr val="F0F4FF"/>
                </a:solidFill>
                <a:latin typeface="Calibri"/>
              </a:rPr>
              <a:t>  Pandas</a:t>
            </a:r>
          </a:p>
        </p:txBody>
      </p:sp>
      <p:sp>
        <p:nvSpPr>
          <p:cNvPr id="44" name="TextBox 43"/>
          <p:cNvSpPr txBox="1"/>
          <p:nvPr/>
        </p:nvSpPr>
        <p:spPr>
          <a:xfrm>
            <a:off x="2724912" y="5138928"/>
            <a:ext cx="2194560" cy="274320"/>
          </a:xfrm>
          <a:prstGeom prst="rect">
            <a:avLst/>
          </a:prstGeom>
          <a:noFill/>
        </p:spPr>
        <p:txBody>
          <a:bodyPr wrap="square">
            <a:spAutoFit/>
          </a:bodyPr>
          <a:lstStyle/>
          <a:p>
            <a:pPr algn="l"/>
            <a:r>
              <a:rPr sz="1000" b="0" i="0">
                <a:solidFill>
                  <a:srgbClr val="F0F4FF"/>
                </a:solidFill>
                <a:latin typeface="Calibri"/>
              </a:rPr>
              <a:t>  NumPy</a:t>
            </a:r>
          </a:p>
        </p:txBody>
      </p:sp>
      <p:sp>
        <p:nvSpPr>
          <p:cNvPr id="45" name="TextBox 44"/>
          <p:cNvSpPr txBox="1"/>
          <p:nvPr/>
        </p:nvSpPr>
        <p:spPr>
          <a:xfrm>
            <a:off x="2724912" y="5413248"/>
            <a:ext cx="2194560" cy="274320"/>
          </a:xfrm>
          <a:prstGeom prst="rect">
            <a:avLst/>
          </a:prstGeom>
          <a:noFill/>
        </p:spPr>
        <p:txBody>
          <a:bodyPr wrap="square">
            <a:spAutoFit/>
          </a:bodyPr>
          <a:lstStyle/>
          <a:p>
            <a:pPr algn="l"/>
            <a:r>
              <a:rPr sz="1000" b="0" i="0">
                <a:solidFill>
                  <a:srgbClr val="F0F4FF"/>
                </a:solidFill>
                <a:latin typeface="Calibri"/>
              </a:rPr>
              <a:t>  Matplotlib</a:t>
            </a:r>
          </a:p>
        </p:txBody>
      </p:sp>
      <p:sp>
        <p:nvSpPr>
          <p:cNvPr id="46" name="TextBox 45"/>
          <p:cNvSpPr txBox="1"/>
          <p:nvPr/>
        </p:nvSpPr>
        <p:spPr>
          <a:xfrm>
            <a:off x="5084064" y="4526280"/>
            <a:ext cx="2194560" cy="329184"/>
          </a:xfrm>
          <a:prstGeom prst="rect">
            <a:avLst/>
          </a:prstGeom>
          <a:noFill/>
        </p:spPr>
        <p:txBody>
          <a:bodyPr wrap="square">
            <a:spAutoFit/>
          </a:bodyPr>
          <a:lstStyle/>
          <a:p>
            <a:pPr algn="l"/>
            <a:r>
              <a:rPr sz="1100" b="1" i="0">
                <a:solidFill>
                  <a:srgbClr val="F5A623"/>
                </a:solidFill>
                <a:latin typeface="Calibri"/>
              </a:rPr>
              <a:t>Backend / API</a:t>
            </a:r>
          </a:p>
        </p:txBody>
      </p:sp>
      <p:sp>
        <p:nvSpPr>
          <p:cNvPr id="47" name="TextBox 46"/>
          <p:cNvSpPr txBox="1"/>
          <p:nvPr/>
        </p:nvSpPr>
        <p:spPr>
          <a:xfrm>
            <a:off x="5084064" y="4864608"/>
            <a:ext cx="2194560" cy="274320"/>
          </a:xfrm>
          <a:prstGeom prst="rect">
            <a:avLst/>
          </a:prstGeom>
          <a:noFill/>
        </p:spPr>
        <p:txBody>
          <a:bodyPr wrap="square">
            <a:spAutoFit/>
          </a:bodyPr>
          <a:lstStyle/>
          <a:p>
            <a:pPr algn="l"/>
            <a:r>
              <a:rPr sz="1000" b="0" i="0">
                <a:solidFill>
                  <a:srgbClr val="F0F4FF"/>
                </a:solidFill>
                <a:latin typeface="Calibri"/>
              </a:rPr>
              <a:t>  Flask</a:t>
            </a:r>
          </a:p>
        </p:txBody>
      </p:sp>
      <p:sp>
        <p:nvSpPr>
          <p:cNvPr id="48" name="TextBox 47"/>
          <p:cNvSpPr txBox="1"/>
          <p:nvPr/>
        </p:nvSpPr>
        <p:spPr>
          <a:xfrm>
            <a:off x="5084064" y="5138928"/>
            <a:ext cx="2194560" cy="274320"/>
          </a:xfrm>
          <a:prstGeom prst="rect">
            <a:avLst/>
          </a:prstGeom>
          <a:noFill/>
        </p:spPr>
        <p:txBody>
          <a:bodyPr wrap="square">
            <a:spAutoFit/>
          </a:bodyPr>
          <a:lstStyle/>
          <a:p>
            <a:pPr algn="l"/>
            <a:r>
              <a:rPr sz="1000" b="0" i="0">
                <a:solidFill>
                  <a:srgbClr val="F0F4FF"/>
                </a:solidFill>
                <a:latin typeface="Calibri"/>
              </a:rPr>
              <a:t>  Python 3</a:t>
            </a:r>
          </a:p>
        </p:txBody>
      </p:sp>
      <p:sp>
        <p:nvSpPr>
          <p:cNvPr id="49" name="TextBox 48"/>
          <p:cNvSpPr txBox="1"/>
          <p:nvPr/>
        </p:nvSpPr>
        <p:spPr>
          <a:xfrm>
            <a:off x="5084064" y="5413248"/>
            <a:ext cx="2194560" cy="274320"/>
          </a:xfrm>
          <a:prstGeom prst="rect">
            <a:avLst/>
          </a:prstGeom>
          <a:noFill/>
        </p:spPr>
        <p:txBody>
          <a:bodyPr wrap="square">
            <a:spAutoFit/>
          </a:bodyPr>
          <a:lstStyle/>
          <a:p>
            <a:pPr algn="l"/>
            <a:r>
              <a:rPr sz="1000" b="0" i="0">
                <a:solidFill>
                  <a:srgbClr val="F0F4FF"/>
                </a:solidFill>
                <a:latin typeface="Calibri"/>
              </a:rPr>
              <a:t>  REST / JSON</a:t>
            </a:r>
          </a:p>
        </p:txBody>
      </p:sp>
      <p:sp>
        <p:nvSpPr>
          <p:cNvPr id="50" name="TextBox 49"/>
          <p:cNvSpPr txBox="1"/>
          <p:nvPr/>
        </p:nvSpPr>
        <p:spPr>
          <a:xfrm>
            <a:off x="7443216" y="4526280"/>
            <a:ext cx="2194560" cy="329184"/>
          </a:xfrm>
          <a:prstGeom prst="rect">
            <a:avLst/>
          </a:prstGeom>
          <a:noFill/>
        </p:spPr>
        <p:txBody>
          <a:bodyPr wrap="square">
            <a:spAutoFit/>
          </a:bodyPr>
          <a:lstStyle/>
          <a:p>
            <a:pPr algn="l"/>
            <a:r>
              <a:rPr sz="1100" b="1" i="0">
                <a:solidFill>
                  <a:srgbClr val="F5A623"/>
                </a:solidFill>
                <a:latin typeface="Calibri"/>
              </a:rPr>
              <a:t>Frontend</a:t>
            </a:r>
          </a:p>
        </p:txBody>
      </p:sp>
      <p:sp>
        <p:nvSpPr>
          <p:cNvPr id="51" name="TextBox 50"/>
          <p:cNvSpPr txBox="1"/>
          <p:nvPr/>
        </p:nvSpPr>
        <p:spPr>
          <a:xfrm>
            <a:off x="7443216" y="4864608"/>
            <a:ext cx="2194560" cy="274320"/>
          </a:xfrm>
          <a:prstGeom prst="rect">
            <a:avLst/>
          </a:prstGeom>
          <a:noFill/>
        </p:spPr>
        <p:txBody>
          <a:bodyPr wrap="square">
            <a:spAutoFit/>
          </a:bodyPr>
          <a:lstStyle/>
          <a:p>
            <a:pPr algn="l"/>
            <a:r>
              <a:rPr sz="1000" b="0" i="0">
                <a:solidFill>
                  <a:srgbClr val="F0F4FF"/>
                </a:solidFill>
                <a:latin typeface="Calibri"/>
              </a:rPr>
              <a:t>  HTML5</a:t>
            </a:r>
          </a:p>
        </p:txBody>
      </p:sp>
      <p:sp>
        <p:nvSpPr>
          <p:cNvPr id="52" name="TextBox 51"/>
          <p:cNvSpPr txBox="1"/>
          <p:nvPr/>
        </p:nvSpPr>
        <p:spPr>
          <a:xfrm>
            <a:off x="7443216" y="5138928"/>
            <a:ext cx="2194560" cy="274320"/>
          </a:xfrm>
          <a:prstGeom prst="rect">
            <a:avLst/>
          </a:prstGeom>
          <a:noFill/>
        </p:spPr>
        <p:txBody>
          <a:bodyPr wrap="square">
            <a:spAutoFit/>
          </a:bodyPr>
          <a:lstStyle/>
          <a:p>
            <a:pPr algn="l"/>
            <a:r>
              <a:rPr sz="1000" b="0" i="0">
                <a:solidFill>
                  <a:srgbClr val="F0F4FF"/>
                </a:solidFill>
                <a:latin typeface="Calibri"/>
              </a:rPr>
              <a:t>  CSS3</a:t>
            </a:r>
          </a:p>
        </p:txBody>
      </p:sp>
      <p:sp>
        <p:nvSpPr>
          <p:cNvPr id="53" name="TextBox 52"/>
          <p:cNvSpPr txBox="1"/>
          <p:nvPr/>
        </p:nvSpPr>
        <p:spPr>
          <a:xfrm>
            <a:off x="7443216" y="5413248"/>
            <a:ext cx="2194560" cy="274320"/>
          </a:xfrm>
          <a:prstGeom prst="rect">
            <a:avLst/>
          </a:prstGeom>
          <a:noFill/>
        </p:spPr>
        <p:txBody>
          <a:bodyPr wrap="square">
            <a:spAutoFit/>
          </a:bodyPr>
          <a:lstStyle/>
          <a:p>
            <a:pPr algn="l"/>
            <a:r>
              <a:rPr sz="1000" b="0" i="0">
                <a:solidFill>
                  <a:srgbClr val="F0F4FF"/>
                </a:solidFill>
                <a:latin typeface="Calibri"/>
              </a:rPr>
              <a:t>  JavaScript (AJAX)</a:t>
            </a:r>
          </a:p>
        </p:txBody>
      </p:sp>
      <p:sp>
        <p:nvSpPr>
          <p:cNvPr id="54" name="TextBox 53"/>
          <p:cNvSpPr txBox="1"/>
          <p:nvPr/>
        </p:nvSpPr>
        <p:spPr>
          <a:xfrm>
            <a:off x="9802368" y="4526280"/>
            <a:ext cx="2194560" cy="329184"/>
          </a:xfrm>
          <a:prstGeom prst="rect">
            <a:avLst/>
          </a:prstGeom>
          <a:noFill/>
        </p:spPr>
        <p:txBody>
          <a:bodyPr wrap="square">
            <a:spAutoFit/>
          </a:bodyPr>
          <a:lstStyle/>
          <a:p>
            <a:pPr algn="l"/>
            <a:r>
              <a:rPr sz="1100" b="1" i="0">
                <a:solidFill>
                  <a:srgbClr val="F5A623"/>
                </a:solidFill>
                <a:latin typeface="Calibri"/>
              </a:rPr>
              <a:t>MLOps</a:t>
            </a:r>
          </a:p>
        </p:txBody>
      </p:sp>
      <p:sp>
        <p:nvSpPr>
          <p:cNvPr id="55" name="TextBox 54"/>
          <p:cNvSpPr txBox="1"/>
          <p:nvPr/>
        </p:nvSpPr>
        <p:spPr>
          <a:xfrm>
            <a:off x="9802368" y="4864608"/>
            <a:ext cx="2194560" cy="274320"/>
          </a:xfrm>
          <a:prstGeom prst="rect">
            <a:avLst/>
          </a:prstGeom>
          <a:noFill/>
        </p:spPr>
        <p:txBody>
          <a:bodyPr wrap="square">
            <a:spAutoFit/>
          </a:bodyPr>
          <a:lstStyle/>
          <a:p>
            <a:pPr algn="l"/>
            <a:r>
              <a:rPr sz="1000" b="0" i="0">
                <a:solidFill>
                  <a:srgbClr val="F0F4FF"/>
                </a:solidFill>
                <a:latin typeface="Calibri"/>
              </a:rPr>
              <a:t>  Feature Store</a:t>
            </a:r>
          </a:p>
        </p:txBody>
      </p:sp>
      <p:sp>
        <p:nvSpPr>
          <p:cNvPr id="56" name="TextBox 55"/>
          <p:cNvSpPr txBox="1"/>
          <p:nvPr/>
        </p:nvSpPr>
        <p:spPr>
          <a:xfrm>
            <a:off x="9802368" y="5138928"/>
            <a:ext cx="2194560" cy="274320"/>
          </a:xfrm>
          <a:prstGeom prst="rect">
            <a:avLst/>
          </a:prstGeom>
          <a:noFill/>
        </p:spPr>
        <p:txBody>
          <a:bodyPr wrap="square">
            <a:spAutoFit/>
          </a:bodyPr>
          <a:lstStyle/>
          <a:p>
            <a:pPr algn="l"/>
            <a:r>
              <a:rPr sz="1000" b="0" i="0">
                <a:solidFill>
                  <a:srgbClr val="F0F4FF"/>
                </a:solidFill>
                <a:latin typeface="Calibri"/>
              </a:rPr>
              <a:t>  Drift Monitor (KS)</a:t>
            </a:r>
          </a:p>
        </p:txBody>
      </p:sp>
      <p:sp>
        <p:nvSpPr>
          <p:cNvPr id="57" name="TextBox 56"/>
          <p:cNvSpPr txBox="1"/>
          <p:nvPr/>
        </p:nvSpPr>
        <p:spPr>
          <a:xfrm>
            <a:off x="9802368" y="5413248"/>
            <a:ext cx="2194560" cy="274320"/>
          </a:xfrm>
          <a:prstGeom prst="rect">
            <a:avLst/>
          </a:prstGeom>
          <a:noFill/>
        </p:spPr>
        <p:txBody>
          <a:bodyPr wrap="square">
            <a:spAutoFit/>
          </a:bodyPr>
          <a:lstStyle/>
          <a:p>
            <a:pPr algn="l"/>
            <a:r>
              <a:rPr sz="1000" b="0" i="0">
                <a:solidFill>
                  <a:srgbClr val="F0F4FF"/>
                </a:solidFill>
                <a:latin typeface="Calibri"/>
              </a:rPr>
              <a:t>  joblib Pipelines</a:t>
            </a:r>
          </a:p>
        </p:txBody>
      </p:sp>
      <p:sp>
        <p:nvSpPr>
          <p:cNvPr id="58" name="Oval 57"/>
          <p:cNvSpPr/>
          <p:nvPr/>
        </p:nvSpPr>
        <p:spPr>
          <a:xfrm>
            <a:off x="11686032" y="6473952"/>
            <a:ext cx="256032" cy="256032"/>
          </a:xfrm>
          <a:prstGeom prst="ellipse">
            <a:avLst/>
          </a:prstGeom>
          <a:solidFill>
            <a:srgbClr val="E0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11676888" y="6446520"/>
            <a:ext cx="274320" cy="274320"/>
          </a:xfrm>
          <a:prstGeom prst="rect">
            <a:avLst/>
          </a:prstGeom>
          <a:noFill/>
        </p:spPr>
        <p:txBody>
          <a:bodyPr wrap="square">
            <a:spAutoFit/>
          </a:bodyPr>
          <a:lstStyle/>
          <a:p>
            <a:pPr algn="ctr"/>
            <a:r>
              <a:rPr sz="900" b="1" i="0">
                <a:solidFill>
                  <a:srgbClr val="FFFFFF"/>
                </a:solidFill>
                <a:latin typeface="Calibri"/>
              </a:rPr>
              <a:t>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41732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417320"/>
            <a:ext cx="12188952" cy="50292"/>
          </a:xfrm>
          <a:prstGeom prst="rect">
            <a:avLst/>
          </a:prstGeom>
          <a:solidFill>
            <a:srgbClr val="E0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164592"/>
            <a:ext cx="11457432" cy="804672"/>
          </a:xfrm>
          <a:prstGeom prst="rect">
            <a:avLst/>
          </a:prstGeom>
          <a:noFill/>
        </p:spPr>
        <p:txBody>
          <a:bodyPr wrap="square">
            <a:spAutoFit/>
          </a:bodyPr>
          <a:lstStyle/>
          <a:p>
            <a:pPr algn="l"/>
            <a:r>
              <a:rPr sz="3000" b="1" i="0">
                <a:solidFill>
                  <a:srgbClr val="FFFFFF"/>
                </a:solidFill>
                <a:latin typeface="Calibri"/>
              </a:rPr>
              <a:t>End-to-End Workflow</a:t>
            </a:r>
          </a:p>
        </p:txBody>
      </p:sp>
      <p:sp>
        <p:nvSpPr>
          <p:cNvPr id="6" name="TextBox 5"/>
          <p:cNvSpPr txBox="1"/>
          <p:nvPr/>
        </p:nvSpPr>
        <p:spPr>
          <a:xfrm>
            <a:off x="365760" y="914400"/>
            <a:ext cx="11457432" cy="457200"/>
          </a:xfrm>
          <a:prstGeom prst="rect">
            <a:avLst/>
          </a:prstGeom>
          <a:noFill/>
        </p:spPr>
        <p:txBody>
          <a:bodyPr wrap="square">
            <a:spAutoFit/>
          </a:bodyPr>
          <a:lstStyle/>
          <a:p>
            <a:pPr algn="l"/>
            <a:r>
              <a:rPr sz="1300" b="0" i="1">
                <a:solidFill>
                  <a:srgbClr val="F5A623"/>
                </a:solidFill>
                <a:latin typeface="Calibri"/>
              </a:rPr>
              <a:t>Tracing one prediction request through the complete RoadSafe AI system</a:t>
            </a:r>
          </a:p>
        </p:txBody>
      </p:sp>
      <p:sp>
        <p:nvSpPr>
          <p:cNvPr id="7" name="Rectangle 6"/>
          <p:cNvSpPr/>
          <p:nvPr/>
        </p:nvSpPr>
        <p:spPr>
          <a:xfrm>
            <a:off x="292608" y="1828800"/>
            <a:ext cx="1344168" cy="3017520"/>
          </a:xfrm>
          <a:prstGeom prst="rect">
            <a:avLst/>
          </a:prstGeom>
          <a:solidFill>
            <a:srgbClr val="1E3A5F"/>
          </a:solidFill>
          <a:ln w="1143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790956" y="1627632"/>
            <a:ext cx="347472" cy="347472"/>
          </a:xfrm>
          <a:prstGeom prst="ellipse">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90956" y="1591056"/>
            <a:ext cx="347472" cy="347472"/>
          </a:xfrm>
          <a:prstGeom prst="rect">
            <a:avLst/>
          </a:prstGeom>
          <a:noFill/>
        </p:spPr>
        <p:txBody>
          <a:bodyPr wrap="square">
            <a:spAutoFit/>
          </a:bodyPr>
          <a:lstStyle/>
          <a:p>
            <a:pPr algn="ctr"/>
            <a:r>
              <a:rPr sz="1100" b="1" i="0">
                <a:solidFill>
                  <a:srgbClr val="FFFFFF"/>
                </a:solidFill>
                <a:latin typeface="Calibri"/>
              </a:rPr>
              <a:t>1</a:t>
            </a:r>
          </a:p>
        </p:txBody>
      </p:sp>
      <p:sp>
        <p:nvSpPr>
          <p:cNvPr id="10" name="Rectangle 9"/>
          <p:cNvSpPr/>
          <p:nvPr/>
        </p:nvSpPr>
        <p:spPr>
          <a:xfrm>
            <a:off x="292608" y="1828800"/>
            <a:ext cx="1344168" cy="6400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47472" y="1920240"/>
            <a:ext cx="1234440" cy="475488"/>
          </a:xfrm>
          <a:prstGeom prst="rect">
            <a:avLst/>
          </a:prstGeom>
          <a:noFill/>
        </p:spPr>
        <p:txBody>
          <a:bodyPr wrap="square">
            <a:spAutoFit/>
          </a:bodyPr>
          <a:lstStyle/>
          <a:p>
            <a:pPr algn="ctr"/>
            <a:r>
              <a:rPr sz="1100" b="1" i="0">
                <a:solidFill>
                  <a:srgbClr val="00B4D8"/>
                </a:solidFill>
                <a:latin typeface="Calibri"/>
              </a:rPr>
              <a:t>User
Input</a:t>
            </a:r>
          </a:p>
        </p:txBody>
      </p:sp>
      <p:sp>
        <p:nvSpPr>
          <p:cNvPr id="12" name="Rectangle 11"/>
          <p:cNvSpPr/>
          <p:nvPr/>
        </p:nvSpPr>
        <p:spPr>
          <a:xfrm>
            <a:off x="365760" y="2395728"/>
            <a:ext cx="1197864" cy="2286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56616" y="2468880"/>
            <a:ext cx="1216152" cy="2286000"/>
          </a:xfrm>
          <a:prstGeom prst="rect">
            <a:avLst/>
          </a:prstGeom>
          <a:noFill/>
        </p:spPr>
        <p:txBody>
          <a:bodyPr wrap="square">
            <a:spAutoFit/>
          </a:bodyPr>
          <a:lstStyle/>
          <a:p>
            <a:pPr algn="ctr"/>
            <a:r>
              <a:rPr sz="1000" b="0" i="0">
                <a:solidFill>
                  <a:srgbClr val="F0F4FF"/>
                </a:solidFill>
                <a:latin typeface="Calibri"/>
              </a:rPr>
              <a:t>Road conditions entered via web form or API call</a:t>
            </a:r>
          </a:p>
        </p:txBody>
      </p:sp>
      <p:sp>
        <p:nvSpPr>
          <p:cNvPr id="14" name="TextBox 13"/>
          <p:cNvSpPr txBox="1"/>
          <p:nvPr/>
        </p:nvSpPr>
        <p:spPr>
          <a:xfrm>
            <a:off x="1645920" y="3063240"/>
            <a:ext cx="128016" cy="502920"/>
          </a:xfrm>
          <a:prstGeom prst="rect">
            <a:avLst/>
          </a:prstGeom>
          <a:noFill/>
        </p:spPr>
        <p:txBody>
          <a:bodyPr wrap="square">
            <a:spAutoFit/>
          </a:bodyPr>
          <a:lstStyle/>
          <a:p>
            <a:pPr algn="ctr"/>
            <a:r>
              <a:rPr sz="1800" b="1" i="0">
                <a:solidFill>
                  <a:srgbClr val="F5A623"/>
                </a:solidFill>
                <a:latin typeface="Calibri"/>
              </a:rPr>
              <a:t>&gt;</a:t>
            </a:r>
          </a:p>
        </p:txBody>
      </p:sp>
      <p:sp>
        <p:nvSpPr>
          <p:cNvPr id="15" name="Rectangle 14"/>
          <p:cNvSpPr/>
          <p:nvPr/>
        </p:nvSpPr>
        <p:spPr>
          <a:xfrm>
            <a:off x="1755648" y="1828800"/>
            <a:ext cx="1344168" cy="3017520"/>
          </a:xfrm>
          <a:prstGeom prst="rect">
            <a:avLst/>
          </a:prstGeom>
          <a:solidFill>
            <a:srgbClr val="1E3A5F"/>
          </a:solidFill>
          <a:ln w="11430">
            <a:solidFill>
              <a:srgbClr val="F5A62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2253996" y="1627632"/>
            <a:ext cx="347472" cy="347472"/>
          </a:xfrm>
          <a:prstGeom prst="ellipse">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253996" y="1591056"/>
            <a:ext cx="347472" cy="347472"/>
          </a:xfrm>
          <a:prstGeom prst="rect">
            <a:avLst/>
          </a:prstGeom>
          <a:noFill/>
        </p:spPr>
        <p:txBody>
          <a:bodyPr wrap="square">
            <a:spAutoFit/>
          </a:bodyPr>
          <a:lstStyle/>
          <a:p>
            <a:pPr algn="ctr"/>
            <a:r>
              <a:rPr sz="1100" b="1" i="0">
                <a:solidFill>
                  <a:srgbClr val="FFFFFF"/>
                </a:solidFill>
                <a:latin typeface="Calibri"/>
              </a:rPr>
              <a:t>2</a:t>
            </a:r>
          </a:p>
        </p:txBody>
      </p:sp>
      <p:sp>
        <p:nvSpPr>
          <p:cNvPr id="18" name="Rectangle 17"/>
          <p:cNvSpPr/>
          <p:nvPr/>
        </p:nvSpPr>
        <p:spPr>
          <a:xfrm>
            <a:off x="1755648" y="1828800"/>
            <a:ext cx="1344168" cy="64008"/>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810512" y="1920240"/>
            <a:ext cx="1234440" cy="475488"/>
          </a:xfrm>
          <a:prstGeom prst="rect">
            <a:avLst/>
          </a:prstGeom>
          <a:noFill/>
        </p:spPr>
        <p:txBody>
          <a:bodyPr wrap="square">
            <a:spAutoFit/>
          </a:bodyPr>
          <a:lstStyle/>
          <a:p>
            <a:pPr algn="ctr"/>
            <a:r>
              <a:rPr sz="1100" b="1" i="0">
                <a:solidFill>
                  <a:srgbClr val="F5A623"/>
                </a:solidFill>
                <a:latin typeface="Calibri"/>
              </a:rPr>
              <a:t>Feature
Check</a:t>
            </a:r>
          </a:p>
        </p:txBody>
      </p:sp>
      <p:sp>
        <p:nvSpPr>
          <p:cNvPr id="20" name="Rectangle 19"/>
          <p:cNvSpPr/>
          <p:nvPr/>
        </p:nvSpPr>
        <p:spPr>
          <a:xfrm>
            <a:off x="1828800" y="2395728"/>
            <a:ext cx="1197864" cy="22860"/>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819656" y="2468880"/>
            <a:ext cx="1216152" cy="2286000"/>
          </a:xfrm>
          <a:prstGeom prst="rect">
            <a:avLst/>
          </a:prstGeom>
          <a:noFill/>
        </p:spPr>
        <p:txBody>
          <a:bodyPr wrap="square">
            <a:spAutoFit/>
          </a:bodyPr>
          <a:lstStyle/>
          <a:p>
            <a:pPr algn="ctr"/>
            <a:r>
              <a:rPr sz="1000" b="0" i="0">
                <a:solidFill>
                  <a:srgbClr val="F0F4FF"/>
                </a:solidFill>
                <a:latin typeface="Calibri"/>
              </a:rPr>
              <a:t>Input is validated and formatted to match training</a:t>
            </a:r>
          </a:p>
        </p:txBody>
      </p:sp>
      <p:sp>
        <p:nvSpPr>
          <p:cNvPr id="22" name="TextBox 21"/>
          <p:cNvSpPr txBox="1"/>
          <p:nvPr/>
        </p:nvSpPr>
        <p:spPr>
          <a:xfrm>
            <a:off x="3108960" y="3063240"/>
            <a:ext cx="128016" cy="502920"/>
          </a:xfrm>
          <a:prstGeom prst="rect">
            <a:avLst/>
          </a:prstGeom>
          <a:noFill/>
        </p:spPr>
        <p:txBody>
          <a:bodyPr wrap="square">
            <a:spAutoFit/>
          </a:bodyPr>
          <a:lstStyle/>
          <a:p>
            <a:pPr algn="ctr"/>
            <a:r>
              <a:rPr sz="1800" b="1" i="0">
                <a:solidFill>
                  <a:srgbClr val="F5A623"/>
                </a:solidFill>
                <a:latin typeface="Calibri"/>
              </a:rPr>
              <a:t>&gt;</a:t>
            </a:r>
          </a:p>
        </p:txBody>
      </p:sp>
      <p:sp>
        <p:nvSpPr>
          <p:cNvPr id="23" name="Rectangle 22"/>
          <p:cNvSpPr/>
          <p:nvPr/>
        </p:nvSpPr>
        <p:spPr>
          <a:xfrm>
            <a:off x="3218688" y="1828800"/>
            <a:ext cx="1344168" cy="3017520"/>
          </a:xfrm>
          <a:prstGeom prst="rect">
            <a:avLst/>
          </a:prstGeom>
          <a:solidFill>
            <a:srgbClr val="1E3A5F"/>
          </a:solidFill>
          <a:ln w="11430">
            <a:solidFill>
              <a:srgbClr val="E02B2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3717036" y="1627632"/>
            <a:ext cx="347472" cy="347472"/>
          </a:xfrm>
          <a:prstGeom prst="ellipse">
            <a:avLst/>
          </a:prstGeom>
          <a:solidFill>
            <a:srgbClr val="E0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717036" y="1591056"/>
            <a:ext cx="347472" cy="347472"/>
          </a:xfrm>
          <a:prstGeom prst="rect">
            <a:avLst/>
          </a:prstGeom>
          <a:noFill/>
        </p:spPr>
        <p:txBody>
          <a:bodyPr wrap="square">
            <a:spAutoFit/>
          </a:bodyPr>
          <a:lstStyle/>
          <a:p>
            <a:pPr algn="ctr"/>
            <a:r>
              <a:rPr sz="1100" b="1" i="0">
                <a:solidFill>
                  <a:srgbClr val="FFFFFF"/>
                </a:solidFill>
                <a:latin typeface="Calibri"/>
              </a:rPr>
              <a:t>3</a:t>
            </a:r>
          </a:p>
        </p:txBody>
      </p:sp>
      <p:sp>
        <p:nvSpPr>
          <p:cNvPr id="26" name="Rectangle 25"/>
          <p:cNvSpPr/>
          <p:nvPr/>
        </p:nvSpPr>
        <p:spPr>
          <a:xfrm>
            <a:off x="3218688" y="1828800"/>
            <a:ext cx="1344168" cy="64008"/>
          </a:xfrm>
          <a:prstGeom prst="rect">
            <a:avLst/>
          </a:prstGeom>
          <a:solidFill>
            <a:srgbClr val="E0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3273552" y="1920240"/>
            <a:ext cx="1234440" cy="475488"/>
          </a:xfrm>
          <a:prstGeom prst="rect">
            <a:avLst/>
          </a:prstGeom>
          <a:noFill/>
        </p:spPr>
        <p:txBody>
          <a:bodyPr wrap="square">
            <a:spAutoFit/>
          </a:bodyPr>
          <a:lstStyle/>
          <a:p>
            <a:pPr algn="ctr"/>
            <a:r>
              <a:rPr sz="1100" b="1" i="0">
                <a:solidFill>
                  <a:srgbClr val="E02B2B"/>
                </a:solidFill>
                <a:latin typeface="Calibri"/>
              </a:rPr>
              <a:t>Scale &amp;
Encode</a:t>
            </a:r>
          </a:p>
        </p:txBody>
      </p:sp>
      <p:sp>
        <p:nvSpPr>
          <p:cNvPr id="28" name="Rectangle 27"/>
          <p:cNvSpPr/>
          <p:nvPr/>
        </p:nvSpPr>
        <p:spPr>
          <a:xfrm>
            <a:off x="3291840" y="2395728"/>
            <a:ext cx="1197864" cy="22860"/>
          </a:xfrm>
          <a:prstGeom prst="rect">
            <a:avLst/>
          </a:prstGeom>
          <a:solidFill>
            <a:srgbClr val="E0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3282696" y="2468880"/>
            <a:ext cx="1216152" cy="2286000"/>
          </a:xfrm>
          <a:prstGeom prst="rect">
            <a:avLst/>
          </a:prstGeom>
          <a:noFill/>
        </p:spPr>
        <p:txBody>
          <a:bodyPr wrap="square">
            <a:spAutoFit/>
          </a:bodyPr>
          <a:lstStyle/>
          <a:p>
            <a:pPr algn="ctr"/>
            <a:r>
              <a:rPr sz="1000" b="0" i="0">
                <a:solidFill>
                  <a:srgbClr val="F0F4FF"/>
                </a:solidFill>
                <a:latin typeface="Calibri"/>
              </a:rPr>
              <a:t>Numbers scaled, categories converted to model format</a:t>
            </a:r>
          </a:p>
        </p:txBody>
      </p:sp>
      <p:sp>
        <p:nvSpPr>
          <p:cNvPr id="30" name="TextBox 29"/>
          <p:cNvSpPr txBox="1"/>
          <p:nvPr/>
        </p:nvSpPr>
        <p:spPr>
          <a:xfrm>
            <a:off x="4572000" y="3063240"/>
            <a:ext cx="128016" cy="502920"/>
          </a:xfrm>
          <a:prstGeom prst="rect">
            <a:avLst/>
          </a:prstGeom>
          <a:noFill/>
        </p:spPr>
        <p:txBody>
          <a:bodyPr wrap="square">
            <a:spAutoFit/>
          </a:bodyPr>
          <a:lstStyle/>
          <a:p>
            <a:pPr algn="ctr"/>
            <a:r>
              <a:rPr sz="1800" b="1" i="0">
                <a:solidFill>
                  <a:srgbClr val="F5A623"/>
                </a:solidFill>
                <a:latin typeface="Calibri"/>
              </a:rPr>
              <a:t>&gt;</a:t>
            </a:r>
          </a:p>
        </p:txBody>
      </p:sp>
      <p:sp>
        <p:nvSpPr>
          <p:cNvPr id="31" name="Rectangle 30"/>
          <p:cNvSpPr/>
          <p:nvPr/>
        </p:nvSpPr>
        <p:spPr>
          <a:xfrm>
            <a:off x="4681728" y="1828800"/>
            <a:ext cx="1344168" cy="3017520"/>
          </a:xfrm>
          <a:prstGeom prst="rect">
            <a:avLst/>
          </a:prstGeom>
          <a:solidFill>
            <a:srgbClr val="1E3A5F"/>
          </a:solidFill>
          <a:ln w="1143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5180076" y="1627632"/>
            <a:ext cx="347472" cy="347472"/>
          </a:xfrm>
          <a:prstGeom prst="ellipse">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5180076" y="1591056"/>
            <a:ext cx="347472" cy="347472"/>
          </a:xfrm>
          <a:prstGeom prst="rect">
            <a:avLst/>
          </a:prstGeom>
          <a:noFill/>
        </p:spPr>
        <p:txBody>
          <a:bodyPr wrap="square">
            <a:spAutoFit/>
          </a:bodyPr>
          <a:lstStyle/>
          <a:p>
            <a:pPr algn="ctr"/>
            <a:r>
              <a:rPr sz="1100" b="1" i="0">
                <a:solidFill>
                  <a:srgbClr val="FFFFFF"/>
                </a:solidFill>
                <a:latin typeface="Calibri"/>
              </a:rPr>
              <a:t>4</a:t>
            </a:r>
          </a:p>
        </p:txBody>
      </p:sp>
      <p:sp>
        <p:nvSpPr>
          <p:cNvPr id="34" name="Rectangle 33"/>
          <p:cNvSpPr/>
          <p:nvPr/>
        </p:nvSpPr>
        <p:spPr>
          <a:xfrm>
            <a:off x="4681728" y="1828800"/>
            <a:ext cx="1344168" cy="6400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4736592" y="1920240"/>
            <a:ext cx="1234440" cy="475488"/>
          </a:xfrm>
          <a:prstGeom prst="rect">
            <a:avLst/>
          </a:prstGeom>
          <a:noFill/>
        </p:spPr>
        <p:txBody>
          <a:bodyPr wrap="square">
            <a:spAutoFit/>
          </a:bodyPr>
          <a:lstStyle/>
          <a:p>
            <a:pPr algn="ctr"/>
            <a:r>
              <a:rPr sz="1100" b="1" i="0">
                <a:solidFill>
                  <a:srgbClr val="00B4D8"/>
                </a:solidFill>
                <a:latin typeface="Calibri"/>
              </a:rPr>
              <a:t>Severity
Model</a:t>
            </a:r>
          </a:p>
        </p:txBody>
      </p:sp>
      <p:sp>
        <p:nvSpPr>
          <p:cNvPr id="36" name="Rectangle 35"/>
          <p:cNvSpPr/>
          <p:nvPr/>
        </p:nvSpPr>
        <p:spPr>
          <a:xfrm>
            <a:off x="4754880" y="2395728"/>
            <a:ext cx="1197864" cy="2286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4745736" y="2468880"/>
            <a:ext cx="1216152" cy="2286000"/>
          </a:xfrm>
          <a:prstGeom prst="rect">
            <a:avLst/>
          </a:prstGeom>
          <a:noFill/>
        </p:spPr>
        <p:txBody>
          <a:bodyPr wrap="square">
            <a:spAutoFit/>
          </a:bodyPr>
          <a:lstStyle/>
          <a:p>
            <a:pPr algn="ctr"/>
            <a:r>
              <a:rPr sz="1000" b="0" i="0">
                <a:solidFill>
                  <a:srgbClr val="F0F4FF"/>
                </a:solidFill>
                <a:latin typeface="Calibri"/>
              </a:rPr>
              <a:t>LightGBM predicts the severity level (1 to 4)</a:t>
            </a:r>
          </a:p>
        </p:txBody>
      </p:sp>
      <p:sp>
        <p:nvSpPr>
          <p:cNvPr id="38" name="TextBox 37"/>
          <p:cNvSpPr txBox="1"/>
          <p:nvPr/>
        </p:nvSpPr>
        <p:spPr>
          <a:xfrm>
            <a:off x="6035040" y="3063240"/>
            <a:ext cx="128016" cy="502920"/>
          </a:xfrm>
          <a:prstGeom prst="rect">
            <a:avLst/>
          </a:prstGeom>
          <a:noFill/>
        </p:spPr>
        <p:txBody>
          <a:bodyPr wrap="square">
            <a:spAutoFit/>
          </a:bodyPr>
          <a:lstStyle/>
          <a:p>
            <a:pPr algn="ctr"/>
            <a:r>
              <a:rPr sz="1800" b="1" i="0">
                <a:solidFill>
                  <a:srgbClr val="F5A623"/>
                </a:solidFill>
                <a:latin typeface="Calibri"/>
              </a:rPr>
              <a:t>&gt;</a:t>
            </a:r>
          </a:p>
        </p:txBody>
      </p:sp>
      <p:sp>
        <p:nvSpPr>
          <p:cNvPr id="39" name="Rectangle 38"/>
          <p:cNvSpPr/>
          <p:nvPr/>
        </p:nvSpPr>
        <p:spPr>
          <a:xfrm>
            <a:off x="6144768" y="1828800"/>
            <a:ext cx="1344168" cy="3017520"/>
          </a:xfrm>
          <a:prstGeom prst="rect">
            <a:avLst/>
          </a:prstGeom>
          <a:solidFill>
            <a:srgbClr val="1E3A5F"/>
          </a:solidFill>
          <a:ln w="11430">
            <a:solidFill>
              <a:srgbClr val="F5A62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Oval 39"/>
          <p:cNvSpPr/>
          <p:nvPr/>
        </p:nvSpPr>
        <p:spPr>
          <a:xfrm>
            <a:off x="6643116" y="1627632"/>
            <a:ext cx="347472" cy="347472"/>
          </a:xfrm>
          <a:prstGeom prst="ellipse">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6643116" y="1591056"/>
            <a:ext cx="347472" cy="347472"/>
          </a:xfrm>
          <a:prstGeom prst="rect">
            <a:avLst/>
          </a:prstGeom>
          <a:noFill/>
        </p:spPr>
        <p:txBody>
          <a:bodyPr wrap="square">
            <a:spAutoFit/>
          </a:bodyPr>
          <a:lstStyle/>
          <a:p>
            <a:pPr algn="ctr"/>
            <a:r>
              <a:rPr sz="1100" b="1" i="0">
                <a:solidFill>
                  <a:srgbClr val="FFFFFF"/>
                </a:solidFill>
                <a:latin typeface="Calibri"/>
              </a:rPr>
              <a:t>5</a:t>
            </a:r>
          </a:p>
        </p:txBody>
      </p:sp>
      <p:sp>
        <p:nvSpPr>
          <p:cNvPr id="42" name="Rectangle 41"/>
          <p:cNvSpPr/>
          <p:nvPr/>
        </p:nvSpPr>
        <p:spPr>
          <a:xfrm>
            <a:off x="6144768" y="1828800"/>
            <a:ext cx="1344168" cy="64008"/>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6199632" y="1920240"/>
            <a:ext cx="1234440" cy="475488"/>
          </a:xfrm>
          <a:prstGeom prst="rect">
            <a:avLst/>
          </a:prstGeom>
          <a:noFill/>
        </p:spPr>
        <p:txBody>
          <a:bodyPr wrap="square">
            <a:spAutoFit/>
          </a:bodyPr>
          <a:lstStyle/>
          <a:p>
            <a:pPr algn="ctr"/>
            <a:r>
              <a:rPr sz="1100" b="1" i="0">
                <a:solidFill>
                  <a:srgbClr val="F5A623"/>
                </a:solidFill>
                <a:latin typeface="Calibri"/>
              </a:rPr>
              <a:t>Duration
Model</a:t>
            </a:r>
          </a:p>
        </p:txBody>
      </p:sp>
      <p:sp>
        <p:nvSpPr>
          <p:cNvPr id="44" name="Rectangle 43"/>
          <p:cNvSpPr/>
          <p:nvPr/>
        </p:nvSpPr>
        <p:spPr>
          <a:xfrm>
            <a:off x="6217920" y="2395728"/>
            <a:ext cx="1197864" cy="22860"/>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6208776" y="2468880"/>
            <a:ext cx="1216152" cy="2286000"/>
          </a:xfrm>
          <a:prstGeom prst="rect">
            <a:avLst/>
          </a:prstGeom>
          <a:noFill/>
        </p:spPr>
        <p:txBody>
          <a:bodyPr wrap="square">
            <a:spAutoFit/>
          </a:bodyPr>
          <a:lstStyle/>
          <a:p>
            <a:pPr algn="ctr"/>
            <a:r>
              <a:rPr sz="1000" b="0" i="0">
                <a:solidFill>
                  <a:srgbClr val="F0F4FF"/>
                </a:solidFill>
                <a:latin typeface="Calibri"/>
              </a:rPr>
              <a:t>Ridge regression estimates time to clear the road</a:t>
            </a:r>
          </a:p>
        </p:txBody>
      </p:sp>
      <p:sp>
        <p:nvSpPr>
          <p:cNvPr id="46" name="TextBox 45"/>
          <p:cNvSpPr txBox="1"/>
          <p:nvPr/>
        </p:nvSpPr>
        <p:spPr>
          <a:xfrm>
            <a:off x="7498080" y="3063240"/>
            <a:ext cx="128016" cy="502920"/>
          </a:xfrm>
          <a:prstGeom prst="rect">
            <a:avLst/>
          </a:prstGeom>
          <a:noFill/>
        </p:spPr>
        <p:txBody>
          <a:bodyPr wrap="square">
            <a:spAutoFit/>
          </a:bodyPr>
          <a:lstStyle/>
          <a:p>
            <a:pPr algn="ctr"/>
            <a:r>
              <a:rPr sz="1800" b="1" i="0">
                <a:solidFill>
                  <a:srgbClr val="F5A623"/>
                </a:solidFill>
                <a:latin typeface="Calibri"/>
              </a:rPr>
              <a:t>&gt;</a:t>
            </a:r>
          </a:p>
        </p:txBody>
      </p:sp>
      <p:sp>
        <p:nvSpPr>
          <p:cNvPr id="47" name="Rectangle 46"/>
          <p:cNvSpPr/>
          <p:nvPr/>
        </p:nvSpPr>
        <p:spPr>
          <a:xfrm>
            <a:off x="7607808" y="1828800"/>
            <a:ext cx="1344168" cy="3017520"/>
          </a:xfrm>
          <a:prstGeom prst="rect">
            <a:avLst/>
          </a:prstGeom>
          <a:solidFill>
            <a:srgbClr val="1E3A5F"/>
          </a:solidFill>
          <a:ln w="11430">
            <a:solidFill>
              <a:srgbClr val="E02B2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Oval 47"/>
          <p:cNvSpPr/>
          <p:nvPr/>
        </p:nvSpPr>
        <p:spPr>
          <a:xfrm>
            <a:off x="8106156" y="1627632"/>
            <a:ext cx="347472" cy="347472"/>
          </a:xfrm>
          <a:prstGeom prst="ellipse">
            <a:avLst/>
          </a:prstGeom>
          <a:solidFill>
            <a:srgbClr val="E0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8106156" y="1591056"/>
            <a:ext cx="347472" cy="347472"/>
          </a:xfrm>
          <a:prstGeom prst="rect">
            <a:avLst/>
          </a:prstGeom>
          <a:noFill/>
        </p:spPr>
        <p:txBody>
          <a:bodyPr wrap="square">
            <a:spAutoFit/>
          </a:bodyPr>
          <a:lstStyle/>
          <a:p>
            <a:pPr algn="ctr"/>
            <a:r>
              <a:rPr sz="1100" b="1" i="0">
                <a:solidFill>
                  <a:srgbClr val="FFFFFF"/>
                </a:solidFill>
                <a:latin typeface="Calibri"/>
              </a:rPr>
              <a:t>6</a:t>
            </a:r>
          </a:p>
        </p:txBody>
      </p:sp>
      <p:sp>
        <p:nvSpPr>
          <p:cNvPr id="50" name="Rectangle 49"/>
          <p:cNvSpPr/>
          <p:nvPr/>
        </p:nvSpPr>
        <p:spPr>
          <a:xfrm>
            <a:off x="7607808" y="1828800"/>
            <a:ext cx="1344168" cy="64008"/>
          </a:xfrm>
          <a:prstGeom prst="rect">
            <a:avLst/>
          </a:prstGeom>
          <a:solidFill>
            <a:srgbClr val="E0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7662672" y="1920240"/>
            <a:ext cx="1234440" cy="475488"/>
          </a:xfrm>
          <a:prstGeom prst="rect">
            <a:avLst/>
          </a:prstGeom>
          <a:noFill/>
        </p:spPr>
        <p:txBody>
          <a:bodyPr wrap="square">
            <a:spAutoFit/>
          </a:bodyPr>
          <a:lstStyle/>
          <a:p>
            <a:pPr algn="ctr"/>
            <a:r>
              <a:rPr sz="1100" b="1" i="0">
                <a:solidFill>
                  <a:srgbClr val="E02B2B"/>
                </a:solidFill>
                <a:latin typeface="Calibri"/>
              </a:rPr>
              <a:t>Risk
Score</a:t>
            </a:r>
          </a:p>
        </p:txBody>
      </p:sp>
      <p:sp>
        <p:nvSpPr>
          <p:cNvPr id="52" name="Rectangle 51"/>
          <p:cNvSpPr/>
          <p:nvPr/>
        </p:nvSpPr>
        <p:spPr>
          <a:xfrm>
            <a:off x="7680960" y="2395728"/>
            <a:ext cx="1197864" cy="22860"/>
          </a:xfrm>
          <a:prstGeom prst="rect">
            <a:avLst/>
          </a:prstGeom>
          <a:solidFill>
            <a:srgbClr val="E0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7671816" y="2468880"/>
            <a:ext cx="1216152" cy="2286000"/>
          </a:xfrm>
          <a:prstGeom prst="rect">
            <a:avLst/>
          </a:prstGeom>
          <a:noFill/>
        </p:spPr>
        <p:txBody>
          <a:bodyPr wrap="square">
            <a:spAutoFit/>
          </a:bodyPr>
          <a:lstStyle/>
          <a:p>
            <a:pPr algn="ctr"/>
            <a:r>
              <a:rPr sz="1000" b="0" i="0">
                <a:solidFill>
                  <a:srgbClr val="F0F4FF"/>
                </a:solidFill>
                <a:latin typeface="Calibri"/>
              </a:rPr>
              <a:t>A 0-100 risk index is computed with a recommended action</a:t>
            </a:r>
          </a:p>
        </p:txBody>
      </p:sp>
      <p:sp>
        <p:nvSpPr>
          <p:cNvPr id="54" name="TextBox 53"/>
          <p:cNvSpPr txBox="1"/>
          <p:nvPr/>
        </p:nvSpPr>
        <p:spPr>
          <a:xfrm>
            <a:off x="8961120" y="3063240"/>
            <a:ext cx="128016" cy="502920"/>
          </a:xfrm>
          <a:prstGeom prst="rect">
            <a:avLst/>
          </a:prstGeom>
          <a:noFill/>
        </p:spPr>
        <p:txBody>
          <a:bodyPr wrap="square">
            <a:spAutoFit/>
          </a:bodyPr>
          <a:lstStyle/>
          <a:p>
            <a:pPr algn="ctr"/>
            <a:r>
              <a:rPr sz="1800" b="1" i="0">
                <a:solidFill>
                  <a:srgbClr val="F5A623"/>
                </a:solidFill>
                <a:latin typeface="Calibri"/>
              </a:rPr>
              <a:t>&gt;</a:t>
            </a:r>
          </a:p>
        </p:txBody>
      </p:sp>
      <p:sp>
        <p:nvSpPr>
          <p:cNvPr id="55" name="Rectangle 54"/>
          <p:cNvSpPr/>
          <p:nvPr/>
        </p:nvSpPr>
        <p:spPr>
          <a:xfrm>
            <a:off x="9070848" y="1828800"/>
            <a:ext cx="1344168" cy="3017520"/>
          </a:xfrm>
          <a:prstGeom prst="rect">
            <a:avLst/>
          </a:prstGeom>
          <a:solidFill>
            <a:srgbClr val="1E3A5F"/>
          </a:solidFill>
          <a:ln w="11430">
            <a:solidFill>
              <a:srgbClr val="9B59B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Oval 55"/>
          <p:cNvSpPr/>
          <p:nvPr/>
        </p:nvSpPr>
        <p:spPr>
          <a:xfrm>
            <a:off x="9569196" y="1627632"/>
            <a:ext cx="347472" cy="347472"/>
          </a:xfrm>
          <a:prstGeom prst="ellipse">
            <a:avLst/>
          </a:prstGeom>
          <a:solidFill>
            <a:srgbClr val="9B59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9569196" y="1591056"/>
            <a:ext cx="347472" cy="347472"/>
          </a:xfrm>
          <a:prstGeom prst="rect">
            <a:avLst/>
          </a:prstGeom>
          <a:noFill/>
        </p:spPr>
        <p:txBody>
          <a:bodyPr wrap="square">
            <a:spAutoFit/>
          </a:bodyPr>
          <a:lstStyle/>
          <a:p>
            <a:pPr algn="ctr"/>
            <a:r>
              <a:rPr sz="1100" b="1" i="0">
                <a:solidFill>
                  <a:srgbClr val="FFFFFF"/>
                </a:solidFill>
                <a:latin typeface="Calibri"/>
              </a:rPr>
              <a:t>7</a:t>
            </a:r>
          </a:p>
        </p:txBody>
      </p:sp>
      <p:sp>
        <p:nvSpPr>
          <p:cNvPr id="58" name="Rectangle 57"/>
          <p:cNvSpPr/>
          <p:nvPr/>
        </p:nvSpPr>
        <p:spPr>
          <a:xfrm>
            <a:off x="9070848" y="1828800"/>
            <a:ext cx="1344168" cy="64008"/>
          </a:xfrm>
          <a:prstGeom prst="rect">
            <a:avLst/>
          </a:prstGeom>
          <a:solidFill>
            <a:srgbClr val="9B59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9125712" y="1920240"/>
            <a:ext cx="1234440" cy="475488"/>
          </a:xfrm>
          <a:prstGeom prst="rect">
            <a:avLst/>
          </a:prstGeom>
          <a:noFill/>
        </p:spPr>
        <p:txBody>
          <a:bodyPr wrap="square">
            <a:spAutoFit/>
          </a:bodyPr>
          <a:lstStyle/>
          <a:p>
            <a:pPr algn="ctr"/>
            <a:r>
              <a:rPr sz="1100" b="1" i="0">
                <a:solidFill>
                  <a:srgbClr val="9B59B6"/>
                </a:solidFill>
                <a:latin typeface="Calibri"/>
              </a:rPr>
              <a:t>Drift
Check</a:t>
            </a:r>
          </a:p>
        </p:txBody>
      </p:sp>
      <p:sp>
        <p:nvSpPr>
          <p:cNvPr id="60" name="Rectangle 59"/>
          <p:cNvSpPr/>
          <p:nvPr/>
        </p:nvSpPr>
        <p:spPr>
          <a:xfrm>
            <a:off x="9144000" y="2395728"/>
            <a:ext cx="1197864" cy="22860"/>
          </a:xfrm>
          <a:prstGeom prst="rect">
            <a:avLst/>
          </a:prstGeom>
          <a:solidFill>
            <a:srgbClr val="9B59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9134856" y="2468880"/>
            <a:ext cx="1216152" cy="2286000"/>
          </a:xfrm>
          <a:prstGeom prst="rect">
            <a:avLst/>
          </a:prstGeom>
          <a:noFill/>
        </p:spPr>
        <p:txBody>
          <a:bodyPr wrap="square">
            <a:spAutoFit/>
          </a:bodyPr>
          <a:lstStyle/>
          <a:p>
            <a:pPr algn="ctr"/>
            <a:r>
              <a:rPr sz="1000" b="0" i="0">
                <a:solidFill>
                  <a:srgbClr val="F0F4FF"/>
                </a:solidFill>
                <a:latin typeface="Calibri"/>
              </a:rPr>
              <a:t>Input distribution is compared against training baseline</a:t>
            </a:r>
          </a:p>
        </p:txBody>
      </p:sp>
      <p:sp>
        <p:nvSpPr>
          <p:cNvPr id="62" name="TextBox 61"/>
          <p:cNvSpPr txBox="1"/>
          <p:nvPr/>
        </p:nvSpPr>
        <p:spPr>
          <a:xfrm>
            <a:off x="10424160" y="3063240"/>
            <a:ext cx="128016" cy="502920"/>
          </a:xfrm>
          <a:prstGeom prst="rect">
            <a:avLst/>
          </a:prstGeom>
          <a:noFill/>
        </p:spPr>
        <p:txBody>
          <a:bodyPr wrap="square">
            <a:spAutoFit/>
          </a:bodyPr>
          <a:lstStyle/>
          <a:p>
            <a:pPr algn="ctr"/>
            <a:r>
              <a:rPr sz="1800" b="1" i="0">
                <a:solidFill>
                  <a:srgbClr val="F5A623"/>
                </a:solidFill>
                <a:latin typeface="Calibri"/>
              </a:rPr>
              <a:t>&gt;</a:t>
            </a:r>
          </a:p>
        </p:txBody>
      </p:sp>
      <p:sp>
        <p:nvSpPr>
          <p:cNvPr id="63" name="Rectangle 62"/>
          <p:cNvSpPr/>
          <p:nvPr/>
        </p:nvSpPr>
        <p:spPr>
          <a:xfrm>
            <a:off x="10533888" y="1828800"/>
            <a:ext cx="1344168" cy="3017520"/>
          </a:xfrm>
          <a:prstGeom prst="rect">
            <a:avLst/>
          </a:prstGeom>
          <a:solidFill>
            <a:srgbClr val="1E3A5F"/>
          </a:solidFill>
          <a:ln w="11430">
            <a:solidFill>
              <a:srgbClr val="2ECC7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Oval 63"/>
          <p:cNvSpPr/>
          <p:nvPr/>
        </p:nvSpPr>
        <p:spPr>
          <a:xfrm>
            <a:off x="11032236" y="1627632"/>
            <a:ext cx="347472" cy="347472"/>
          </a:xfrm>
          <a:prstGeom prst="ellipse">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11032236" y="1591056"/>
            <a:ext cx="347472" cy="347472"/>
          </a:xfrm>
          <a:prstGeom prst="rect">
            <a:avLst/>
          </a:prstGeom>
          <a:noFill/>
        </p:spPr>
        <p:txBody>
          <a:bodyPr wrap="square">
            <a:spAutoFit/>
          </a:bodyPr>
          <a:lstStyle/>
          <a:p>
            <a:pPr algn="ctr"/>
            <a:r>
              <a:rPr sz="1100" b="1" i="0">
                <a:solidFill>
                  <a:srgbClr val="FFFFFF"/>
                </a:solidFill>
                <a:latin typeface="Calibri"/>
              </a:rPr>
              <a:t>8</a:t>
            </a:r>
          </a:p>
        </p:txBody>
      </p:sp>
      <p:sp>
        <p:nvSpPr>
          <p:cNvPr id="66" name="Rectangle 65"/>
          <p:cNvSpPr/>
          <p:nvPr/>
        </p:nvSpPr>
        <p:spPr>
          <a:xfrm>
            <a:off x="10533888" y="1828800"/>
            <a:ext cx="1344168" cy="64008"/>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10588752" y="1920240"/>
            <a:ext cx="1234440" cy="475488"/>
          </a:xfrm>
          <a:prstGeom prst="rect">
            <a:avLst/>
          </a:prstGeom>
          <a:noFill/>
        </p:spPr>
        <p:txBody>
          <a:bodyPr wrap="square">
            <a:spAutoFit/>
          </a:bodyPr>
          <a:lstStyle/>
          <a:p>
            <a:pPr algn="ctr"/>
            <a:r>
              <a:rPr sz="1100" b="1" i="0">
                <a:solidFill>
                  <a:srgbClr val="2ECC71"/>
                </a:solidFill>
                <a:latin typeface="Calibri"/>
              </a:rPr>
              <a:t>Final
Response</a:t>
            </a:r>
          </a:p>
        </p:txBody>
      </p:sp>
      <p:sp>
        <p:nvSpPr>
          <p:cNvPr id="68" name="Rectangle 67"/>
          <p:cNvSpPr/>
          <p:nvPr/>
        </p:nvSpPr>
        <p:spPr>
          <a:xfrm>
            <a:off x="10607040" y="2395728"/>
            <a:ext cx="1197864" cy="2286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10597896" y="2468880"/>
            <a:ext cx="1216152" cy="2286000"/>
          </a:xfrm>
          <a:prstGeom prst="rect">
            <a:avLst/>
          </a:prstGeom>
          <a:noFill/>
        </p:spPr>
        <p:txBody>
          <a:bodyPr wrap="square">
            <a:spAutoFit/>
          </a:bodyPr>
          <a:lstStyle/>
          <a:p>
            <a:pPr algn="ctr"/>
            <a:r>
              <a:rPr sz="1000" b="0" i="0">
                <a:solidFill>
                  <a:srgbClr val="F0F4FF"/>
                </a:solidFill>
                <a:latin typeface="Calibri"/>
              </a:rPr>
              <a:t>Prediction, confidence, audit trail and latency returned</a:t>
            </a:r>
          </a:p>
        </p:txBody>
      </p:sp>
      <p:sp>
        <p:nvSpPr>
          <p:cNvPr id="70" name="Rectangle 69"/>
          <p:cNvSpPr/>
          <p:nvPr/>
        </p:nvSpPr>
        <p:spPr>
          <a:xfrm>
            <a:off x="292608" y="5029200"/>
            <a:ext cx="11603736" cy="594360"/>
          </a:xfrm>
          <a:prstGeom prst="rect">
            <a:avLst/>
          </a:prstGeom>
          <a:solidFill>
            <a:srgbClr val="12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70"/>
          <p:cNvSpPr txBox="1"/>
          <p:nvPr/>
        </p:nvSpPr>
        <p:spPr>
          <a:xfrm>
            <a:off x="457200" y="5120640"/>
            <a:ext cx="11274552" cy="411480"/>
          </a:xfrm>
          <a:prstGeom prst="rect">
            <a:avLst/>
          </a:prstGeom>
          <a:noFill/>
        </p:spPr>
        <p:txBody>
          <a:bodyPr wrap="square">
            <a:spAutoFit/>
          </a:bodyPr>
          <a:lstStyle/>
          <a:p>
            <a:pPr algn="ctr"/>
            <a:r>
              <a:rPr sz="1200" b="0" i="1">
                <a:solidFill>
                  <a:srgbClr val="F5A623"/>
                </a:solidFill>
                <a:latin typeface="Calibri"/>
              </a:rPr>
              <a:t>Average prediction time is under 15 milliseconds — fast enough for real-time emergency dispatch use.</a:t>
            </a:r>
          </a:p>
        </p:txBody>
      </p:sp>
      <p:sp>
        <p:nvSpPr>
          <p:cNvPr id="72" name="Oval 71"/>
          <p:cNvSpPr/>
          <p:nvPr/>
        </p:nvSpPr>
        <p:spPr>
          <a:xfrm>
            <a:off x="11686032" y="6473952"/>
            <a:ext cx="256032" cy="256032"/>
          </a:xfrm>
          <a:prstGeom prst="ellipse">
            <a:avLst/>
          </a:prstGeom>
          <a:solidFill>
            <a:srgbClr val="E0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11676888" y="6446520"/>
            <a:ext cx="274320" cy="274320"/>
          </a:xfrm>
          <a:prstGeom prst="rect">
            <a:avLst/>
          </a:prstGeom>
          <a:noFill/>
        </p:spPr>
        <p:txBody>
          <a:bodyPr wrap="square">
            <a:spAutoFit/>
          </a:bodyPr>
          <a:lstStyle/>
          <a:p>
            <a:pPr algn="ctr"/>
            <a:r>
              <a:rPr sz="900" b="1" i="0">
                <a:solidFill>
                  <a:srgbClr val="FFFFFF"/>
                </a:solidFill>
                <a:latin typeface="Calibri"/>
              </a:rPr>
              <a:t>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41732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417320"/>
            <a:ext cx="12188952" cy="50292"/>
          </a:xfrm>
          <a:prstGeom prst="rect">
            <a:avLst/>
          </a:prstGeom>
          <a:solidFill>
            <a:srgbClr val="E0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164592"/>
            <a:ext cx="11457432" cy="804672"/>
          </a:xfrm>
          <a:prstGeom prst="rect">
            <a:avLst/>
          </a:prstGeom>
          <a:noFill/>
        </p:spPr>
        <p:txBody>
          <a:bodyPr wrap="square">
            <a:spAutoFit/>
          </a:bodyPr>
          <a:lstStyle/>
          <a:p>
            <a:pPr algn="l"/>
            <a:r>
              <a:rPr sz="3000" b="1" i="0">
                <a:solidFill>
                  <a:srgbClr val="FFFFFF"/>
                </a:solidFill>
                <a:latin typeface="Calibri"/>
              </a:rPr>
              <a:t>Results &amp; What We Achieved</a:t>
            </a:r>
          </a:p>
        </p:txBody>
      </p:sp>
      <p:sp>
        <p:nvSpPr>
          <p:cNvPr id="6" name="TextBox 5"/>
          <p:cNvSpPr txBox="1"/>
          <p:nvPr/>
        </p:nvSpPr>
        <p:spPr>
          <a:xfrm>
            <a:off x="365760" y="914400"/>
            <a:ext cx="11457432" cy="457200"/>
          </a:xfrm>
          <a:prstGeom prst="rect">
            <a:avLst/>
          </a:prstGeom>
          <a:noFill/>
        </p:spPr>
        <p:txBody>
          <a:bodyPr wrap="square">
            <a:spAutoFit/>
          </a:bodyPr>
          <a:lstStyle/>
          <a:p>
            <a:pPr algn="l"/>
            <a:r>
              <a:rPr sz="1300" b="0" i="1">
                <a:solidFill>
                  <a:srgbClr val="F5A623"/>
                </a:solidFill>
                <a:latin typeface="Calibri"/>
              </a:rPr>
              <a:t>A summary of outcomes and course compliance across CO1 to CO6</a:t>
            </a:r>
          </a:p>
        </p:txBody>
      </p:sp>
      <p:sp>
        <p:nvSpPr>
          <p:cNvPr id="7" name="Rectangle 6"/>
          <p:cNvSpPr/>
          <p:nvPr/>
        </p:nvSpPr>
        <p:spPr>
          <a:xfrm>
            <a:off x="320040" y="1664208"/>
            <a:ext cx="1783080" cy="1627632"/>
          </a:xfrm>
          <a:prstGeom prst="rect">
            <a:avLst/>
          </a:prstGeom>
          <a:solidFill>
            <a:srgbClr val="1E3A5F"/>
          </a:solidFill>
          <a:ln w="1524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320040" y="1664208"/>
            <a:ext cx="1783080" cy="6400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93192" y="1792224"/>
            <a:ext cx="1636776" cy="658368"/>
          </a:xfrm>
          <a:prstGeom prst="rect">
            <a:avLst/>
          </a:prstGeom>
          <a:noFill/>
        </p:spPr>
        <p:txBody>
          <a:bodyPr wrap="square">
            <a:spAutoFit/>
          </a:bodyPr>
          <a:lstStyle/>
          <a:p>
            <a:pPr algn="ctr"/>
            <a:r>
              <a:rPr sz="2600" b="1" i="0">
                <a:solidFill>
                  <a:srgbClr val="00B4D8"/>
                </a:solidFill>
                <a:latin typeface="Calibri"/>
              </a:rPr>
              <a:t>91.8 %</a:t>
            </a:r>
          </a:p>
        </p:txBody>
      </p:sp>
      <p:sp>
        <p:nvSpPr>
          <p:cNvPr id="10" name="TextBox 9"/>
          <p:cNvSpPr txBox="1"/>
          <p:nvPr/>
        </p:nvSpPr>
        <p:spPr>
          <a:xfrm>
            <a:off x="393192" y="2468880"/>
            <a:ext cx="1636776" cy="749808"/>
          </a:xfrm>
          <a:prstGeom prst="rect">
            <a:avLst/>
          </a:prstGeom>
          <a:noFill/>
        </p:spPr>
        <p:txBody>
          <a:bodyPr wrap="square">
            <a:spAutoFit/>
          </a:bodyPr>
          <a:lstStyle/>
          <a:p>
            <a:pPr algn="ctr"/>
            <a:r>
              <a:rPr sz="1050" b="0" i="0">
                <a:solidFill>
                  <a:srgbClr val="D0D8E8"/>
                </a:solidFill>
                <a:latin typeface="Calibri"/>
              </a:rPr>
              <a:t>Accuracy in predicting
accident severity</a:t>
            </a:r>
          </a:p>
        </p:txBody>
      </p:sp>
      <p:sp>
        <p:nvSpPr>
          <p:cNvPr id="11" name="Rectangle 10"/>
          <p:cNvSpPr/>
          <p:nvPr/>
        </p:nvSpPr>
        <p:spPr>
          <a:xfrm>
            <a:off x="2304288" y="1664208"/>
            <a:ext cx="1783080" cy="1627632"/>
          </a:xfrm>
          <a:prstGeom prst="rect">
            <a:avLst/>
          </a:prstGeom>
          <a:solidFill>
            <a:srgbClr val="1E3A5F"/>
          </a:solidFill>
          <a:ln w="15240">
            <a:solidFill>
              <a:srgbClr val="F5A62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2304288" y="1664208"/>
            <a:ext cx="1783080" cy="64008"/>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377440" y="1792224"/>
            <a:ext cx="1636776" cy="658368"/>
          </a:xfrm>
          <a:prstGeom prst="rect">
            <a:avLst/>
          </a:prstGeom>
          <a:noFill/>
        </p:spPr>
        <p:txBody>
          <a:bodyPr wrap="square">
            <a:spAutoFit/>
          </a:bodyPr>
          <a:lstStyle/>
          <a:p>
            <a:pPr algn="ctr"/>
            <a:r>
              <a:rPr sz="2600" b="1" i="0">
                <a:solidFill>
                  <a:srgbClr val="F5A623"/>
                </a:solidFill>
                <a:latin typeface="Calibri"/>
              </a:rPr>
              <a:t>4 Levels</a:t>
            </a:r>
          </a:p>
        </p:txBody>
      </p:sp>
      <p:sp>
        <p:nvSpPr>
          <p:cNvPr id="14" name="TextBox 13"/>
          <p:cNvSpPr txBox="1"/>
          <p:nvPr/>
        </p:nvSpPr>
        <p:spPr>
          <a:xfrm>
            <a:off x="2377440" y="2468880"/>
            <a:ext cx="1636776" cy="749808"/>
          </a:xfrm>
          <a:prstGeom prst="rect">
            <a:avLst/>
          </a:prstGeom>
          <a:noFill/>
        </p:spPr>
        <p:txBody>
          <a:bodyPr wrap="square">
            <a:spAutoFit/>
          </a:bodyPr>
          <a:lstStyle/>
          <a:p>
            <a:pPr algn="ctr"/>
            <a:r>
              <a:rPr sz="1050" b="0" i="0">
                <a:solidFill>
                  <a:srgbClr val="D0D8E8"/>
                </a:solidFill>
                <a:latin typeface="Calibri"/>
              </a:rPr>
              <a:t>Severity classification
(mild to critical)</a:t>
            </a:r>
          </a:p>
        </p:txBody>
      </p:sp>
      <p:sp>
        <p:nvSpPr>
          <p:cNvPr id="15" name="Rectangle 14"/>
          <p:cNvSpPr/>
          <p:nvPr/>
        </p:nvSpPr>
        <p:spPr>
          <a:xfrm>
            <a:off x="4288536" y="1664208"/>
            <a:ext cx="1783080" cy="1627632"/>
          </a:xfrm>
          <a:prstGeom prst="rect">
            <a:avLst/>
          </a:prstGeom>
          <a:solidFill>
            <a:srgbClr val="1E3A5F"/>
          </a:solidFill>
          <a:ln w="15240">
            <a:solidFill>
              <a:srgbClr val="E02B2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4288536" y="1664208"/>
            <a:ext cx="1783080" cy="64008"/>
          </a:xfrm>
          <a:prstGeom prst="rect">
            <a:avLst/>
          </a:prstGeom>
          <a:solidFill>
            <a:srgbClr val="E0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361688" y="1792224"/>
            <a:ext cx="1636776" cy="658368"/>
          </a:xfrm>
          <a:prstGeom prst="rect">
            <a:avLst/>
          </a:prstGeom>
          <a:noFill/>
        </p:spPr>
        <p:txBody>
          <a:bodyPr wrap="square">
            <a:spAutoFit/>
          </a:bodyPr>
          <a:lstStyle/>
          <a:p>
            <a:pPr algn="ctr"/>
            <a:r>
              <a:rPr sz="2600" b="1" i="0">
                <a:solidFill>
                  <a:srgbClr val="E02B2B"/>
                </a:solidFill>
                <a:latin typeface="Calibri"/>
              </a:rPr>
              <a:t>5 Zones</a:t>
            </a:r>
          </a:p>
        </p:txBody>
      </p:sp>
      <p:sp>
        <p:nvSpPr>
          <p:cNvPr id="18" name="TextBox 17"/>
          <p:cNvSpPr txBox="1"/>
          <p:nvPr/>
        </p:nvSpPr>
        <p:spPr>
          <a:xfrm>
            <a:off x="4361688" y="2468880"/>
            <a:ext cx="1636776" cy="749808"/>
          </a:xfrm>
          <a:prstGeom prst="rect">
            <a:avLst/>
          </a:prstGeom>
          <a:noFill/>
        </p:spPr>
        <p:txBody>
          <a:bodyPr wrap="square">
            <a:spAutoFit/>
          </a:bodyPr>
          <a:lstStyle/>
          <a:p>
            <a:pPr algn="ctr"/>
            <a:r>
              <a:rPr sz="1050" b="0" i="0">
                <a:solidFill>
                  <a:srgbClr val="D0D8E8"/>
                </a:solidFill>
                <a:latin typeface="Calibri"/>
              </a:rPr>
              <a:t>Geographic accident
hotspots discovered</a:t>
            </a:r>
          </a:p>
        </p:txBody>
      </p:sp>
      <p:sp>
        <p:nvSpPr>
          <p:cNvPr id="19" name="Rectangle 18"/>
          <p:cNvSpPr/>
          <p:nvPr/>
        </p:nvSpPr>
        <p:spPr>
          <a:xfrm>
            <a:off x="6272784" y="1664208"/>
            <a:ext cx="1783080" cy="1627632"/>
          </a:xfrm>
          <a:prstGeom prst="rect">
            <a:avLst/>
          </a:prstGeom>
          <a:solidFill>
            <a:srgbClr val="1E3A5F"/>
          </a:solidFill>
          <a:ln w="1524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6272784" y="1664208"/>
            <a:ext cx="1783080" cy="6400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345936" y="1792224"/>
            <a:ext cx="1636776" cy="658368"/>
          </a:xfrm>
          <a:prstGeom prst="rect">
            <a:avLst/>
          </a:prstGeom>
          <a:noFill/>
        </p:spPr>
        <p:txBody>
          <a:bodyPr wrap="square">
            <a:spAutoFit/>
          </a:bodyPr>
          <a:lstStyle/>
          <a:p>
            <a:pPr algn="ctr"/>
            <a:r>
              <a:rPr sz="2600" b="1" i="0">
                <a:solidFill>
                  <a:srgbClr val="00B4D8"/>
                </a:solidFill>
                <a:latin typeface="Calibri"/>
              </a:rPr>
              <a:t>6 Stages</a:t>
            </a:r>
          </a:p>
        </p:txBody>
      </p:sp>
      <p:sp>
        <p:nvSpPr>
          <p:cNvPr id="22" name="TextBox 21"/>
          <p:cNvSpPr txBox="1"/>
          <p:nvPr/>
        </p:nvSpPr>
        <p:spPr>
          <a:xfrm>
            <a:off x="6345936" y="2468880"/>
            <a:ext cx="1636776" cy="749808"/>
          </a:xfrm>
          <a:prstGeom prst="rect">
            <a:avLst/>
          </a:prstGeom>
          <a:noFill/>
        </p:spPr>
        <p:txBody>
          <a:bodyPr wrap="square">
            <a:spAutoFit/>
          </a:bodyPr>
          <a:lstStyle/>
          <a:p>
            <a:pPr algn="ctr"/>
            <a:r>
              <a:rPr sz="1050" b="0" i="0">
                <a:solidFill>
                  <a:srgbClr val="D0D8E8"/>
                </a:solidFill>
                <a:latin typeface="Calibri"/>
              </a:rPr>
              <a:t>Full ML lifecycle
tracked and audited</a:t>
            </a:r>
          </a:p>
        </p:txBody>
      </p:sp>
      <p:sp>
        <p:nvSpPr>
          <p:cNvPr id="23" name="Rectangle 22"/>
          <p:cNvSpPr/>
          <p:nvPr/>
        </p:nvSpPr>
        <p:spPr>
          <a:xfrm>
            <a:off x="8257032" y="1664208"/>
            <a:ext cx="1783080" cy="1627632"/>
          </a:xfrm>
          <a:prstGeom prst="rect">
            <a:avLst/>
          </a:prstGeom>
          <a:solidFill>
            <a:srgbClr val="1E3A5F"/>
          </a:solidFill>
          <a:ln w="15240">
            <a:solidFill>
              <a:srgbClr val="F5A62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8257032" y="1664208"/>
            <a:ext cx="1783080" cy="64008"/>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330184" y="1792224"/>
            <a:ext cx="1636776" cy="658368"/>
          </a:xfrm>
          <a:prstGeom prst="rect">
            <a:avLst/>
          </a:prstGeom>
          <a:noFill/>
        </p:spPr>
        <p:txBody>
          <a:bodyPr wrap="square">
            <a:spAutoFit/>
          </a:bodyPr>
          <a:lstStyle/>
          <a:p>
            <a:pPr algn="ctr"/>
            <a:r>
              <a:rPr sz="2600" b="1" i="0">
                <a:solidFill>
                  <a:srgbClr val="F5A623"/>
                </a:solidFill>
                <a:latin typeface="Calibri"/>
              </a:rPr>
              <a:t>&lt; 15 ms</a:t>
            </a:r>
          </a:p>
        </p:txBody>
      </p:sp>
      <p:sp>
        <p:nvSpPr>
          <p:cNvPr id="26" name="TextBox 25"/>
          <p:cNvSpPr txBox="1"/>
          <p:nvPr/>
        </p:nvSpPr>
        <p:spPr>
          <a:xfrm>
            <a:off x="8330184" y="2468880"/>
            <a:ext cx="1636776" cy="749808"/>
          </a:xfrm>
          <a:prstGeom prst="rect">
            <a:avLst/>
          </a:prstGeom>
          <a:noFill/>
        </p:spPr>
        <p:txBody>
          <a:bodyPr wrap="square">
            <a:spAutoFit/>
          </a:bodyPr>
          <a:lstStyle/>
          <a:p>
            <a:pPr algn="ctr"/>
            <a:r>
              <a:rPr sz="1050" b="0" i="0">
                <a:solidFill>
                  <a:srgbClr val="D0D8E8"/>
                </a:solidFill>
                <a:latin typeface="Calibri"/>
              </a:rPr>
              <a:t>Average response
time per prediction</a:t>
            </a:r>
          </a:p>
        </p:txBody>
      </p:sp>
      <p:sp>
        <p:nvSpPr>
          <p:cNvPr id="27" name="Rectangle 26"/>
          <p:cNvSpPr/>
          <p:nvPr/>
        </p:nvSpPr>
        <p:spPr>
          <a:xfrm>
            <a:off x="10241280" y="1664208"/>
            <a:ext cx="1783080" cy="1627632"/>
          </a:xfrm>
          <a:prstGeom prst="rect">
            <a:avLst/>
          </a:prstGeom>
          <a:solidFill>
            <a:srgbClr val="1E3A5F"/>
          </a:solidFill>
          <a:ln w="15240">
            <a:solidFill>
              <a:srgbClr val="E02B2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10241280" y="1664208"/>
            <a:ext cx="1783080" cy="64008"/>
          </a:xfrm>
          <a:prstGeom prst="rect">
            <a:avLst/>
          </a:prstGeom>
          <a:solidFill>
            <a:srgbClr val="E0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10314432" y="1792224"/>
            <a:ext cx="1636776" cy="658368"/>
          </a:xfrm>
          <a:prstGeom prst="rect">
            <a:avLst/>
          </a:prstGeom>
          <a:noFill/>
        </p:spPr>
        <p:txBody>
          <a:bodyPr wrap="square">
            <a:spAutoFit/>
          </a:bodyPr>
          <a:lstStyle/>
          <a:p>
            <a:pPr algn="ctr"/>
            <a:r>
              <a:rPr sz="2600" b="1" i="0">
                <a:solidFill>
                  <a:srgbClr val="E02B2B"/>
                </a:solidFill>
                <a:latin typeface="Calibri"/>
              </a:rPr>
              <a:t>6 COs Met</a:t>
            </a:r>
          </a:p>
        </p:txBody>
      </p:sp>
      <p:sp>
        <p:nvSpPr>
          <p:cNvPr id="30" name="TextBox 29"/>
          <p:cNvSpPr txBox="1"/>
          <p:nvPr/>
        </p:nvSpPr>
        <p:spPr>
          <a:xfrm>
            <a:off x="10314432" y="2468880"/>
            <a:ext cx="1636776" cy="749808"/>
          </a:xfrm>
          <a:prstGeom prst="rect">
            <a:avLst/>
          </a:prstGeom>
          <a:noFill/>
        </p:spPr>
        <p:txBody>
          <a:bodyPr wrap="square">
            <a:spAutoFit/>
          </a:bodyPr>
          <a:lstStyle/>
          <a:p>
            <a:pPr algn="ctr"/>
            <a:r>
              <a:rPr sz="1050" b="0" i="0">
                <a:solidFill>
                  <a:srgbClr val="D0D8E8"/>
                </a:solidFill>
                <a:latin typeface="Calibri"/>
              </a:rPr>
              <a:t>All course outcomes
covered end to end</a:t>
            </a:r>
          </a:p>
        </p:txBody>
      </p:sp>
      <p:sp>
        <p:nvSpPr>
          <p:cNvPr id="31" name="TextBox 30"/>
          <p:cNvSpPr txBox="1"/>
          <p:nvPr/>
        </p:nvSpPr>
        <p:spPr>
          <a:xfrm>
            <a:off x="320040" y="3456432"/>
            <a:ext cx="8229600" cy="384048"/>
          </a:xfrm>
          <a:prstGeom prst="rect">
            <a:avLst/>
          </a:prstGeom>
          <a:noFill/>
        </p:spPr>
        <p:txBody>
          <a:bodyPr wrap="square">
            <a:spAutoFit/>
          </a:bodyPr>
          <a:lstStyle/>
          <a:p>
            <a:pPr algn="l"/>
            <a:r>
              <a:rPr sz="1400" b="1" i="0">
                <a:solidFill>
                  <a:srgbClr val="00B4D8"/>
                </a:solidFill>
                <a:latin typeface="Calibri"/>
              </a:rPr>
              <a:t>Course Outcome Coverage</a:t>
            </a:r>
          </a:p>
        </p:txBody>
      </p:sp>
      <p:sp>
        <p:nvSpPr>
          <p:cNvPr id="32" name="Rectangle 31"/>
          <p:cNvSpPr/>
          <p:nvPr/>
        </p:nvSpPr>
        <p:spPr>
          <a:xfrm>
            <a:off x="320040" y="3858768"/>
            <a:ext cx="11567160" cy="36576"/>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347472" y="3995928"/>
            <a:ext cx="502920" cy="274320"/>
          </a:xfrm>
          <a:prstGeom prst="rect">
            <a:avLst/>
          </a:prstGeom>
          <a:solidFill>
            <a:srgbClr val="E0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347472" y="3977640"/>
            <a:ext cx="502920" cy="320040"/>
          </a:xfrm>
          <a:prstGeom prst="rect">
            <a:avLst/>
          </a:prstGeom>
          <a:noFill/>
        </p:spPr>
        <p:txBody>
          <a:bodyPr wrap="square">
            <a:spAutoFit/>
          </a:bodyPr>
          <a:lstStyle/>
          <a:p>
            <a:pPr algn="ctr"/>
            <a:r>
              <a:rPr sz="1000" b="1" i="0">
                <a:solidFill>
                  <a:srgbClr val="FFFFFF"/>
                </a:solidFill>
                <a:latin typeface="Calibri"/>
              </a:rPr>
              <a:t>CO1</a:t>
            </a:r>
          </a:p>
        </p:txBody>
      </p:sp>
      <p:sp>
        <p:nvSpPr>
          <p:cNvPr id="35" name="TextBox 34"/>
          <p:cNvSpPr txBox="1"/>
          <p:nvPr/>
        </p:nvSpPr>
        <p:spPr>
          <a:xfrm>
            <a:off x="932688" y="3950208"/>
            <a:ext cx="2377440" cy="329184"/>
          </a:xfrm>
          <a:prstGeom prst="rect">
            <a:avLst/>
          </a:prstGeom>
          <a:noFill/>
        </p:spPr>
        <p:txBody>
          <a:bodyPr wrap="square">
            <a:spAutoFit/>
          </a:bodyPr>
          <a:lstStyle/>
          <a:p>
            <a:pPr algn="l"/>
            <a:r>
              <a:rPr sz="1100" b="1" i="0">
                <a:solidFill>
                  <a:srgbClr val="F5A623"/>
                </a:solidFill>
                <a:latin typeface="Calibri"/>
              </a:rPr>
              <a:t>ML Lifecycle</a:t>
            </a:r>
          </a:p>
        </p:txBody>
      </p:sp>
      <p:sp>
        <p:nvSpPr>
          <p:cNvPr id="36" name="TextBox 35"/>
          <p:cNvSpPr txBox="1"/>
          <p:nvPr/>
        </p:nvSpPr>
        <p:spPr>
          <a:xfrm>
            <a:off x="3401568" y="3950208"/>
            <a:ext cx="8503920" cy="329184"/>
          </a:xfrm>
          <a:prstGeom prst="rect">
            <a:avLst/>
          </a:prstGeom>
          <a:noFill/>
        </p:spPr>
        <p:txBody>
          <a:bodyPr wrap="square">
            <a:spAutoFit/>
          </a:bodyPr>
          <a:lstStyle/>
          <a:p>
            <a:pPr algn="l"/>
            <a:r>
              <a:rPr sz="1050" b="0" i="0">
                <a:solidFill>
                  <a:srgbClr val="F0F4FF"/>
                </a:solidFill>
                <a:latin typeface="Calibri"/>
              </a:rPr>
              <a:t>Every prediction is traced back through all 6 stages of the ML pipeline</a:t>
            </a:r>
          </a:p>
        </p:txBody>
      </p:sp>
      <p:sp>
        <p:nvSpPr>
          <p:cNvPr id="37" name="Rectangle 36"/>
          <p:cNvSpPr/>
          <p:nvPr/>
        </p:nvSpPr>
        <p:spPr>
          <a:xfrm>
            <a:off x="347472" y="4343400"/>
            <a:ext cx="502920" cy="274320"/>
          </a:xfrm>
          <a:prstGeom prst="rect">
            <a:avLst/>
          </a:prstGeom>
          <a:solidFill>
            <a:srgbClr val="E0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347472" y="4325112"/>
            <a:ext cx="502920" cy="320040"/>
          </a:xfrm>
          <a:prstGeom prst="rect">
            <a:avLst/>
          </a:prstGeom>
          <a:noFill/>
        </p:spPr>
        <p:txBody>
          <a:bodyPr wrap="square">
            <a:spAutoFit/>
          </a:bodyPr>
          <a:lstStyle/>
          <a:p>
            <a:pPr algn="ctr"/>
            <a:r>
              <a:rPr sz="1000" b="1" i="0">
                <a:solidFill>
                  <a:srgbClr val="FFFFFF"/>
                </a:solidFill>
                <a:latin typeface="Calibri"/>
              </a:rPr>
              <a:t>CO2</a:t>
            </a:r>
          </a:p>
        </p:txBody>
      </p:sp>
      <p:sp>
        <p:nvSpPr>
          <p:cNvPr id="39" name="TextBox 38"/>
          <p:cNvSpPr txBox="1"/>
          <p:nvPr/>
        </p:nvSpPr>
        <p:spPr>
          <a:xfrm>
            <a:off x="932688" y="4297680"/>
            <a:ext cx="2377440" cy="329184"/>
          </a:xfrm>
          <a:prstGeom prst="rect">
            <a:avLst/>
          </a:prstGeom>
          <a:noFill/>
        </p:spPr>
        <p:txBody>
          <a:bodyPr wrap="square">
            <a:spAutoFit/>
          </a:bodyPr>
          <a:lstStyle/>
          <a:p>
            <a:pPr algn="l"/>
            <a:r>
              <a:rPr sz="1100" b="1" i="0">
                <a:solidFill>
                  <a:srgbClr val="F5A623"/>
                </a:solidFill>
                <a:latin typeface="Calibri"/>
              </a:rPr>
              <a:t>Linear Models</a:t>
            </a:r>
          </a:p>
        </p:txBody>
      </p:sp>
      <p:sp>
        <p:nvSpPr>
          <p:cNvPr id="40" name="TextBox 39"/>
          <p:cNvSpPr txBox="1"/>
          <p:nvPr/>
        </p:nvSpPr>
        <p:spPr>
          <a:xfrm>
            <a:off x="3401568" y="4297680"/>
            <a:ext cx="8503920" cy="329184"/>
          </a:xfrm>
          <a:prstGeom prst="rect">
            <a:avLst/>
          </a:prstGeom>
          <a:noFill/>
        </p:spPr>
        <p:txBody>
          <a:bodyPr wrap="square">
            <a:spAutoFit/>
          </a:bodyPr>
          <a:lstStyle/>
          <a:p>
            <a:pPr algn="l"/>
            <a:r>
              <a:rPr sz="1050" b="0" i="0">
                <a:solidFill>
                  <a:srgbClr val="F0F4FF"/>
                </a:solidFill>
                <a:latin typeface="Calibri"/>
              </a:rPr>
              <a:t>OLS, Ridge, Lasso and ElasticNet used for duration prediction; Logistic for severity</a:t>
            </a:r>
          </a:p>
        </p:txBody>
      </p:sp>
      <p:sp>
        <p:nvSpPr>
          <p:cNvPr id="41" name="Rectangle 40"/>
          <p:cNvSpPr/>
          <p:nvPr/>
        </p:nvSpPr>
        <p:spPr>
          <a:xfrm>
            <a:off x="347472" y="4690872"/>
            <a:ext cx="502920" cy="274320"/>
          </a:xfrm>
          <a:prstGeom prst="rect">
            <a:avLst/>
          </a:prstGeom>
          <a:solidFill>
            <a:srgbClr val="E0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347472" y="4672584"/>
            <a:ext cx="502920" cy="320040"/>
          </a:xfrm>
          <a:prstGeom prst="rect">
            <a:avLst/>
          </a:prstGeom>
          <a:noFill/>
        </p:spPr>
        <p:txBody>
          <a:bodyPr wrap="square">
            <a:spAutoFit/>
          </a:bodyPr>
          <a:lstStyle/>
          <a:p>
            <a:pPr algn="ctr"/>
            <a:r>
              <a:rPr sz="1000" b="1" i="0">
                <a:solidFill>
                  <a:srgbClr val="FFFFFF"/>
                </a:solidFill>
                <a:latin typeface="Calibri"/>
              </a:rPr>
              <a:t>CO3</a:t>
            </a:r>
          </a:p>
        </p:txBody>
      </p:sp>
      <p:sp>
        <p:nvSpPr>
          <p:cNvPr id="43" name="TextBox 42"/>
          <p:cNvSpPr txBox="1"/>
          <p:nvPr/>
        </p:nvSpPr>
        <p:spPr>
          <a:xfrm>
            <a:off x="932688" y="4645152"/>
            <a:ext cx="2377440" cy="329184"/>
          </a:xfrm>
          <a:prstGeom prst="rect">
            <a:avLst/>
          </a:prstGeom>
          <a:noFill/>
        </p:spPr>
        <p:txBody>
          <a:bodyPr wrap="square">
            <a:spAutoFit/>
          </a:bodyPr>
          <a:lstStyle/>
          <a:p>
            <a:pPr algn="l"/>
            <a:r>
              <a:rPr sz="1100" b="1" i="0">
                <a:solidFill>
                  <a:srgbClr val="F5A623"/>
                </a:solidFill>
                <a:latin typeface="Calibri"/>
              </a:rPr>
              <a:t>Tree Ensembles</a:t>
            </a:r>
          </a:p>
        </p:txBody>
      </p:sp>
      <p:sp>
        <p:nvSpPr>
          <p:cNvPr id="44" name="TextBox 43"/>
          <p:cNvSpPr txBox="1"/>
          <p:nvPr/>
        </p:nvSpPr>
        <p:spPr>
          <a:xfrm>
            <a:off x="3401568" y="4645152"/>
            <a:ext cx="8503920" cy="329184"/>
          </a:xfrm>
          <a:prstGeom prst="rect">
            <a:avLst/>
          </a:prstGeom>
          <a:noFill/>
        </p:spPr>
        <p:txBody>
          <a:bodyPr wrap="square">
            <a:spAutoFit/>
          </a:bodyPr>
          <a:lstStyle/>
          <a:p>
            <a:pPr algn="l"/>
            <a:r>
              <a:rPr sz="1050" b="0" i="0">
                <a:solidFill>
                  <a:srgbClr val="F0F4FF"/>
                </a:solidFill>
                <a:latin typeface="Calibri"/>
              </a:rPr>
              <a:t>Decision Trees, Random Forest, XGBoost and LightGBM — best model at 91.8% accuracy</a:t>
            </a:r>
          </a:p>
        </p:txBody>
      </p:sp>
      <p:sp>
        <p:nvSpPr>
          <p:cNvPr id="45" name="Rectangle 44"/>
          <p:cNvSpPr/>
          <p:nvPr/>
        </p:nvSpPr>
        <p:spPr>
          <a:xfrm>
            <a:off x="347472" y="5038344"/>
            <a:ext cx="502920" cy="274320"/>
          </a:xfrm>
          <a:prstGeom prst="rect">
            <a:avLst/>
          </a:prstGeom>
          <a:solidFill>
            <a:srgbClr val="E0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347472" y="5020056"/>
            <a:ext cx="502920" cy="320040"/>
          </a:xfrm>
          <a:prstGeom prst="rect">
            <a:avLst/>
          </a:prstGeom>
          <a:noFill/>
        </p:spPr>
        <p:txBody>
          <a:bodyPr wrap="square">
            <a:spAutoFit/>
          </a:bodyPr>
          <a:lstStyle/>
          <a:p>
            <a:pPr algn="ctr"/>
            <a:r>
              <a:rPr sz="1000" b="1" i="0">
                <a:solidFill>
                  <a:srgbClr val="FFFFFF"/>
                </a:solidFill>
                <a:latin typeface="Calibri"/>
              </a:rPr>
              <a:t>CO4</a:t>
            </a:r>
          </a:p>
        </p:txBody>
      </p:sp>
      <p:sp>
        <p:nvSpPr>
          <p:cNvPr id="47" name="TextBox 46"/>
          <p:cNvSpPr txBox="1"/>
          <p:nvPr/>
        </p:nvSpPr>
        <p:spPr>
          <a:xfrm>
            <a:off x="932688" y="4992624"/>
            <a:ext cx="2377440" cy="329184"/>
          </a:xfrm>
          <a:prstGeom prst="rect">
            <a:avLst/>
          </a:prstGeom>
          <a:noFill/>
        </p:spPr>
        <p:txBody>
          <a:bodyPr wrap="square">
            <a:spAutoFit/>
          </a:bodyPr>
          <a:lstStyle/>
          <a:p>
            <a:pPr algn="l"/>
            <a:r>
              <a:rPr sz="1100" b="1" i="0">
                <a:solidFill>
                  <a:srgbClr val="F5A623"/>
                </a:solidFill>
                <a:latin typeface="Calibri"/>
              </a:rPr>
              <a:t>Unsupervised Learning</a:t>
            </a:r>
          </a:p>
        </p:txBody>
      </p:sp>
      <p:sp>
        <p:nvSpPr>
          <p:cNvPr id="48" name="TextBox 47"/>
          <p:cNvSpPr txBox="1"/>
          <p:nvPr/>
        </p:nvSpPr>
        <p:spPr>
          <a:xfrm>
            <a:off x="3401568" y="4992624"/>
            <a:ext cx="8503920" cy="329184"/>
          </a:xfrm>
          <a:prstGeom prst="rect">
            <a:avLst/>
          </a:prstGeom>
          <a:noFill/>
        </p:spPr>
        <p:txBody>
          <a:bodyPr wrap="square">
            <a:spAutoFit/>
          </a:bodyPr>
          <a:lstStyle/>
          <a:p>
            <a:pPr algn="l"/>
            <a:r>
              <a:rPr sz="1050" b="0" i="0">
                <a:solidFill>
                  <a:srgbClr val="F0F4FF"/>
                </a:solidFill>
                <a:latin typeface="Calibri"/>
              </a:rPr>
              <a:t>K-Means zones, DBSCAN corridors, PCA/t-SNE reduction, Isolation Forest anomalies</a:t>
            </a:r>
          </a:p>
        </p:txBody>
      </p:sp>
      <p:sp>
        <p:nvSpPr>
          <p:cNvPr id="49" name="Rectangle 48"/>
          <p:cNvSpPr/>
          <p:nvPr/>
        </p:nvSpPr>
        <p:spPr>
          <a:xfrm>
            <a:off x="347472" y="5385816"/>
            <a:ext cx="502920" cy="274320"/>
          </a:xfrm>
          <a:prstGeom prst="rect">
            <a:avLst/>
          </a:prstGeom>
          <a:solidFill>
            <a:srgbClr val="E0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347472" y="5367528"/>
            <a:ext cx="502920" cy="320040"/>
          </a:xfrm>
          <a:prstGeom prst="rect">
            <a:avLst/>
          </a:prstGeom>
          <a:noFill/>
        </p:spPr>
        <p:txBody>
          <a:bodyPr wrap="square">
            <a:spAutoFit/>
          </a:bodyPr>
          <a:lstStyle/>
          <a:p>
            <a:pPr algn="ctr"/>
            <a:r>
              <a:rPr sz="1000" b="1" i="0">
                <a:solidFill>
                  <a:srgbClr val="FFFFFF"/>
                </a:solidFill>
                <a:latin typeface="Calibri"/>
              </a:rPr>
              <a:t>CO5</a:t>
            </a:r>
          </a:p>
        </p:txBody>
      </p:sp>
      <p:sp>
        <p:nvSpPr>
          <p:cNvPr id="51" name="TextBox 50"/>
          <p:cNvSpPr txBox="1"/>
          <p:nvPr/>
        </p:nvSpPr>
        <p:spPr>
          <a:xfrm>
            <a:off x="932688" y="5340096"/>
            <a:ext cx="2377440" cy="329184"/>
          </a:xfrm>
          <a:prstGeom prst="rect">
            <a:avLst/>
          </a:prstGeom>
          <a:noFill/>
        </p:spPr>
        <p:txBody>
          <a:bodyPr wrap="square">
            <a:spAutoFit/>
          </a:bodyPr>
          <a:lstStyle/>
          <a:p>
            <a:pPr algn="l"/>
            <a:r>
              <a:rPr sz="1100" b="1" i="0">
                <a:solidFill>
                  <a:srgbClr val="F5A623"/>
                </a:solidFill>
                <a:latin typeface="Calibri"/>
              </a:rPr>
              <a:t>Evaluation &amp; Tuning</a:t>
            </a:r>
          </a:p>
        </p:txBody>
      </p:sp>
      <p:sp>
        <p:nvSpPr>
          <p:cNvPr id="52" name="TextBox 51"/>
          <p:cNvSpPr txBox="1"/>
          <p:nvPr/>
        </p:nvSpPr>
        <p:spPr>
          <a:xfrm>
            <a:off x="3401568" y="5340096"/>
            <a:ext cx="8503920" cy="329184"/>
          </a:xfrm>
          <a:prstGeom prst="rect">
            <a:avLst/>
          </a:prstGeom>
          <a:noFill/>
        </p:spPr>
        <p:txBody>
          <a:bodyPr wrap="square">
            <a:spAutoFit/>
          </a:bodyPr>
          <a:lstStyle/>
          <a:p>
            <a:pPr algn="l"/>
            <a:r>
              <a:rPr sz="1050" b="0" i="0">
                <a:solidFill>
                  <a:srgbClr val="F0F4FF"/>
                </a:solidFill>
                <a:latin typeface="Calibri"/>
              </a:rPr>
              <a:t>5-Fold cross-validation, probability calibration, and Bayesian hyperparameter search</a:t>
            </a:r>
          </a:p>
        </p:txBody>
      </p:sp>
      <p:sp>
        <p:nvSpPr>
          <p:cNvPr id="53" name="Rectangle 52"/>
          <p:cNvSpPr/>
          <p:nvPr/>
        </p:nvSpPr>
        <p:spPr>
          <a:xfrm>
            <a:off x="347472" y="5733288"/>
            <a:ext cx="502920" cy="274320"/>
          </a:xfrm>
          <a:prstGeom prst="rect">
            <a:avLst/>
          </a:prstGeom>
          <a:solidFill>
            <a:srgbClr val="E0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347472" y="5715000"/>
            <a:ext cx="502920" cy="320040"/>
          </a:xfrm>
          <a:prstGeom prst="rect">
            <a:avLst/>
          </a:prstGeom>
          <a:noFill/>
        </p:spPr>
        <p:txBody>
          <a:bodyPr wrap="square">
            <a:spAutoFit/>
          </a:bodyPr>
          <a:lstStyle/>
          <a:p>
            <a:pPr algn="ctr"/>
            <a:r>
              <a:rPr sz="1000" b="1" i="0">
                <a:solidFill>
                  <a:srgbClr val="FFFFFF"/>
                </a:solidFill>
                <a:latin typeface="Calibri"/>
              </a:rPr>
              <a:t>CO6</a:t>
            </a:r>
          </a:p>
        </p:txBody>
      </p:sp>
      <p:sp>
        <p:nvSpPr>
          <p:cNvPr id="55" name="TextBox 54"/>
          <p:cNvSpPr txBox="1"/>
          <p:nvPr/>
        </p:nvSpPr>
        <p:spPr>
          <a:xfrm>
            <a:off x="932688" y="5687568"/>
            <a:ext cx="2377440" cy="329184"/>
          </a:xfrm>
          <a:prstGeom prst="rect">
            <a:avLst/>
          </a:prstGeom>
          <a:noFill/>
        </p:spPr>
        <p:txBody>
          <a:bodyPr wrap="square">
            <a:spAutoFit/>
          </a:bodyPr>
          <a:lstStyle/>
          <a:p>
            <a:pPr algn="l"/>
            <a:r>
              <a:rPr sz="1100" b="1" i="0">
                <a:solidFill>
                  <a:srgbClr val="F5A623"/>
                </a:solidFill>
                <a:latin typeface="Calibri"/>
              </a:rPr>
              <a:t>MLOps &amp; Monitoring</a:t>
            </a:r>
          </a:p>
        </p:txBody>
      </p:sp>
      <p:sp>
        <p:nvSpPr>
          <p:cNvPr id="56" name="TextBox 55"/>
          <p:cNvSpPr txBox="1"/>
          <p:nvPr/>
        </p:nvSpPr>
        <p:spPr>
          <a:xfrm>
            <a:off x="3401568" y="5687568"/>
            <a:ext cx="8503920" cy="329184"/>
          </a:xfrm>
          <a:prstGeom prst="rect">
            <a:avLst/>
          </a:prstGeom>
          <a:noFill/>
        </p:spPr>
        <p:txBody>
          <a:bodyPr wrap="square">
            <a:spAutoFit/>
          </a:bodyPr>
          <a:lstStyle/>
          <a:p>
            <a:pPr algn="l"/>
            <a:r>
              <a:rPr sz="1050" b="0" i="0">
                <a:solidFill>
                  <a:srgbClr val="F0F4FF"/>
                </a:solidFill>
                <a:latin typeface="Calibri"/>
              </a:rPr>
              <a:t>Feature Store, reusable pipeline, real-time drift detection and Flask REST API</a:t>
            </a:r>
          </a:p>
        </p:txBody>
      </p:sp>
      <p:sp>
        <p:nvSpPr>
          <p:cNvPr id="57" name="Oval 56"/>
          <p:cNvSpPr/>
          <p:nvPr/>
        </p:nvSpPr>
        <p:spPr>
          <a:xfrm>
            <a:off x="11686032" y="6473952"/>
            <a:ext cx="256032" cy="256032"/>
          </a:xfrm>
          <a:prstGeom prst="ellipse">
            <a:avLst/>
          </a:prstGeom>
          <a:solidFill>
            <a:srgbClr val="E0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11676888" y="6446520"/>
            <a:ext cx="274320" cy="274320"/>
          </a:xfrm>
          <a:prstGeom prst="rect">
            <a:avLst/>
          </a:prstGeom>
          <a:noFill/>
        </p:spPr>
        <p:txBody>
          <a:bodyPr wrap="square">
            <a:spAutoFit/>
          </a:bodyPr>
          <a:lstStyle/>
          <a:p>
            <a:pPr algn="ctr"/>
            <a:r>
              <a:rPr sz="900" b="1" i="0">
                <a:solidFill>
                  <a:srgbClr val="FFFFFF"/>
                </a:solidFill>
                <a:latin typeface="Calibri"/>
              </a:rPr>
              <a:t>13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320040"/>
          </a:xfrm>
          <a:prstGeom prst="rect">
            <a:avLst/>
          </a:prstGeom>
          <a:solidFill>
            <a:srgbClr val="E0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537960"/>
            <a:ext cx="12188952" cy="320040"/>
          </a:xfrm>
          <a:prstGeom prst="rect">
            <a:avLst/>
          </a:prstGeom>
          <a:solidFill>
            <a:srgbClr val="E0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0"/>
            <a:ext cx="320040" cy="685800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1868912" y="0"/>
            <a:ext cx="320040" cy="685800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1188720"/>
            <a:ext cx="10360152" cy="1371600"/>
          </a:xfrm>
          <a:prstGeom prst="rect">
            <a:avLst/>
          </a:prstGeom>
          <a:noFill/>
        </p:spPr>
        <p:txBody>
          <a:bodyPr wrap="square">
            <a:spAutoFit/>
          </a:bodyPr>
          <a:lstStyle/>
          <a:p>
            <a:pPr algn="ctr"/>
            <a:r>
              <a:rPr sz="6600" b="1" i="0">
                <a:solidFill>
                  <a:srgbClr val="FFFFFF"/>
                </a:solidFill>
                <a:latin typeface="Calibri"/>
              </a:rPr>
              <a:t>Thank You</a:t>
            </a:r>
          </a:p>
        </p:txBody>
      </p:sp>
      <p:sp>
        <p:nvSpPr>
          <p:cNvPr id="8" name="Rectangle 7"/>
          <p:cNvSpPr/>
          <p:nvPr/>
        </p:nvSpPr>
        <p:spPr>
          <a:xfrm>
            <a:off x="4114800" y="2606040"/>
            <a:ext cx="3931920" cy="82296"/>
          </a:xfrm>
          <a:prstGeom prst="rect">
            <a:avLst/>
          </a:prstGeom>
          <a:solidFill>
            <a:srgbClr val="E0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14400" y="2834640"/>
            <a:ext cx="10360152" cy="502920"/>
          </a:xfrm>
          <a:prstGeom prst="rect">
            <a:avLst/>
          </a:prstGeom>
          <a:noFill/>
        </p:spPr>
        <p:txBody>
          <a:bodyPr wrap="square">
            <a:spAutoFit/>
          </a:bodyPr>
          <a:lstStyle/>
          <a:p>
            <a:pPr algn="ctr"/>
            <a:r>
              <a:rPr sz="1800" b="1" i="0">
                <a:solidFill>
                  <a:srgbClr val="00B4D8"/>
                </a:solidFill>
                <a:latin typeface="Calibri"/>
              </a:rPr>
              <a:t>RoadSafe AI</a:t>
            </a:r>
          </a:p>
        </p:txBody>
      </p:sp>
      <p:sp>
        <p:nvSpPr>
          <p:cNvPr id="10" name="TextBox 9"/>
          <p:cNvSpPr txBox="1"/>
          <p:nvPr/>
        </p:nvSpPr>
        <p:spPr>
          <a:xfrm>
            <a:off x="914400" y="3337560"/>
            <a:ext cx="10360152" cy="457200"/>
          </a:xfrm>
          <a:prstGeom prst="rect">
            <a:avLst/>
          </a:prstGeom>
          <a:noFill/>
        </p:spPr>
        <p:txBody>
          <a:bodyPr wrap="square">
            <a:spAutoFit/>
          </a:bodyPr>
          <a:lstStyle/>
          <a:p>
            <a:pPr algn="ctr"/>
            <a:r>
              <a:rPr sz="1300" b="0" i="1">
                <a:solidFill>
                  <a:srgbClr val="D0D8E8"/>
                </a:solidFill>
                <a:latin typeface="Calibri"/>
              </a:rPr>
              <a:t>AI-Based Road Accident Severity Prediction &amp; Traffic Risk Analysis System</a:t>
            </a:r>
          </a:p>
        </p:txBody>
      </p:sp>
      <p:sp>
        <p:nvSpPr>
          <p:cNvPr id="11" name="Rectangle 10"/>
          <p:cNvSpPr/>
          <p:nvPr/>
        </p:nvSpPr>
        <p:spPr>
          <a:xfrm>
            <a:off x="548640" y="3977639"/>
            <a:ext cx="2057400" cy="475488"/>
          </a:xfrm>
          <a:prstGeom prst="rect">
            <a:avLst/>
          </a:prstGeom>
          <a:solidFill>
            <a:srgbClr val="1E3A5F"/>
          </a:solidFill>
          <a:ln w="1016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03504" y="4023360"/>
            <a:ext cx="1947672" cy="384048"/>
          </a:xfrm>
          <a:prstGeom prst="rect">
            <a:avLst/>
          </a:prstGeom>
          <a:noFill/>
        </p:spPr>
        <p:txBody>
          <a:bodyPr wrap="square">
            <a:spAutoFit/>
          </a:bodyPr>
          <a:lstStyle/>
          <a:p>
            <a:pPr algn="ctr"/>
            <a:r>
              <a:rPr sz="1100" b="1" i="0">
                <a:solidFill>
                  <a:srgbClr val="00B4D8"/>
                </a:solidFill>
                <a:latin typeface="Calibri"/>
              </a:rPr>
              <a:t>91.8 % Accuracy</a:t>
            </a:r>
          </a:p>
        </p:txBody>
      </p:sp>
      <p:sp>
        <p:nvSpPr>
          <p:cNvPr id="13" name="Rectangle 12"/>
          <p:cNvSpPr/>
          <p:nvPr/>
        </p:nvSpPr>
        <p:spPr>
          <a:xfrm>
            <a:off x="2807208" y="3977639"/>
            <a:ext cx="2057400" cy="475488"/>
          </a:xfrm>
          <a:prstGeom prst="rect">
            <a:avLst/>
          </a:prstGeom>
          <a:solidFill>
            <a:srgbClr val="1E3A5F"/>
          </a:solidFill>
          <a:ln w="1016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862072" y="4023360"/>
            <a:ext cx="1947672" cy="384048"/>
          </a:xfrm>
          <a:prstGeom prst="rect">
            <a:avLst/>
          </a:prstGeom>
          <a:noFill/>
        </p:spPr>
        <p:txBody>
          <a:bodyPr wrap="square">
            <a:spAutoFit/>
          </a:bodyPr>
          <a:lstStyle/>
          <a:p>
            <a:pPr algn="ctr"/>
            <a:r>
              <a:rPr sz="1100" b="1" i="0">
                <a:solidFill>
                  <a:srgbClr val="00B4D8"/>
                </a:solidFill>
                <a:latin typeface="Calibri"/>
              </a:rPr>
              <a:t>6 Course Outcomes</a:t>
            </a:r>
          </a:p>
        </p:txBody>
      </p:sp>
      <p:sp>
        <p:nvSpPr>
          <p:cNvPr id="15" name="Rectangle 14"/>
          <p:cNvSpPr/>
          <p:nvPr/>
        </p:nvSpPr>
        <p:spPr>
          <a:xfrm>
            <a:off x="5065776" y="3977639"/>
            <a:ext cx="2057400" cy="475488"/>
          </a:xfrm>
          <a:prstGeom prst="rect">
            <a:avLst/>
          </a:prstGeom>
          <a:solidFill>
            <a:srgbClr val="1E3A5F"/>
          </a:solidFill>
          <a:ln w="1016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120640" y="4023360"/>
            <a:ext cx="1947672" cy="384048"/>
          </a:xfrm>
          <a:prstGeom prst="rect">
            <a:avLst/>
          </a:prstGeom>
          <a:noFill/>
        </p:spPr>
        <p:txBody>
          <a:bodyPr wrap="square">
            <a:spAutoFit/>
          </a:bodyPr>
          <a:lstStyle/>
          <a:p>
            <a:pPr algn="ctr"/>
            <a:r>
              <a:rPr sz="1100" b="1" i="0">
                <a:solidFill>
                  <a:srgbClr val="00B4D8"/>
                </a:solidFill>
                <a:latin typeface="Calibri"/>
              </a:rPr>
              <a:t>5 ML Model Families</a:t>
            </a:r>
          </a:p>
        </p:txBody>
      </p:sp>
      <p:sp>
        <p:nvSpPr>
          <p:cNvPr id="17" name="Rectangle 16"/>
          <p:cNvSpPr/>
          <p:nvPr/>
        </p:nvSpPr>
        <p:spPr>
          <a:xfrm>
            <a:off x="7324344" y="3977639"/>
            <a:ext cx="2057400" cy="475488"/>
          </a:xfrm>
          <a:prstGeom prst="rect">
            <a:avLst/>
          </a:prstGeom>
          <a:solidFill>
            <a:srgbClr val="1E3A5F"/>
          </a:solidFill>
          <a:ln w="1016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379208" y="4023360"/>
            <a:ext cx="1947672" cy="384048"/>
          </a:xfrm>
          <a:prstGeom prst="rect">
            <a:avLst/>
          </a:prstGeom>
          <a:noFill/>
        </p:spPr>
        <p:txBody>
          <a:bodyPr wrap="square">
            <a:spAutoFit/>
          </a:bodyPr>
          <a:lstStyle/>
          <a:p>
            <a:pPr algn="ctr"/>
            <a:r>
              <a:rPr sz="1100" b="1" i="0">
                <a:solidFill>
                  <a:srgbClr val="00B4D8"/>
                </a:solidFill>
                <a:latin typeface="Calibri"/>
              </a:rPr>
              <a:t>Live Web Dashboard</a:t>
            </a:r>
          </a:p>
        </p:txBody>
      </p:sp>
      <p:sp>
        <p:nvSpPr>
          <p:cNvPr id="19" name="Rectangle 18"/>
          <p:cNvSpPr/>
          <p:nvPr/>
        </p:nvSpPr>
        <p:spPr>
          <a:xfrm>
            <a:off x="9582912" y="3977639"/>
            <a:ext cx="2057400" cy="475488"/>
          </a:xfrm>
          <a:prstGeom prst="rect">
            <a:avLst/>
          </a:prstGeom>
          <a:solidFill>
            <a:srgbClr val="1E3A5F"/>
          </a:solidFill>
          <a:ln w="1016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637776" y="4023360"/>
            <a:ext cx="1947672" cy="384048"/>
          </a:xfrm>
          <a:prstGeom prst="rect">
            <a:avLst/>
          </a:prstGeom>
          <a:noFill/>
        </p:spPr>
        <p:txBody>
          <a:bodyPr wrap="square">
            <a:spAutoFit/>
          </a:bodyPr>
          <a:lstStyle/>
          <a:p>
            <a:pPr algn="ctr"/>
            <a:r>
              <a:rPr sz="1100" b="1" i="0">
                <a:solidFill>
                  <a:srgbClr val="00B4D8"/>
                </a:solidFill>
                <a:latin typeface="Calibri"/>
              </a:rPr>
              <a:t>Real-Time Monitoring</a:t>
            </a:r>
          </a:p>
        </p:txBody>
      </p:sp>
      <p:sp>
        <p:nvSpPr>
          <p:cNvPr id="21" name="TextBox 20"/>
          <p:cNvSpPr txBox="1"/>
          <p:nvPr/>
        </p:nvSpPr>
        <p:spPr>
          <a:xfrm>
            <a:off x="3200400" y="4709160"/>
            <a:ext cx="5760720" cy="347472"/>
          </a:xfrm>
          <a:prstGeom prst="rect">
            <a:avLst/>
          </a:prstGeom>
          <a:noFill/>
        </p:spPr>
        <p:txBody>
          <a:bodyPr wrap="square">
            <a:spAutoFit/>
          </a:bodyPr>
          <a:lstStyle/>
          <a:p>
            <a:pPr algn="ctr"/>
            <a:r>
              <a:rPr sz="1200" b="1" i="0">
                <a:solidFill>
                  <a:srgbClr val="F5A623"/>
                </a:solidFill>
                <a:latin typeface="Calibri"/>
              </a:rPr>
              <a:t>Presented by:</a:t>
            </a:r>
          </a:p>
        </p:txBody>
      </p:sp>
      <p:sp>
        <p:nvSpPr>
          <p:cNvPr id="22" name="TextBox 21"/>
          <p:cNvSpPr txBox="1"/>
          <p:nvPr/>
        </p:nvSpPr>
        <p:spPr>
          <a:xfrm>
            <a:off x="3200400" y="5074920"/>
            <a:ext cx="5760720" cy="365760"/>
          </a:xfrm>
          <a:prstGeom prst="rect">
            <a:avLst/>
          </a:prstGeom>
          <a:noFill/>
        </p:spPr>
        <p:txBody>
          <a:bodyPr wrap="square">
            <a:spAutoFit/>
          </a:bodyPr>
          <a:lstStyle/>
          <a:p>
            <a:pPr algn="ctr"/>
            <a:r>
              <a:rPr sz="1200" b="0" i="0">
                <a:solidFill>
                  <a:srgbClr val="F0F4FF"/>
                </a:solidFill>
                <a:latin typeface="Calibri"/>
              </a:rPr>
              <a:t>2500030515 - P . Prashasth Azariah Paul</a:t>
            </a:r>
          </a:p>
        </p:txBody>
      </p:sp>
      <p:sp>
        <p:nvSpPr>
          <p:cNvPr id="23" name="TextBox 22"/>
          <p:cNvSpPr txBox="1"/>
          <p:nvPr/>
        </p:nvSpPr>
        <p:spPr>
          <a:xfrm>
            <a:off x="3200400" y="5458968"/>
            <a:ext cx="5760720" cy="365760"/>
          </a:xfrm>
          <a:prstGeom prst="rect">
            <a:avLst/>
          </a:prstGeom>
          <a:noFill/>
        </p:spPr>
        <p:txBody>
          <a:bodyPr wrap="square">
            <a:spAutoFit/>
          </a:bodyPr>
          <a:lstStyle/>
          <a:p>
            <a:pPr algn="ctr"/>
            <a:r>
              <a:rPr sz="1200" b="0" i="0">
                <a:solidFill>
                  <a:srgbClr val="F0F4FF"/>
                </a:solidFill>
                <a:latin typeface="Calibri"/>
              </a:rPr>
              <a:t>2500080042 - Aksa Achankunju</a:t>
            </a:r>
          </a:p>
        </p:txBody>
      </p:sp>
      <p:sp>
        <p:nvSpPr>
          <p:cNvPr id="24" name="TextBox 23"/>
          <p:cNvSpPr txBox="1"/>
          <p:nvPr/>
        </p:nvSpPr>
        <p:spPr>
          <a:xfrm>
            <a:off x="3200400" y="5843016"/>
            <a:ext cx="5760720" cy="365760"/>
          </a:xfrm>
          <a:prstGeom prst="rect">
            <a:avLst/>
          </a:prstGeom>
          <a:noFill/>
        </p:spPr>
        <p:txBody>
          <a:bodyPr wrap="square">
            <a:spAutoFit/>
          </a:bodyPr>
          <a:lstStyle/>
          <a:p>
            <a:pPr algn="ctr"/>
            <a:r>
              <a:rPr sz="1200" b="0" i="0">
                <a:solidFill>
                  <a:srgbClr val="F0F4FF"/>
                </a:solidFill>
                <a:latin typeface="Calibri"/>
              </a:rPr>
              <a:t>2500032145 - G Praneetha</a:t>
            </a:r>
          </a:p>
        </p:txBody>
      </p:sp>
      <p:sp>
        <p:nvSpPr>
          <p:cNvPr id="25" name="TextBox 24"/>
          <p:cNvSpPr txBox="1"/>
          <p:nvPr/>
        </p:nvSpPr>
        <p:spPr>
          <a:xfrm>
            <a:off x="914400" y="6263640"/>
            <a:ext cx="10360152" cy="384048"/>
          </a:xfrm>
          <a:prstGeom prst="rect">
            <a:avLst/>
          </a:prstGeom>
          <a:noFill/>
        </p:spPr>
        <p:txBody>
          <a:bodyPr wrap="square">
            <a:spAutoFit/>
          </a:bodyPr>
          <a:lstStyle/>
          <a:p>
            <a:pPr algn="ctr"/>
            <a:r>
              <a:rPr sz="1400" b="1" i="0">
                <a:solidFill>
                  <a:srgbClr val="F5A623"/>
                </a:solidFill>
                <a:latin typeface="Calibri"/>
              </a:rPr>
              <a:t>Questions &amp; Discussions Welcome</a:t>
            </a:r>
          </a:p>
        </p:txBody>
      </p:sp>
      <p:sp>
        <p:nvSpPr>
          <p:cNvPr id="26" name="Oval 25"/>
          <p:cNvSpPr/>
          <p:nvPr/>
        </p:nvSpPr>
        <p:spPr>
          <a:xfrm>
            <a:off x="502920" y="4937760"/>
            <a:ext cx="320040" cy="320040"/>
          </a:xfrm>
          <a:prstGeom prst="ellipse">
            <a:avLst/>
          </a:prstGeom>
          <a:solidFill>
            <a:srgbClr val="E0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502920" y="5394960"/>
            <a:ext cx="320040" cy="320040"/>
          </a:xfrm>
          <a:prstGeom prst="ellipse">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502920" y="5852160"/>
            <a:ext cx="320040" cy="320040"/>
          </a:xfrm>
          <a:prstGeom prst="ellipse">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p:cNvSpPr/>
          <p:nvPr/>
        </p:nvSpPr>
        <p:spPr>
          <a:xfrm>
            <a:off x="11686032" y="6473952"/>
            <a:ext cx="256032" cy="256032"/>
          </a:xfrm>
          <a:prstGeom prst="ellipse">
            <a:avLst/>
          </a:prstGeom>
          <a:solidFill>
            <a:srgbClr val="E0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11676888" y="6446520"/>
            <a:ext cx="274320" cy="274320"/>
          </a:xfrm>
          <a:prstGeom prst="rect">
            <a:avLst/>
          </a:prstGeom>
          <a:noFill/>
        </p:spPr>
        <p:txBody>
          <a:bodyPr wrap="square">
            <a:spAutoFit/>
          </a:bodyPr>
          <a:lstStyle/>
          <a:p>
            <a:pPr algn="ctr"/>
            <a:r>
              <a:rPr sz="900" b="1" i="0">
                <a:solidFill>
                  <a:srgbClr val="FFFFFF"/>
                </a:solidFill>
                <a:latin typeface="Calibri"/>
              </a:rPr>
              <a:t>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5</TotalTime>
  <Words>2409</Words>
  <Application>Microsoft Office PowerPoint</Application>
  <PresentationFormat>Custom</PresentationFormat>
  <Paragraphs>333</Paragraphs>
  <Slides>14</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aksa achankunju</cp:lastModifiedBy>
  <cp:revision>1</cp:revision>
  <dcterms:created xsi:type="dcterms:W3CDTF">2013-01-27T09:14:16Z</dcterms:created>
  <dcterms:modified xsi:type="dcterms:W3CDTF">2026-10-10T09:17:48Z</dcterms:modified>
  <cp:category/>
</cp:coreProperties>
</file>